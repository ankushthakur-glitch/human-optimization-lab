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9bf95c74-6688-46d5-9124-3db565f5e0b4}">
          <p14:sldIdLst>
            <p14:sldId id="256"/>
          </p14:sldIdLst>
        </p14:section>
        <p14:section name="Overview" id="{9ae46b51-1aea-5332-0fdc-8c0136a2d178}">
          <p14:sldIdLst>
            <p14:sldId id="257"/>
          </p14:sldIdLst>
        </p14:section>
        <p14:section name="01 Invite and Activate" id="{d33cdef7-3337-6368-0bfd-d8dd1ea28577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02 The Free Home" id="{a06750de-c608-d31c-1e65-cddfadcbdc22}">
          <p14:sldIdLst>
            <p14:sldId id="264"/>
            <p14:sldId id="265"/>
            <p14:sldId id="266"/>
            <p14:sldId id="267"/>
            <p14:sldId id="268"/>
          </p14:sldIdLst>
        </p14:section>
        <p14:section name="03 Your Record" id="{1c7c19b5-03fd-96a8-f37e-4dfa25bd7cfd}">
          <p14:sldIdLst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04 To Do and Care Gaps" id="{36f6a567-9bda-0b05-12f5-c22ad5535851}">
          <p14:sldIdLst>
            <p14:sldId id="275"/>
            <p14:sldId id="276"/>
            <p14:sldId id="277"/>
            <p14:sldId id="278"/>
            <p14:sldId id="279"/>
          </p14:sldIdLst>
        </p14:section>
        <p14:section name="05 Ask Inlay and Optimization" id="{74af05c8-33c5-534c-27f1-a2a5bb634fb5}">
          <p14:sldIdLst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06 Optimization Member" id="{c2258cc2-d376-446b-31e8-b7a34b48bfdc}">
          <p14:sldIdLst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</p14:sldIdLst>
        </p14:section>
        <p14:section name="07 Profile and Control" id="{8f78070c-7c5f-afcc-a858-69c397bb1863}">
          <p14:sldIdLst>
            <p14:sldId id="296"/>
            <p14:sldId id="297"/>
            <p14:sldId id="298"/>
            <p14:sldId id="299"/>
            <p14:sldId id="300"/>
          </p14:sldIdLst>
        </p14:section>
        <p14:section name="Language" id="{30a62cab-624c-173b-a52b-97a600d98bc6}">
          <p14:sldIdLst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slideLayout" Target="../slideLayouts/slideLayout1.xml"/><Relationship Id="rId3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image" Target="../media/image-2-28.png"/><Relationship Id="rId29" Type="http://schemas.openxmlformats.org/officeDocument/2006/relationships/image" Target="../media/image-2-29.png"/><Relationship Id="rId30" Type="http://schemas.openxmlformats.org/officeDocument/2006/relationships/image" Target="../media/image-2-30.png"/><Relationship Id="rId31" Type="http://schemas.openxmlformats.org/officeDocument/2006/relationships/image" Target="../media/image-2-31.png"/><Relationship Id="rId32" Type="http://schemas.openxmlformats.org/officeDocument/2006/relationships/image" Target="../media/image-2-32.png"/><Relationship Id="rId33" Type="http://schemas.openxmlformats.org/officeDocument/2006/relationships/image" Target="../media/image-2-33.png"/><Relationship Id="rId34" Type="http://schemas.openxmlformats.org/officeDocument/2006/relationships/image" Target="../media/image-2-34.png"/><Relationship Id="rId35" Type="http://schemas.openxmlformats.org/officeDocument/2006/relationships/image" Target="../media/image-2-35.png"/><Relationship Id="rId36" Type="http://schemas.openxmlformats.org/officeDocument/2006/relationships/image" Target="../media/image-2-36.png"/><Relationship Id="rId37" Type="http://schemas.openxmlformats.org/officeDocument/2006/relationships/image" Target="../media/image-2-37.png"/><Relationship Id="rId38" Type="http://schemas.openxmlformats.org/officeDocument/2006/relationships/slideLayout" Target="../slideLayouts/slideLayout1.xml"/><Relationship Id="rId3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image" Target="../media/image-31-7.png"/><Relationship Id="rId8" Type="http://schemas.openxmlformats.org/officeDocument/2006/relationships/image" Target="../media/image-31-8.png"/><Relationship Id="rId9" Type="http://schemas.openxmlformats.org/officeDocument/2006/relationships/image" Target="../media/image-3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6459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91056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75104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7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13232"/>
            <a:ext cx="2148840" cy="5029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1783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MOBILE APP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86384" y="210312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Patient App</a:t>
            </a:r>
            <a:endParaRPr lang="en-US" sz="5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12724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Thirty-six screens, from the practice's invitation to the morning a member sees how yesterday went.</a:t>
            </a:r>
            <a:endParaRPr lang="en-US" sz="1550" dirty="0"/>
          </a:p>
        </p:txBody>
      </p:sp>
      <p:sp>
        <p:nvSpPr>
          <p:cNvPr id="11" name="Text 8"/>
          <p:cNvSpPr txBox="1"/>
          <p:nvPr/>
        </p:nvSpPr>
        <p:spPr>
          <a:xfrm>
            <a:off x="841248" y="420624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3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Invite and Activate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3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The Free Home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3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Your Record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3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To Do and Care Gaps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3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Ask Inlay and Optimization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3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Optimization Member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3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Profile and Control</a:t>
            </a:r>
            <a:endParaRPr lang="en-US" sz="1200" dirty="0"/>
          </a:p>
        </p:txBody>
      </p:sp>
      <p:pic>
        <p:nvPicPr>
          <p:cNvPr id="12" name="Image 1" descr="Invitation Emai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3154680"/>
            <a:ext cx="316898" cy="685800"/>
          </a:xfrm>
          <a:prstGeom prst="rect">
            <a:avLst/>
          </a:prstGeom>
        </p:spPr>
      </p:pic>
      <p:pic>
        <p:nvPicPr>
          <p:cNvPr id="13" name="Image 2" descr="Activate Your Accou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4698" y="3154680"/>
            <a:ext cx="316898" cy="685800"/>
          </a:xfrm>
          <a:prstGeom prst="rect">
            <a:avLst/>
          </a:prstGeom>
        </p:spPr>
      </p:pic>
      <p:pic>
        <p:nvPicPr>
          <p:cNvPr id="14" name="Image 3" descr="Consen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7316" y="3154680"/>
            <a:ext cx="316898" cy="685800"/>
          </a:xfrm>
          <a:prstGeom prst="rect">
            <a:avLst/>
          </a:prstGeom>
        </p:spPr>
      </p:pic>
      <p:pic>
        <p:nvPicPr>
          <p:cNvPr id="15" name="Image 4" descr="Records Not Connecte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9934" y="3154680"/>
            <a:ext cx="316898" cy="685800"/>
          </a:xfrm>
          <a:prstGeom prst="rect">
            <a:avLst/>
          </a:prstGeom>
        </p:spPr>
      </p:pic>
      <p:pic>
        <p:nvPicPr>
          <p:cNvPr id="16" name="Image 5" descr="Record Arrivi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2552" y="3154680"/>
            <a:ext cx="316898" cy="685800"/>
          </a:xfrm>
          <a:prstGeom prst="rect">
            <a:avLst/>
          </a:prstGeom>
        </p:spPr>
      </p:pic>
      <p:pic>
        <p:nvPicPr>
          <p:cNvPr id="17" name="Image 6" descr="Hom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5171" y="3154680"/>
            <a:ext cx="316898" cy="685800"/>
          </a:xfrm>
          <a:prstGeom prst="rect">
            <a:avLst/>
          </a:prstGeom>
        </p:spPr>
      </p:pic>
      <p:pic>
        <p:nvPicPr>
          <p:cNvPr id="18" name="Image 7" descr="New Result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7789" y="3154680"/>
            <a:ext cx="316898" cy="685800"/>
          </a:xfrm>
          <a:prstGeom prst="rect">
            <a:avLst/>
          </a:prstGeom>
        </p:spPr>
      </p:pic>
      <p:pic>
        <p:nvPicPr>
          <p:cNvPr id="19" name="Image 8" descr="Notification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0407" y="3154680"/>
            <a:ext cx="316898" cy="685800"/>
          </a:xfrm>
          <a:prstGeom prst="rect">
            <a:avLst/>
          </a:prstGeom>
        </p:spPr>
      </p:pic>
      <p:pic>
        <p:nvPicPr>
          <p:cNvPr id="20" name="Image 9" descr="Inlay Scor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13025" y="3154680"/>
            <a:ext cx="316898" cy="685800"/>
          </a:xfrm>
          <a:prstGeom prst="rect">
            <a:avLst/>
          </a:prstGeom>
        </p:spPr>
      </p:pic>
      <p:pic>
        <p:nvPicPr>
          <p:cNvPr id="21" name="Image 10" descr="Record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5643" y="3154680"/>
            <a:ext cx="316898" cy="685800"/>
          </a:xfrm>
          <a:prstGeom prst="rect">
            <a:avLst/>
          </a:prstGeom>
        </p:spPr>
      </p:pic>
      <p:pic>
        <p:nvPicPr>
          <p:cNvPr id="22" name="Image 11" descr="Results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38261" y="3154680"/>
            <a:ext cx="316898" cy="685800"/>
          </a:xfrm>
          <a:prstGeom prst="rect">
            <a:avLst/>
          </a:prstGeom>
        </p:spPr>
      </p:pic>
      <p:pic>
        <p:nvPicPr>
          <p:cNvPr id="23" name="Image 12" descr="Result Detail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00879" y="3154680"/>
            <a:ext cx="316898" cy="685800"/>
          </a:xfrm>
          <a:prstGeom prst="rect">
            <a:avLst/>
          </a:prstGeom>
        </p:spPr>
      </p:pic>
      <p:pic>
        <p:nvPicPr>
          <p:cNvPr id="24" name="Image 13" descr="Your Medicines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12080" y="3886200"/>
            <a:ext cx="316898" cy="685800"/>
          </a:xfrm>
          <a:prstGeom prst="rect">
            <a:avLst/>
          </a:prstGeom>
        </p:spPr>
      </p:pic>
      <p:pic>
        <p:nvPicPr>
          <p:cNvPr id="25" name="Image 14" descr="Tell Us Somethi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74698" y="3886200"/>
            <a:ext cx="316898" cy="685800"/>
          </a:xfrm>
          <a:prstGeom prst="rect">
            <a:avLst/>
          </a:prstGeom>
        </p:spPr>
      </p:pic>
      <p:pic>
        <p:nvPicPr>
          <p:cNvPr id="26" name="Image 15" descr="To Do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37316" y="3886200"/>
            <a:ext cx="316898" cy="685800"/>
          </a:xfrm>
          <a:prstGeom prst="rect">
            <a:avLst/>
          </a:prstGeom>
        </p:spPr>
      </p:pic>
      <p:pic>
        <p:nvPicPr>
          <p:cNvPr id="27" name="Image 16" descr="Care Gap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99934" y="3886200"/>
            <a:ext cx="316898" cy="685800"/>
          </a:xfrm>
          <a:prstGeom prst="rect">
            <a:avLst/>
          </a:prstGeom>
        </p:spPr>
      </p:pic>
      <p:pic>
        <p:nvPicPr>
          <p:cNvPr id="28" name="Image 17" descr="Order Tracki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62552" y="3886200"/>
            <a:ext cx="316898" cy="685800"/>
          </a:xfrm>
          <a:prstGeom prst="rect">
            <a:avLst/>
          </a:prstGeom>
        </p:spPr>
      </p:pic>
      <p:pic>
        <p:nvPicPr>
          <p:cNvPr id="29" name="Image 18" descr="Book Your Blood Test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25171" y="3886200"/>
            <a:ext cx="316898" cy="685800"/>
          </a:xfrm>
          <a:prstGeom prst="rect">
            <a:avLst/>
          </a:prstGeom>
        </p:spPr>
      </p:pic>
      <p:pic>
        <p:nvPicPr>
          <p:cNvPr id="30" name="Image 19" descr="Ask Inlay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87789" y="3886200"/>
            <a:ext cx="316898" cy="685800"/>
          </a:xfrm>
          <a:prstGeom prst="rect">
            <a:avLst/>
          </a:prstGeom>
        </p:spPr>
      </p:pic>
      <p:pic>
        <p:nvPicPr>
          <p:cNvPr id="31" name="Image 20" descr="Questions Used Up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750407" y="3886200"/>
            <a:ext cx="316898" cy="685800"/>
          </a:xfrm>
          <a:prstGeom prst="rect">
            <a:avLst/>
          </a:prstGeom>
        </p:spPr>
      </p:pic>
      <p:pic>
        <p:nvPicPr>
          <p:cNvPr id="32" name="Image 21" descr="A Plan Built Around You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113025" y="3886200"/>
            <a:ext cx="316898" cy="685800"/>
          </a:xfrm>
          <a:prstGeom prst="rect">
            <a:avLst/>
          </a:prstGeom>
        </p:spPr>
      </p:pic>
      <p:pic>
        <p:nvPicPr>
          <p:cNvPr id="33" name="Image 22" descr="Finish Setting Up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75643" y="3886200"/>
            <a:ext cx="316898" cy="685800"/>
          </a:xfrm>
          <a:prstGeom prst="rect">
            <a:avLst/>
          </a:prstGeom>
        </p:spPr>
      </p:pic>
      <p:pic>
        <p:nvPicPr>
          <p:cNvPr id="34" name="Image 23" descr="Plan With the Doctor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838261" y="3886200"/>
            <a:ext cx="316898" cy="685800"/>
          </a:xfrm>
          <a:prstGeom prst="rect">
            <a:avLst/>
          </a:prstGeom>
        </p:spPr>
      </p:pic>
      <p:pic>
        <p:nvPicPr>
          <p:cNvPr id="35" name="Image 24" descr="Member Home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200879" y="3886200"/>
            <a:ext cx="316898" cy="685800"/>
          </a:xfrm>
          <a:prstGeom prst="rect">
            <a:avLst/>
          </a:prstGeom>
        </p:spPr>
      </p:pic>
      <p:pic>
        <p:nvPicPr>
          <p:cNvPr id="36" name="Image 25" descr="Plan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212080" y="4617720"/>
            <a:ext cx="316898" cy="685800"/>
          </a:xfrm>
          <a:prstGeom prst="rect">
            <a:avLst/>
          </a:prstGeom>
        </p:spPr>
      </p:pic>
      <p:pic>
        <p:nvPicPr>
          <p:cNvPr id="37" name="Image 26" descr="Diet Plan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574698" y="4617720"/>
            <a:ext cx="316898" cy="685800"/>
          </a:xfrm>
          <a:prstGeom prst="rect">
            <a:avLst/>
          </a:prstGeom>
        </p:spPr>
      </p:pic>
      <p:pic>
        <p:nvPicPr>
          <p:cNvPr id="38" name="Image 27" descr="Log a Meal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937316" y="4617720"/>
            <a:ext cx="316898" cy="685800"/>
          </a:xfrm>
          <a:prstGeom prst="rect">
            <a:avLst/>
          </a:prstGeom>
        </p:spPr>
      </p:pic>
      <p:pic>
        <p:nvPicPr>
          <p:cNvPr id="39" name="Image 28" descr="Today's Exercise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299934" y="4617720"/>
            <a:ext cx="316898" cy="685800"/>
          </a:xfrm>
          <a:prstGeom prst="rect">
            <a:avLst/>
          </a:prstGeom>
        </p:spPr>
      </p:pic>
      <p:pic>
        <p:nvPicPr>
          <p:cNvPr id="40" name="Image 29" descr="Yesterday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662552" y="4617720"/>
            <a:ext cx="316898" cy="685800"/>
          </a:xfrm>
          <a:prstGeom prst="rect">
            <a:avLst/>
          </a:prstGeom>
        </p:spPr>
      </p:pic>
      <p:pic>
        <p:nvPicPr>
          <p:cNvPr id="41" name="Image 30" descr="Progress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025171" y="4617720"/>
            <a:ext cx="316898" cy="685800"/>
          </a:xfrm>
          <a:prstGeom prst="rect">
            <a:avLst/>
          </a:prstGeom>
        </p:spPr>
      </p:pic>
      <p:pic>
        <p:nvPicPr>
          <p:cNvPr id="42" name="Image 31" descr="History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387789" y="4617720"/>
            <a:ext cx="316898" cy="685800"/>
          </a:xfrm>
          <a:prstGeom prst="rect">
            <a:avLst/>
          </a:prstGeom>
        </p:spPr>
      </p:pic>
      <p:pic>
        <p:nvPicPr>
          <p:cNvPr id="43" name="Image 32" descr="Plan Update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750407" y="4617720"/>
            <a:ext cx="316898" cy="685800"/>
          </a:xfrm>
          <a:prstGeom prst="rect">
            <a:avLst/>
          </a:prstGeom>
        </p:spPr>
      </p:pic>
      <p:pic>
        <p:nvPicPr>
          <p:cNvPr id="44" name="Image 33" descr="Profile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113025" y="4617720"/>
            <a:ext cx="316898" cy="685800"/>
          </a:xfrm>
          <a:prstGeom prst="rect">
            <a:avLst/>
          </a:prstGeom>
        </p:spPr>
      </p:pic>
      <p:pic>
        <p:nvPicPr>
          <p:cNvPr id="45" name="Image 34" descr="Access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475643" y="4617720"/>
            <a:ext cx="316898" cy="685800"/>
          </a:xfrm>
          <a:prstGeom prst="rect">
            <a:avLst/>
          </a:prstGeom>
        </p:spPr>
      </p:pic>
      <p:pic>
        <p:nvPicPr>
          <p:cNvPr id="46" name="Image 35" descr="Who Has Looked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838261" y="4617720"/>
            <a:ext cx="316898" cy="685800"/>
          </a:xfrm>
          <a:prstGeom prst="rect">
            <a:avLst/>
          </a:prstGeom>
        </p:spPr>
      </p:pic>
      <p:pic>
        <p:nvPicPr>
          <p:cNvPr id="47" name="Image 36" descr="Membership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200879" y="4617720"/>
            <a:ext cx="316898" cy="685800"/>
          </a:xfrm>
          <a:prstGeom prst="rect">
            <a:avLst/>
          </a:prstGeom>
        </p:spPr>
      </p:pic>
      <p:sp>
        <p:nvSpPr>
          <p:cNvPr id="48" name="Text 9"/>
          <p:cNvSpPr txBox="1"/>
          <p:nvPr/>
        </p:nvSpPr>
        <p:spPr>
          <a:xfrm>
            <a:off x="5230368" y="5385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screens  ·  7 stages</a:t>
            </a:r>
            <a:endParaRPr lang="en-US" sz="900" dirty="0"/>
          </a:p>
        </p:txBody>
      </p:sp>
      <p:sp>
        <p:nvSpPr>
          <p:cNvPr id="49" name="Shape 10"/>
          <p:cNvSpPr/>
          <p:nvPr/>
        </p:nvSpPr>
        <p:spPr>
          <a:xfrm>
            <a:off x="822960" y="5943600"/>
            <a:ext cx="10543032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0" name="Text 11"/>
          <p:cNvSpPr txBox="1"/>
          <p:nvPr/>
        </p:nvSpPr>
        <p:spPr>
          <a:xfrm>
            <a:off x="822960" y="6053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discussion draft  ·  October 2026</a:t>
            </a:r>
            <a:endParaRPr lang="en-US" sz="950" dirty="0"/>
          </a:p>
        </p:txBody>
      </p:sp>
      <p:sp>
        <p:nvSpPr>
          <p:cNvPr id="51" name="Text 12"/>
          <p:cNvSpPr txBox="1"/>
          <p:nvPr/>
        </p:nvSpPr>
        <p:spPr>
          <a:xfrm>
            <a:off x="5852160" y="6053328"/>
            <a:ext cx="5513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captured from the live app build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PATIENT MOBILE APP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pic>
        <p:nvPicPr>
          <p:cNvPr id="6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1444752" cy="3383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91440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journey end to end</a:t>
            </a:r>
            <a:endParaRPr lang="en-US" sz="2900" dirty="0"/>
          </a:p>
        </p:txBody>
      </p:sp>
      <p:sp>
        <p:nvSpPr>
          <p:cNvPr id="8" name="Text 5"/>
          <p:cNvSpPr txBox="1"/>
          <p:nvPr/>
        </p:nvSpPr>
        <p:spPr>
          <a:xfrm>
            <a:off x="576072" y="14264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stages. Inlay never asks the patient to do work the record can do, and their own physician stays in the loop.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66928" y="1938528"/>
            <a:ext cx="1422545" cy="4023360"/>
          </a:xfrm>
          <a:prstGeom prst="roundRect">
            <a:avLst>
              <a:gd name="adj" fmla="val 5142"/>
            </a:avLst>
          </a:prstGeom>
          <a:solidFill>
            <a:srgbClr val="FFFFFF"/>
          </a:solidFill>
          <a:ln w="9525">
            <a:solidFill>
              <a:srgbClr val="E7ED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13232" y="21031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13232" y="2359152"/>
            <a:ext cx="1129937" cy="360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 AND ACTIVATE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713232" y="2747010"/>
            <a:ext cx="1129937" cy="937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screens from the practice's email to a record that builds itself. The patient types an email, a birthday and a code, then signs one consent.</a:t>
            </a:r>
            <a:endParaRPr lang="en-US" sz="850" dirty="0"/>
          </a:p>
        </p:txBody>
      </p:sp>
      <p:pic>
        <p:nvPicPr>
          <p:cNvPr id="14" name="Image 1" descr="Invitation Emai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775837"/>
            <a:ext cx="333974" cy="72275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13232" y="4516878"/>
            <a:ext cx="3339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pic>
        <p:nvPicPr>
          <p:cNvPr id="16" name="Image 2" descr="Activate Your Accou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214" y="3775837"/>
            <a:ext cx="333974" cy="72275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11214" y="4516878"/>
            <a:ext cx="3339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pic>
        <p:nvPicPr>
          <p:cNvPr id="18" name="Image 3" descr="Consen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9195" y="3775837"/>
            <a:ext cx="333974" cy="722753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09195" y="4516878"/>
            <a:ext cx="3339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pic>
        <p:nvPicPr>
          <p:cNvPr id="20" name="Image 4" descr="Records Not Connecte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223" y="4681470"/>
            <a:ext cx="333974" cy="722753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12223" y="5422512"/>
            <a:ext cx="3339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pic>
        <p:nvPicPr>
          <p:cNvPr id="22" name="Image 5" descr="Record Arrivi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0205" y="4681470"/>
            <a:ext cx="333974" cy="722753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310205" y="5422512"/>
            <a:ext cx="3339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50" dirty="0"/>
          </a:p>
        </p:txBody>
      </p:sp>
      <p:sp>
        <p:nvSpPr>
          <p:cNvPr id="24" name="Text 16"/>
          <p:cNvSpPr txBox="1"/>
          <p:nvPr/>
        </p:nvSpPr>
        <p:spPr>
          <a:xfrm>
            <a:off x="1989473" y="36576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8D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5" name="Shape 17"/>
          <p:cNvSpPr/>
          <p:nvPr/>
        </p:nvSpPr>
        <p:spPr>
          <a:xfrm>
            <a:off x="2172353" y="1938528"/>
            <a:ext cx="1422545" cy="4023360"/>
          </a:xfrm>
          <a:prstGeom prst="roundRect">
            <a:avLst>
              <a:gd name="adj" fmla="val 5142"/>
            </a:avLst>
          </a:prstGeom>
          <a:solidFill>
            <a:srgbClr val="FFFFFF"/>
          </a:solidFill>
          <a:ln w="9525">
            <a:solidFill>
              <a:srgbClr val="E7EDEA"/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2318657" y="21031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27" name="Text 19"/>
          <p:cNvSpPr txBox="1"/>
          <p:nvPr/>
        </p:nvSpPr>
        <p:spPr>
          <a:xfrm>
            <a:off x="2318657" y="2359152"/>
            <a:ext cx="1129937" cy="360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FREE HOME</a:t>
            </a:r>
            <a:endParaRPr lang="en-US" sz="1050" dirty="0"/>
          </a:p>
        </p:txBody>
      </p:sp>
      <p:sp>
        <p:nvSpPr>
          <p:cNvPr id="28" name="Text 20"/>
          <p:cNvSpPr txBox="1"/>
          <p:nvPr/>
        </p:nvSpPr>
        <p:spPr>
          <a:xfrm>
            <a:off x="2318657" y="2747010"/>
            <a:ext cx="1129937" cy="937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free record, in one screen each morning: what needs the patient, what is moving the wrong way, and help offered only where the record gives a reason.</a:t>
            </a:r>
            <a:endParaRPr lang="en-US" sz="850" dirty="0"/>
          </a:p>
        </p:txBody>
      </p:sp>
      <p:pic>
        <p:nvPicPr>
          <p:cNvPr id="29" name="Image 6" descr="Hom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56409" y="3775837"/>
            <a:ext cx="395213" cy="855282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2456409" y="4649407"/>
            <a:ext cx="39521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50" dirty="0"/>
          </a:p>
        </p:txBody>
      </p:sp>
      <p:pic>
        <p:nvPicPr>
          <p:cNvPr id="31" name="Image 7" descr="New Result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15630" y="3775837"/>
            <a:ext cx="395213" cy="855282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2915630" y="4649407"/>
            <a:ext cx="39521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50" dirty="0"/>
          </a:p>
        </p:txBody>
      </p:sp>
      <p:pic>
        <p:nvPicPr>
          <p:cNvPr id="33" name="Image 8" descr="Notification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6409" y="4813999"/>
            <a:ext cx="395213" cy="855282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2456409" y="5687568"/>
            <a:ext cx="39521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50" dirty="0"/>
          </a:p>
        </p:txBody>
      </p:sp>
      <p:pic>
        <p:nvPicPr>
          <p:cNvPr id="35" name="Image 9" descr="Inlay Scor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15630" y="4813999"/>
            <a:ext cx="395213" cy="855282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2915630" y="5687568"/>
            <a:ext cx="39521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50" dirty="0"/>
          </a:p>
        </p:txBody>
      </p:sp>
      <p:sp>
        <p:nvSpPr>
          <p:cNvPr id="37" name="Text 25"/>
          <p:cNvSpPr txBox="1"/>
          <p:nvPr/>
        </p:nvSpPr>
        <p:spPr>
          <a:xfrm>
            <a:off x="3594898" y="36576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8D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38" name="Shape 26"/>
          <p:cNvSpPr/>
          <p:nvPr/>
        </p:nvSpPr>
        <p:spPr>
          <a:xfrm>
            <a:off x="3777778" y="1938528"/>
            <a:ext cx="1422545" cy="4023360"/>
          </a:xfrm>
          <a:prstGeom prst="roundRect">
            <a:avLst>
              <a:gd name="adj" fmla="val 5142"/>
            </a:avLst>
          </a:prstGeom>
          <a:solidFill>
            <a:srgbClr val="FFFFFF"/>
          </a:solidFill>
          <a:ln w="9525">
            <a:solidFill>
              <a:srgbClr val="E7EDEA"/>
            </a:solidFill>
            <a:prstDash val="solid"/>
          </a:ln>
        </p:spPr>
      </p:sp>
      <p:sp>
        <p:nvSpPr>
          <p:cNvPr id="39" name="Text 27"/>
          <p:cNvSpPr txBox="1"/>
          <p:nvPr/>
        </p:nvSpPr>
        <p:spPr>
          <a:xfrm>
            <a:off x="3924082" y="21031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0" name="Text 28"/>
          <p:cNvSpPr txBox="1"/>
          <p:nvPr/>
        </p:nvSpPr>
        <p:spPr>
          <a:xfrm>
            <a:off x="3924082" y="2359152"/>
            <a:ext cx="1129937" cy="203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RECORD</a:t>
            </a:r>
            <a:endParaRPr lang="en-US" sz="1050" dirty="0"/>
          </a:p>
        </p:txBody>
      </p:sp>
      <p:sp>
        <p:nvSpPr>
          <p:cNvPr id="41" name="Text 29"/>
          <p:cNvSpPr txBox="1"/>
          <p:nvPr/>
        </p:nvSpPr>
        <p:spPr>
          <a:xfrm>
            <a:off x="3924082" y="2589657"/>
            <a:ext cx="1129937" cy="937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result, medicine and source in one place. Trends instead of snapshots, and the patient confirms what the hospitals disagree on.</a:t>
            </a:r>
            <a:endParaRPr lang="en-US" sz="850" dirty="0"/>
          </a:p>
        </p:txBody>
      </p:sp>
      <p:pic>
        <p:nvPicPr>
          <p:cNvPr id="42" name="Image 10" descr="Record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24082" y="3618484"/>
            <a:ext cx="333974" cy="722753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3924082" y="4359525"/>
            <a:ext cx="3339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50" dirty="0"/>
          </a:p>
        </p:txBody>
      </p:sp>
      <p:pic>
        <p:nvPicPr>
          <p:cNvPr id="44" name="Image 11" descr="Results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22064" y="3618484"/>
            <a:ext cx="333974" cy="722753"/>
          </a:xfrm>
          <a:prstGeom prst="rect">
            <a:avLst/>
          </a:prstGeom>
        </p:spPr>
      </p:pic>
      <p:sp>
        <p:nvSpPr>
          <p:cNvPr id="45" name="Text 31"/>
          <p:cNvSpPr txBox="1"/>
          <p:nvPr/>
        </p:nvSpPr>
        <p:spPr>
          <a:xfrm>
            <a:off x="4322064" y="4359525"/>
            <a:ext cx="3339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50" dirty="0"/>
          </a:p>
        </p:txBody>
      </p:sp>
      <p:pic>
        <p:nvPicPr>
          <p:cNvPr id="46" name="Image 12" descr="Result Detail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20046" y="3618484"/>
            <a:ext cx="333974" cy="722753"/>
          </a:xfrm>
          <a:prstGeom prst="rect">
            <a:avLst/>
          </a:prstGeom>
        </p:spPr>
      </p:pic>
      <p:sp>
        <p:nvSpPr>
          <p:cNvPr id="47" name="Text 32"/>
          <p:cNvSpPr txBox="1"/>
          <p:nvPr/>
        </p:nvSpPr>
        <p:spPr>
          <a:xfrm>
            <a:off x="4720046" y="4359525"/>
            <a:ext cx="3339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50" dirty="0"/>
          </a:p>
        </p:txBody>
      </p:sp>
      <p:pic>
        <p:nvPicPr>
          <p:cNvPr id="48" name="Image 13" descr="Your Medicines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23073" y="4524117"/>
            <a:ext cx="333974" cy="722753"/>
          </a:xfrm>
          <a:prstGeom prst="rect">
            <a:avLst/>
          </a:prstGeom>
        </p:spPr>
      </p:pic>
      <p:sp>
        <p:nvSpPr>
          <p:cNvPr id="49" name="Text 33"/>
          <p:cNvSpPr txBox="1"/>
          <p:nvPr/>
        </p:nvSpPr>
        <p:spPr>
          <a:xfrm>
            <a:off x="4123073" y="5265159"/>
            <a:ext cx="3339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750" dirty="0"/>
          </a:p>
        </p:txBody>
      </p:sp>
      <p:pic>
        <p:nvPicPr>
          <p:cNvPr id="50" name="Image 14" descr="Tell Us Somethi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21055" y="4524117"/>
            <a:ext cx="333974" cy="722753"/>
          </a:xfrm>
          <a:prstGeom prst="rect">
            <a:avLst/>
          </a:prstGeom>
        </p:spPr>
      </p:pic>
      <p:sp>
        <p:nvSpPr>
          <p:cNvPr id="51" name="Text 34"/>
          <p:cNvSpPr txBox="1"/>
          <p:nvPr/>
        </p:nvSpPr>
        <p:spPr>
          <a:xfrm>
            <a:off x="4521055" y="5265159"/>
            <a:ext cx="3339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50" dirty="0"/>
          </a:p>
        </p:txBody>
      </p:sp>
      <p:sp>
        <p:nvSpPr>
          <p:cNvPr id="52" name="Text 35"/>
          <p:cNvSpPr txBox="1"/>
          <p:nvPr/>
        </p:nvSpPr>
        <p:spPr>
          <a:xfrm>
            <a:off x="5200323" y="36576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8D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53" name="Shape 36"/>
          <p:cNvSpPr/>
          <p:nvPr/>
        </p:nvSpPr>
        <p:spPr>
          <a:xfrm>
            <a:off x="5383203" y="1938528"/>
            <a:ext cx="1422545" cy="4023360"/>
          </a:xfrm>
          <a:prstGeom prst="roundRect">
            <a:avLst>
              <a:gd name="adj" fmla="val 5142"/>
            </a:avLst>
          </a:prstGeom>
          <a:solidFill>
            <a:srgbClr val="FFFFFF"/>
          </a:solidFill>
          <a:ln w="9525">
            <a:solidFill>
              <a:srgbClr val="E7EDEA"/>
            </a:solidFill>
            <a:prstDash val="solid"/>
          </a:ln>
        </p:spPr>
      </p:sp>
      <p:sp>
        <p:nvSpPr>
          <p:cNvPr id="54" name="Text 37"/>
          <p:cNvSpPr txBox="1"/>
          <p:nvPr/>
        </p:nvSpPr>
        <p:spPr>
          <a:xfrm>
            <a:off x="5529507" y="21031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55" name="Text 38"/>
          <p:cNvSpPr txBox="1"/>
          <p:nvPr/>
        </p:nvSpPr>
        <p:spPr>
          <a:xfrm>
            <a:off x="5529507" y="2359152"/>
            <a:ext cx="1129937" cy="360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DO AND CARE GAPS</a:t>
            </a:r>
            <a:endParaRPr lang="en-US" sz="1050" dirty="0"/>
          </a:p>
        </p:txBody>
      </p:sp>
      <p:sp>
        <p:nvSpPr>
          <p:cNvPr id="56" name="Text 39"/>
          <p:cNvSpPr txBox="1"/>
          <p:nvPr/>
        </p:nvSpPr>
        <p:spPr>
          <a:xfrm>
            <a:off x="5529507" y="2747010"/>
            <a:ext cx="1129937" cy="937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the doctor placed and the patient never finished. The app tracks each one from ordered to done, and Inlay can arrange the next step.</a:t>
            </a:r>
            <a:endParaRPr lang="en-US" sz="850" dirty="0"/>
          </a:p>
        </p:txBody>
      </p:sp>
      <p:pic>
        <p:nvPicPr>
          <p:cNvPr id="57" name="Image 15" descr="To Do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67259" y="3775837"/>
            <a:ext cx="395213" cy="855282"/>
          </a:xfrm>
          <a:prstGeom prst="rect">
            <a:avLst/>
          </a:prstGeom>
        </p:spPr>
      </p:pic>
      <p:sp>
        <p:nvSpPr>
          <p:cNvPr id="58" name="Text 40"/>
          <p:cNvSpPr txBox="1"/>
          <p:nvPr/>
        </p:nvSpPr>
        <p:spPr>
          <a:xfrm>
            <a:off x="5667259" y="4649407"/>
            <a:ext cx="39521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750" dirty="0"/>
          </a:p>
        </p:txBody>
      </p:sp>
      <p:pic>
        <p:nvPicPr>
          <p:cNvPr id="59" name="Image 16" descr="Care Gap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26480" y="3775837"/>
            <a:ext cx="395213" cy="855282"/>
          </a:xfrm>
          <a:prstGeom prst="rect">
            <a:avLst/>
          </a:prstGeom>
        </p:spPr>
      </p:pic>
      <p:sp>
        <p:nvSpPr>
          <p:cNvPr id="60" name="Text 41"/>
          <p:cNvSpPr txBox="1"/>
          <p:nvPr/>
        </p:nvSpPr>
        <p:spPr>
          <a:xfrm>
            <a:off x="6126480" y="4649407"/>
            <a:ext cx="39521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750" dirty="0"/>
          </a:p>
        </p:txBody>
      </p:sp>
      <p:pic>
        <p:nvPicPr>
          <p:cNvPr id="61" name="Image 17" descr="Order Tracki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667259" y="4813999"/>
            <a:ext cx="395213" cy="855282"/>
          </a:xfrm>
          <a:prstGeom prst="rect">
            <a:avLst/>
          </a:prstGeom>
        </p:spPr>
      </p:pic>
      <p:sp>
        <p:nvSpPr>
          <p:cNvPr id="62" name="Text 42"/>
          <p:cNvSpPr txBox="1"/>
          <p:nvPr/>
        </p:nvSpPr>
        <p:spPr>
          <a:xfrm>
            <a:off x="5667259" y="5687568"/>
            <a:ext cx="39521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750" dirty="0"/>
          </a:p>
        </p:txBody>
      </p:sp>
      <p:pic>
        <p:nvPicPr>
          <p:cNvPr id="63" name="Image 18" descr="Book Your Blood Test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26480" y="4813999"/>
            <a:ext cx="395213" cy="855282"/>
          </a:xfrm>
          <a:prstGeom prst="rect">
            <a:avLst/>
          </a:prstGeom>
        </p:spPr>
      </p:pic>
      <p:sp>
        <p:nvSpPr>
          <p:cNvPr id="64" name="Text 43"/>
          <p:cNvSpPr txBox="1"/>
          <p:nvPr/>
        </p:nvSpPr>
        <p:spPr>
          <a:xfrm>
            <a:off x="6126480" y="5687568"/>
            <a:ext cx="39521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750" dirty="0"/>
          </a:p>
        </p:txBody>
      </p:sp>
      <p:sp>
        <p:nvSpPr>
          <p:cNvPr id="65" name="Text 44"/>
          <p:cNvSpPr txBox="1"/>
          <p:nvPr/>
        </p:nvSpPr>
        <p:spPr>
          <a:xfrm>
            <a:off x="6805749" y="36576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8D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66" name="Shape 45"/>
          <p:cNvSpPr/>
          <p:nvPr/>
        </p:nvSpPr>
        <p:spPr>
          <a:xfrm>
            <a:off x="6988629" y="1938528"/>
            <a:ext cx="1422545" cy="4023360"/>
          </a:xfrm>
          <a:prstGeom prst="roundRect">
            <a:avLst>
              <a:gd name="adj" fmla="val 5142"/>
            </a:avLst>
          </a:prstGeom>
          <a:solidFill>
            <a:srgbClr val="FFFFFF"/>
          </a:solidFill>
          <a:ln w="9525">
            <a:solidFill>
              <a:srgbClr val="E7EDEA"/>
            </a:solidFill>
            <a:prstDash val="solid"/>
          </a:ln>
        </p:spPr>
      </p:sp>
      <p:sp>
        <p:nvSpPr>
          <p:cNvPr id="67" name="Text 46"/>
          <p:cNvSpPr txBox="1"/>
          <p:nvPr/>
        </p:nvSpPr>
        <p:spPr>
          <a:xfrm>
            <a:off x="7134933" y="21031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68" name="Text 47"/>
          <p:cNvSpPr txBox="1"/>
          <p:nvPr/>
        </p:nvSpPr>
        <p:spPr>
          <a:xfrm>
            <a:off x="7134933" y="2359152"/>
            <a:ext cx="1129937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INLAY AND OPTIMIZATION</a:t>
            </a:r>
            <a:endParaRPr lang="en-US" sz="1050" dirty="0"/>
          </a:p>
        </p:txBody>
      </p:sp>
      <p:sp>
        <p:nvSpPr>
          <p:cNvPr id="69" name="Text 48"/>
          <p:cNvSpPr txBox="1"/>
          <p:nvPr/>
        </p:nvSpPr>
        <p:spPr>
          <a:xfrm>
            <a:off x="7134933" y="2904363"/>
            <a:ext cx="1129937" cy="1064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assistant answers from the patient's own record, five questions a month on the free record. Optimization is built from that record too, and the physician approves it.</a:t>
            </a:r>
            <a:endParaRPr lang="en-US" sz="850" dirty="0"/>
          </a:p>
        </p:txBody>
      </p:sp>
      <p:pic>
        <p:nvPicPr>
          <p:cNvPr id="70" name="Image 19" descr="Ask Inlay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141752" y="4060571"/>
            <a:ext cx="329427" cy="712915"/>
          </a:xfrm>
          <a:prstGeom prst="rect">
            <a:avLst/>
          </a:prstGeom>
        </p:spPr>
      </p:pic>
      <p:sp>
        <p:nvSpPr>
          <p:cNvPr id="71" name="Text 49"/>
          <p:cNvSpPr txBox="1"/>
          <p:nvPr/>
        </p:nvSpPr>
        <p:spPr>
          <a:xfrm>
            <a:off x="7141752" y="4791774"/>
            <a:ext cx="32942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750" dirty="0"/>
          </a:p>
        </p:txBody>
      </p:sp>
      <p:pic>
        <p:nvPicPr>
          <p:cNvPr id="72" name="Image 20" descr="Questions Used Up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535187" y="4060571"/>
            <a:ext cx="329427" cy="712915"/>
          </a:xfrm>
          <a:prstGeom prst="rect">
            <a:avLst/>
          </a:prstGeom>
        </p:spPr>
      </p:pic>
      <p:sp>
        <p:nvSpPr>
          <p:cNvPr id="73" name="Text 50"/>
          <p:cNvSpPr txBox="1"/>
          <p:nvPr/>
        </p:nvSpPr>
        <p:spPr>
          <a:xfrm>
            <a:off x="7535187" y="4791774"/>
            <a:ext cx="32942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50" dirty="0"/>
          </a:p>
        </p:txBody>
      </p:sp>
      <p:pic>
        <p:nvPicPr>
          <p:cNvPr id="74" name="Image 21" descr="A Plan Built Around You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928623" y="4060571"/>
            <a:ext cx="329427" cy="712915"/>
          </a:xfrm>
          <a:prstGeom prst="rect">
            <a:avLst/>
          </a:prstGeom>
        </p:spPr>
      </p:pic>
      <p:sp>
        <p:nvSpPr>
          <p:cNvPr id="75" name="Text 51"/>
          <p:cNvSpPr txBox="1"/>
          <p:nvPr/>
        </p:nvSpPr>
        <p:spPr>
          <a:xfrm>
            <a:off x="7928623" y="4791774"/>
            <a:ext cx="32942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750" dirty="0"/>
          </a:p>
        </p:txBody>
      </p:sp>
      <p:pic>
        <p:nvPicPr>
          <p:cNvPr id="76" name="Image 22" descr="Finish Setting Up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338470" y="4956366"/>
            <a:ext cx="329427" cy="712915"/>
          </a:xfrm>
          <a:prstGeom prst="rect">
            <a:avLst/>
          </a:prstGeom>
        </p:spPr>
      </p:pic>
      <p:sp>
        <p:nvSpPr>
          <p:cNvPr id="77" name="Text 52"/>
          <p:cNvSpPr txBox="1"/>
          <p:nvPr/>
        </p:nvSpPr>
        <p:spPr>
          <a:xfrm>
            <a:off x="7338470" y="5687568"/>
            <a:ext cx="32942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750" dirty="0"/>
          </a:p>
        </p:txBody>
      </p:sp>
      <p:pic>
        <p:nvPicPr>
          <p:cNvPr id="78" name="Image 23" descr="Plan With the Doctor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731905" y="4956366"/>
            <a:ext cx="329427" cy="712915"/>
          </a:xfrm>
          <a:prstGeom prst="rect">
            <a:avLst/>
          </a:prstGeom>
        </p:spPr>
      </p:pic>
      <p:sp>
        <p:nvSpPr>
          <p:cNvPr id="79" name="Text 53"/>
          <p:cNvSpPr txBox="1"/>
          <p:nvPr/>
        </p:nvSpPr>
        <p:spPr>
          <a:xfrm>
            <a:off x="7731905" y="5687568"/>
            <a:ext cx="32942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750" dirty="0"/>
          </a:p>
        </p:txBody>
      </p:sp>
      <p:sp>
        <p:nvSpPr>
          <p:cNvPr id="80" name="Text 54"/>
          <p:cNvSpPr txBox="1"/>
          <p:nvPr/>
        </p:nvSpPr>
        <p:spPr>
          <a:xfrm>
            <a:off x="8411174" y="36576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8D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81" name="Shape 55"/>
          <p:cNvSpPr/>
          <p:nvPr/>
        </p:nvSpPr>
        <p:spPr>
          <a:xfrm>
            <a:off x="8594054" y="1938528"/>
            <a:ext cx="1422545" cy="4023360"/>
          </a:xfrm>
          <a:prstGeom prst="roundRect">
            <a:avLst>
              <a:gd name="adj" fmla="val 5142"/>
            </a:avLst>
          </a:prstGeom>
          <a:solidFill>
            <a:srgbClr val="FFFFFF"/>
          </a:solidFill>
          <a:ln w="9525">
            <a:solidFill>
              <a:srgbClr val="E7EDEA"/>
            </a:solidFill>
            <a:prstDash val="solid"/>
          </a:ln>
        </p:spPr>
      </p:sp>
      <p:sp>
        <p:nvSpPr>
          <p:cNvPr id="82" name="Text 56"/>
          <p:cNvSpPr txBox="1"/>
          <p:nvPr/>
        </p:nvSpPr>
        <p:spPr>
          <a:xfrm>
            <a:off x="8740358" y="21031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83" name="Text 57"/>
          <p:cNvSpPr txBox="1"/>
          <p:nvPr/>
        </p:nvSpPr>
        <p:spPr>
          <a:xfrm>
            <a:off x="8740358" y="2359152"/>
            <a:ext cx="1129937" cy="360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MEMBER</a:t>
            </a:r>
            <a:endParaRPr lang="en-US" sz="1050" dirty="0"/>
          </a:p>
        </p:txBody>
      </p:sp>
      <p:sp>
        <p:nvSpPr>
          <p:cNvPr id="84" name="Text 58"/>
          <p:cNvSpPr txBox="1"/>
          <p:nvPr/>
        </p:nvSpPr>
        <p:spPr>
          <a:xfrm>
            <a:off x="8740358" y="2747010"/>
            <a:ext cx="1129937" cy="1064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screens a member uses every day: today's plan, yesterday's score, meals, exercise and measured progress, all under the physician's approved plan.</a:t>
            </a:r>
            <a:endParaRPr lang="en-US" sz="850" dirty="0"/>
          </a:p>
        </p:txBody>
      </p:sp>
      <p:pic>
        <p:nvPicPr>
          <p:cNvPr id="85" name="Image 24" descr="Member Home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917789" y="3903218"/>
            <a:ext cx="215686" cy="466767"/>
          </a:xfrm>
          <a:prstGeom prst="rect">
            <a:avLst/>
          </a:prstGeom>
        </p:spPr>
      </p:pic>
      <p:sp>
        <p:nvSpPr>
          <p:cNvPr id="86" name="Text 59"/>
          <p:cNvSpPr txBox="1"/>
          <p:nvPr/>
        </p:nvSpPr>
        <p:spPr>
          <a:xfrm>
            <a:off x="8917789" y="4388273"/>
            <a:ext cx="2156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750" dirty="0"/>
          </a:p>
        </p:txBody>
      </p:sp>
      <p:pic>
        <p:nvPicPr>
          <p:cNvPr id="87" name="Image 25" descr="Plan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197483" y="3903218"/>
            <a:ext cx="215686" cy="466767"/>
          </a:xfrm>
          <a:prstGeom prst="rect">
            <a:avLst/>
          </a:prstGeom>
        </p:spPr>
      </p:pic>
      <p:sp>
        <p:nvSpPr>
          <p:cNvPr id="88" name="Text 60"/>
          <p:cNvSpPr txBox="1"/>
          <p:nvPr/>
        </p:nvSpPr>
        <p:spPr>
          <a:xfrm>
            <a:off x="9197483" y="4388273"/>
            <a:ext cx="2156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750" dirty="0"/>
          </a:p>
        </p:txBody>
      </p:sp>
      <p:pic>
        <p:nvPicPr>
          <p:cNvPr id="89" name="Image 26" descr="Diet Plan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477177" y="3903218"/>
            <a:ext cx="215686" cy="466767"/>
          </a:xfrm>
          <a:prstGeom prst="rect">
            <a:avLst/>
          </a:prstGeom>
        </p:spPr>
      </p:pic>
      <p:sp>
        <p:nvSpPr>
          <p:cNvPr id="90" name="Text 61"/>
          <p:cNvSpPr txBox="1"/>
          <p:nvPr/>
        </p:nvSpPr>
        <p:spPr>
          <a:xfrm>
            <a:off x="9477177" y="4388273"/>
            <a:ext cx="2156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50" dirty="0"/>
          </a:p>
        </p:txBody>
      </p:sp>
      <p:pic>
        <p:nvPicPr>
          <p:cNvPr id="91" name="Image 27" descr="Log a Meal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917789" y="4552865"/>
            <a:ext cx="215686" cy="466767"/>
          </a:xfrm>
          <a:prstGeom prst="rect">
            <a:avLst/>
          </a:prstGeom>
        </p:spPr>
      </p:pic>
      <p:sp>
        <p:nvSpPr>
          <p:cNvPr id="92" name="Text 62"/>
          <p:cNvSpPr txBox="1"/>
          <p:nvPr/>
        </p:nvSpPr>
        <p:spPr>
          <a:xfrm>
            <a:off x="8917789" y="5037921"/>
            <a:ext cx="2156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750" dirty="0"/>
          </a:p>
        </p:txBody>
      </p:sp>
      <p:pic>
        <p:nvPicPr>
          <p:cNvPr id="93" name="Image 28" descr="Today's Exercise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197483" y="4552865"/>
            <a:ext cx="215686" cy="466767"/>
          </a:xfrm>
          <a:prstGeom prst="rect">
            <a:avLst/>
          </a:prstGeom>
        </p:spPr>
      </p:pic>
      <p:sp>
        <p:nvSpPr>
          <p:cNvPr id="94" name="Text 63"/>
          <p:cNvSpPr txBox="1"/>
          <p:nvPr/>
        </p:nvSpPr>
        <p:spPr>
          <a:xfrm>
            <a:off x="9197483" y="5037921"/>
            <a:ext cx="2156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750" dirty="0"/>
          </a:p>
        </p:txBody>
      </p:sp>
      <p:pic>
        <p:nvPicPr>
          <p:cNvPr id="95" name="Image 29" descr="Yesterday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477177" y="4552865"/>
            <a:ext cx="215686" cy="466767"/>
          </a:xfrm>
          <a:prstGeom prst="rect">
            <a:avLst/>
          </a:prstGeom>
        </p:spPr>
      </p:pic>
      <p:sp>
        <p:nvSpPr>
          <p:cNvPr id="96" name="Text 64"/>
          <p:cNvSpPr txBox="1"/>
          <p:nvPr/>
        </p:nvSpPr>
        <p:spPr>
          <a:xfrm>
            <a:off x="9477177" y="5037921"/>
            <a:ext cx="2156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750" dirty="0"/>
          </a:p>
        </p:txBody>
      </p:sp>
      <p:pic>
        <p:nvPicPr>
          <p:cNvPr id="97" name="Image 30" descr="Progress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917789" y="5202513"/>
            <a:ext cx="215686" cy="466767"/>
          </a:xfrm>
          <a:prstGeom prst="rect">
            <a:avLst/>
          </a:prstGeom>
        </p:spPr>
      </p:pic>
      <p:sp>
        <p:nvSpPr>
          <p:cNvPr id="98" name="Text 65"/>
          <p:cNvSpPr txBox="1"/>
          <p:nvPr/>
        </p:nvSpPr>
        <p:spPr>
          <a:xfrm>
            <a:off x="8917789" y="5687568"/>
            <a:ext cx="2156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750" dirty="0"/>
          </a:p>
        </p:txBody>
      </p:sp>
      <p:pic>
        <p:nvPicPr>
          <p:cNvPr id="99" name="Image 31" descr="History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197483" y="5202513"/>
            <a:ext cx="215686" cy="466767"/>
          </a:xfrm>
          <a:prstGeom prst="rect">
            <a:avLst/>
          </a:prstGeom>
        </p:spPr>
      </p:pic>
      <p:sp>
        <p:nvSpPr>
          <p:cNvPr id="100" name="Text 66"/>
          <p:cNvSpPr txBox="1"/>
          <p:nvPr/>
        </p:nvSpPr>
        <p:spPr>
          <a:xfrm>
            <a:off x="9197483" y="5687568"/>
            <a:ext cx="2156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750" dirty="0"/>
          </a:p>
        </p:txBody>
      </p:sp>
      <p:pic>
        <p:nvPicPr>
          <p:cNvPr id="101" name="Image 32" descr="Plan Update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477177" y="5202513"/>
            <a:ext cx="215686" cy="466767"/>
          </a:xfrm>
          <a:prstGeom prst="rect">
            <a:avLst/>
          </a:prstGeom>
        </p:spPr>
      </p:pic>
      <p:sp>
        <p:nvSpPr>
          <p:cNvPr id="102" name="Text 67"/>
          <p:cNvSpPr txBox="1"/>
          <p:nvPr/>
        </p:nvSpPr>
        <p:spPr>
          <a:xfrm>
            <a:off x="9477177" y="5687568"/>
            <a:ext cx="2156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750" dirty="0"/>
          </a:p>
        </p:txBody>
      </p:sp>
      <p:sp>
        <p:nvSpPr>
          <p:cNvPr id="103" name="Text 68"/>
          <p:cNvSpPr txBox="1"/>
          <p:nvPr/>
        </p:nvSpPr>
        <p:spPr>
          <a:xfrm>
            <a:off x="10016599" y="36576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8D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04" name="Shape 69"/>
          <p:cNvSpPr/>
          <p:nvPr/>
        </p:nvSpPr>
        <p:spPr>
          <a:xfrm>
            <a:off x="10199479" y="1938528"/>
            <a:ext cx="1422545" cy="4023360"/>
          </a:xfrm>
          <a:prstGeom prst="roundRect">
            <a:avLst>
              <a:gd name="adj" fmla="val 5142"/>
            </a:avLst>
          </a:prstGeom>
          <a:solidFill>
            <a:srgbClr val="FFFFFF"/>
          </a:solidFill>
          <a:ln w="9525">
            <a:solidFill>
              <a:srgbClr val="E7EDEA"/>
            </a:solidFill>
            <a:prstDash val="solid"/>
          </a:ln>
        </p:spPr>
      </p:sp>
      <p:sp>
        <p:nvSpPr>
          <p:cNvPr id="105" name="Text 70"/>
          <p:cNvSpPr txBox="1"/>
          <p:nvPr/>
        </p:nvSpPr>
        <p:spPr>
          <a:xfrm>
            <a:off x="10345783" y="21031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106" name="Text 71"/>
          <p:cNvSpPr txBox="1"/>
          <p:nvPr/>
        </p:nvSpPr>
        <p:spPr>
          <a:xfrm>
            <a:off x="10345783" y="2359152"/>
            <a:ext cx="1129937" cy="360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AND CONTROL</a:t>
            </a:r>
            <a:endParaRPr lang="en-US" sz="1050" dirty="0"/>
          </a:p>
        </p:txBody>
      </p:sp>
      <p:sp>
        <p:nvSpPr>
          <p:cNvPr id="107" name="Text 72"/>
          <p:cNvSpPr txBox="1"/>
          <p:nvPr/>
        </p:nvSpPr>
        <p:spPr>
          <a:xfrm>
            <a:off x="10345783" y="2747010"/>
            <a:ext cx="1129937" cy="810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patient owns the record: who sees it, for how long, who looked, and their membership, each one tap from Profile.</a:t>
            </a:r>
            <a:endParaRPr lang="en-US" sz="850" dirty="0"/>
          </a:p>
        </p:txBody>
      </p:sp>
      <p:pic>
        <p:nvPicPr>
          <p:cNvPr id="108" name="Image 33" descr="Profile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0454104" y="3648456"/>
            <a:ext cx="424643" cy="918972"/>
          </a:xfrm>
          <a:prstGeom prst="rect">
            <a:avLst/>
          </a:prstGeom>
        </p:spPr>
      </p:pic>
      <p:sp>
        <p:nvSpPr>
          <p:cNvPr id="109" name="Text 73"/>
          <p:cNvSpPr txBox="1"/>
          <p:nvPr/>
        </p:nvSpPr>
        <p:spPr>
          <a:xfrm>
            <a:off x="10454104" y="4585716"/>
            <a:ext cx="42464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750" dirty="0"/>
          </a:p>
        </p:txBody>
      </p:sp>
      <p:pic>
        <p:nvPicPr>
          <p:cNvPr id="110" name="Image 34" descr="Access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942755" y="3648456"/>
            <a:ext cx="424643" cy="918972"/>
          </a:xfrm>
          <a:prstGeom prst="rect">
            <a:avLst/>
          </a:prstGeom>
        </p:spPr>
      </p:pic>
      <p:sp>
        <p:nvSpPr>
          <p:cNvPr id="111" name="Text 74"/>
          <p:cNvSpPr txBox="1"/>
          <p:nvPr/>
        </p:nvSpPr>
        <p:spPr>
          <a:xfrm>
            <a:off x="10942755" y="4585716"/>
            <a:ext cx="42464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750" dirty="0"/>
          </a:p>
        </p:txBody>
      </p:sp>
      <p:pic>
        <p:nvPicPr>
          <p:cNvPr id="112" name="Image 35" descr="Who Has Looked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454104" y="4750308"/>
            <a:ext cx="424643" cy="918972"/>
          </a:xfrm>
          <a:prstGeom prst="rect">
            <a:avLst/>
          </a:prstGeom>
        </p:spPr>
      </p:pic>
      <p:sp>
        <p:nvSpPr>
          <p:cNvPr id="113" name="Text 75"/>
          <p:cNvSpPr txBox="1"/>
          <p:nvPr/>
        </p:nvSpPr>
        <p:spPr>
          <a:xfrm>
            <a:off x="10454104" y="5687568"/>
            <a:ext cx="42464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750" dirty="0"/>
          </a:p>
        </p:txBody>
      </p:sp>
      <p:pic>
        <p:nvPicPr>
          <p:cNvPr id="114" name="Image 36" descr="Membership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942755" y="4750308"/>
            <a:ext cx="424643" cy="918972"/>
          </a:xfrm>
          <a:prstGeom prst="rect">
            <a:avLst/>
          </a:prstGeom>
        </p:spPr>
      </p:pic>
      <p:sp>
        <p:nvSpPr>
          <p:cNvPr id="115" name="Text 76"/>
          <p:cNvSpPr txBox="1"/>
          <p:nvPr/>
        </p:nvSpPr>
        <p:spPr>
          <a:xfrm>
            <a:off x="10942755" y="5687568"/>
            <a:ext cx="42464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E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64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69264" y="2340864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 and Activate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163824"/>
            <a:ext cx="4846320" cy="698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screens from the practice's email to a record that builds itself. The patient types an email, a birthday and a code, then signs one consent.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045077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1 to 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87347" y="822960"/>
            <a:ext cx="1109363" cy="2359152"/>
          </a:xfrm>
          <a:prstGeom prst="roundRect">
            <a:avLst>
              <a:gd name="adj" fmla="val 90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9" name="Image 0" descr="Invitation Em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9535" y="849585"/>
            <a:ext cx="1064989" cy="230474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187347" y="3218688"/>
            <a:ext cx="110936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8406438" y="822960"/>
            <a:ext cx="1109363" cy="2359152"/>
          </a:xfrm>
          <a:prstGeom prst="roundRect">
            <a:avLst>
              <a:gd name="adj" fmla="val 90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2" name="Image 1" descr="Activate Your Accou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8626" y="849585"/>
            <a:ext cx="1064989" cy="230474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406438" y="3218688"/>
            <a:ext cx="110936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9625530" y="822960"/>
            <a:ext cx="1109363" cy="2359152"/>
          </a:xfrm>
          <a:prstGeom prst="roundRect">
            <a:avLst>
              <a:gd name="adj" fmla="val 90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5" name="Image 2" descr="Conse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7717" y="849585"/>
            <a:ext cx="1064989" cy="230474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625530" y="3218688"/>
            <a:ext cx="110936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7796893" y="3474720"/>
            <a:ext cx="1109363" cy="2359152"/>
          </a:xfrm>
          <a:prstGeom prst="roundRect">
            <a:avLst>
              <a:gd name="adj" fmla="val 90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8" name="Image 3" descr="Records Not Connecte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9080" y="3501345"/>
            <a:ext cx="1064989" cy="230474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796893" y="5870448"/>
            <a:ext cx="110936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0" name="Shape 14"/>
          <p:cNvSpPr/>
          <p:nvPr/>
        </p:nvSpPr>
        <p:spPr>
          <a:xfrm>
            <a:off x="9015984" y="3474720"/>
            <a:ext cx="1109363" cy="2359152"/>
          </a:xfrm>
          <a:prstGeom prst="roundRect">
            <a:avLst>
              <a:gd name="adj" fmla="val 90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1" name="Image 4" descr="Record Arrivi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8171" y="3501345"/>
            <a:ext cx="1064989" cy="230474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015984" y="5870448"/>
            <a:ext cx="110936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PATIENT MOBILE APP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8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215197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2151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  ·  INVITE AND ACTIVATE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Invitation Email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6492240" cy="486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practice sends it, not us</a:t>
            </a:r>
            <a:endParaRPr lang="en-US" sz="3100" dirty="0"/>
          </a:p>
        </p:txBody>
      </p:sp>
      <p:sp>
        <p:nvSpPr>
          <p:cNvPr id="13" name="Shape 10"/>
          <p:cNvSpPr/>
          <p:nvPr/>
        </p:nvSpPr>
        <p:spPr>
          <a:xfrm>
            <a:off x="777240" y="2351913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534793"/>
            <a:ext cx="6309360" cy="46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patient hears about Inlay from their own clinic first. The email carries a code and one button, and nothing that could be phished or forwarded into trouble.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804672" y="319559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131591"/>
            <a:ext cx="6044184" cy="3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Harborview Longevity Clinic is named in the first line, so the invitation reads as their doctor's, not a stranger's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3915334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851326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6-digit code, 731064, set on a ticket: no link to a password, no ID, no health data in the email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804672" y="4467225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403217"/>
            <a:ext cx="6044184" cy="3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Store and Google Play badges come before the code, because the app has to be installed before activation can start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8577072" y="466344"/>
            <a:ext cx="2715768" cy="5775304"/>
          </a:xfrm>
          <a:prstGeom prst="roundRect">
            <a:avLst>
              <a:gd name="adj" fmla="val 6061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2" name="Image 1" descr="Invitation Emai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387" y="531522"/>
            <a:ext cx="2607137" cy="56421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 OF 36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PATIENT MOBILE APP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8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215197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2151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  ·  INVITE AND ACTIVATE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Your Account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6492240" cy="486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fields, then you're in</a:t>
            </a:r>
            <a:endParaRPr lang="en-US" sz="3100" dirty="0"/>
          </a:p>
        </p:txBody>
      </p:sp>
      <p:sp>
        <p:nvSpPr>
          <p:cNvPr id="13" name="Shape 10"/>
          <p:cNvSpPr/>
          <p:nvPr/>
        </p:nvSpPr>
        <p:spPr>
          <a:xfrm>
            <a:off x="777240" y="2351913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534793"/>
            <a:ext cx="6309360" cy="46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 asks only what the practice already knows. Email, date of birth and the code prove identity without a form to fill in.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804672" y="319559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131591"/>
            <a:ext cx="6044184" cy="3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Email, date of birth and one-time code: three fields that match the invite to the person holding the phone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3915334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851326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"Verify code" is the only button; "Already set a password? Sign in" sits quietly at the foot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804672" y="4467225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403217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type and generous fields for a patient population that skews around sixty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8577072" y="466344"/>
            <a:ext cx="2715768" cy="5775304"/>
          </a:xfrm>
          <a:prstGeom prst="roundRect">
            <a:avLst>
              <a:gd name="adj" fmla="val 6061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2" name="Image 1" descr="Activate Your Accou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387" y="531522"/>
            <a:ext cx="2607137" cy="56421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 OF 36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PATIENT MOBILE APP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8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215197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2151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  ·  INVITE AND ACTIVATE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6492240" cy="899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consent, before anything else</a:t>
            </a:r>
            <a:endParaRPr lang="en-US" sz="3100" dirty="0"/>
          </a:p>
        </p:txBody>
      </p:sp>
      <p:sp>
        <p:nvSpPr>
          <p:cNvPr id="13" name="Shape 10"/>
          <p:cNvSpPr/>
          <p:nvPr/>
        </p:nvSpPr>
        <p:spPr>
          <a:xfrm>
            <a:off x="777240" y="2765298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948178"/>
            <a:ext cx="6309360" cy="46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is the first real screen inside the app, because it is what starts the record pull. Everything the patient needs to decide sits above one button.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804672" y="3608984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544976"/>
            <a:ext cx="6044184" cy="3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"Who sees them: you and Harborview Longevity Clinic" answers the first worry before it is asked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432871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4264711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long is a choice, not fine print: 15 days, 1 month or 3 months, each with its end date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804672" y="4880610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816602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checkboxes, authorization and terms, then "Agree and continue"; nothing else competes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8577072" y="466344"/>
            <a:ext cx="2715768" cy="5775304"/>
          </a:xfrm>
          <a:prstGeom prst="roundRect">
            <a:avLst>
              <a:gd name="adj" fmla="val 6061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2" name="Image 1" descr="Conse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387" y="531522"/>
            <a:ext cx="2607137" cy="56421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 OF 36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PATIENT MOBILE APP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8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215197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2151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  ·  INVITE AND ACTIVATE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Not Connected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6492240" cy="486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Saying no costs nothing</a:t>
            </a:r>
            <a:endParaRPr lang="en-US" sz="3100" dirty="0"/>
          </a:p>
        </p:txBody>
      </p:sp>
      <p:sp>
        <p:nvSpPr>
          <p:cNvPr id="13" name="Shape 10"/>
          <p:cNvSpPr/>
          <p:nvPr/>
        </p:nvSpPr>
        <p:spPr>
          <a:xfrm>
            <a:off x="777240" y="2351913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534793"/>
            <a:ext cx="6309360" cy="46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who skips consent still lands on a working home. The screen states plainly that nothing was collected and leaves one way back in.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804672" y="319559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131591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"Nothing has been collected" is the reassurance the cautious patient needs to come back later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3747491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683483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"Connect my records" is the single action, and the tab bar stays live around it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804672" y="4299382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235374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warnings, no nagging banner: the empty state carries the whole argument for connecting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8577072" y="466344"/>
            <a:ext cx="2715768" cy="5775304"/>
          </a:xfrm>
          <a:prstGeom prst="roundRect">
            <a:avLst>
              <a:gd name="adj" fmla="val 6061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2" name="Image 1" descr="Records Not Connect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387" y="531522"/>
            <a:ext cx="2607137" cy="56421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4 OF 36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PATIENT MOBILE APP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8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215197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2151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  ·  INVITE AND ACTIVATE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Arriving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6492240" cy="486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before it's complete</a:t>
            </a:r>
            <a:endParaRPr lang="en-US" sz="3100" dirty="0"/>
          </a:p>
        </p:txBody>
      </p:sp>
      <p:sp>
        <p:nvSpPr>
          <p:cNvPr id="13" name="Shape 10"/>
          <p:cNvSpPr/>
          <p:nvPr/>
        </p:nvSpPr>
        <p:spPr>
          <a:xfrm>
            <a:off x="777240" y="2351913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534793"/>
            <a:ext cx="6309360" cy="46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record fills in while the patient watches. Home shows what has arrived and holds a calm place for what has not.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804672" y="319559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131591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"Your record is still arriving, 2 of 3 places so far" sets honest expectations without a spinner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3747491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683483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Cardiology follow up on Oct 21 already shows, so the first visit has value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804672" y="4299382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235374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Inlay is offered at once, with "3 of 5 questions remaining" visible from the start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8577072" y="466344"/>
            <a:ext cx="2715768" cy="5775304"/>
          </a:xfrm>
          <a:prstGeom prst="roundRect">
            <a:avLst>
              <a:gd name="adj" fmla="val 6061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2" name="Image 1" descr="Record Arriv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387" y="531522"/>
            <a:ext cx="2607137" cy="56421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5 OF 36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E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64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69264" y="2340864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Free Home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163824"/>
            <a:ext cx="4846320" cy="698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free record, in one screen each morning: what needs the patient, what is moving the wrong way, and help offered only where the record gives a reason.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045077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6 to 9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0" y="2054738"/>
            <a:ext cx="1197864" cy="2547356"/>
          </a:xfrm>
          <a:prstGeom prst="roundRect">
            <a:avLst>
              <a:gd name="adj" fmla="val 90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9" name="Image 0" descr="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4757" y="2083487"/>
            <a:ext cx="1149949" cy="2488609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400800" y="4638670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7708392" y="2054738"/>
            <a:ext cx="1197864" cy="2547356"/>
          </a:xfrm>
          <a:prstGeom prst="roundRect">
            <a:avLst>
              <a:gd name="adj" fmla="val 90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2" name="Image 1" descr="New Resul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2349" y="2083487"/>
            <a:ext cx="1149949" cy="248860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708392" y="4638670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9015984" y="2054738"/>
            <a:ext cx="1197864" cy="2547356"/>
          </a:xfrm>
          <a:prstGeom prst="roundRect">
            <a:avLst>
              <a:gd name="adj" fmla="val 90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5" name="Image 2" descr="Notification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9941" y="2083487"/>
            <a:ext cx="1149949" cy="248860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15984" y="4638670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10323576" y="2054738"/>
            <a:ext cx="1197864" cy="2547356"/>
          </a:xfrm>
          <a:prstGeom prst="roundRect">
            <a:avLst>
              <a:gd name="adj" fmla="val 90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8" name="Image 3" descr="Inlay Scor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7533" y="2083487"/>
            <a:ext cx="1149949" cy="2488609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323576" y="4638670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PATIENT MOBILE APP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8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1865005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18650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  ·  THE FREE HOME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6492240" cy="486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important today</a:t>
            </a:r>
            <a:endParaRPr lang="en-US" sz="3100" dirty="0"/>
          </a:p>
        </p:txBody>
      </p:sp>
      <p:sp>
        <p:nvSpPr>
          <p:cNvPr id="13" name="Shape 10"/>
          <p:cNvSpPr/>
          <p:nvPr/>
        </p:nvSpPr>
        <p:spPr>
          <a:xfrm>
            <a:off x="777240" y="2351913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534793"/>
            <a:ext cx="6309360" cy="46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opens on what needs the patient and what is changing. Trends come first; the invitation to Optimization sits after them, beside the evidence that prompted it.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804672" y="319559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131591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"3 things need you" in muted red is the first card, so nothing urgent hides below the fold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3747491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683483"/>
            <a:ext cx="6044184" cy="3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trend tiles with dots and colour per reading: BMI 32.4, LDL 162 and triglycerides 188 above target, ferritin 46 in range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804672" y="4467225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403217"/>
            <a:ext cx="6044184" cy="3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healthier you is possible" follows the trends: help is offered where the reason for it is already on screen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8577072" y="466344"/>
            <a:ext cx="2715768" cy="5775304"/>
          </a:xfrm>
          <a:prstGeom prst="roundRect">
            <a:avLst>
              <a:gd name="adj" fmla="val 6061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2" name="Image 1" descr="Hom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387" y="531522"/>
            <a:ext cx="2607137" cy="56421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6 OF 36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PATIENT MOBILE APP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8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1865005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18650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  ·  THE FREE HOME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Results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6492240" cy="486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 goes on top</a:t>
            </a:r>
            <a:endParaRPr lang="en-US" sz="3100" dirty="0"/>
          </a:p>
        </p:txBody>
      </p:sp>
      <p:sp>
        <p:nvSpPr>
          <p:cNvPr id="13" name="Shape 10"/>
          <p:cNvSpPr/>
          <p:nvPr/>
        </p:nvSpPr>
        <p:spPr>
          <a:xfrm>
            <a:off x="777240" y="2351913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534793"/>
            <a:ext cx="6309360" cy="46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new results land, home says so before anything else. The patient learns what came in, from where and when, in one line.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804672" y="319559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131591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"New results are in: 4 results from Quest, Oct 9" leads the screen, above the attention card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3747491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683483"/>
            <a:ext cx="6044184" cy="3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trend tiles update with the news: blood pressure 134/86 and vitamin D 21 below target now appear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804672" y="4467225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403217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bell badge climbs to 6, so the change is visible even before the patient scrolls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8577072" y="466344"/>
            <a:ext cx="2715768" cy="5775304"/>
          </a:xfrm>
          <a:prstGeom prst="roundRect">
            <a:avLst>
              <a:gd name="adj" fmla="val 6061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2" name="Image 1" descr="New Resul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387" y="531522"/>
            <a:ext cx="2607137" cy="56421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7 OF 36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PATIENT MOBILE APP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8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1865005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18650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  ·  THE FREE HOME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6492240" cy="486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reminder, counted</a:t>
            </a:r>
            <a:endParaRPr lang="en-US" sz="3100" dirty="0"/>
          </a:p>
        </p:txBody>
      </p:sp>
      <p:sp>
        <p:nvSpPr>
          <p:cNvPr id="13" name="Shape 10"/>
          <p:cNvSpPr/>
          <p:nvPr/>
        </p:nvSpPr>
        <p:spPr>
          <a:xfrm>
            <a:off x="777240" y="2351913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534793"/>
            <a:ext cx="6309360" cy="46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list for everything the app has told the patient. Each item says what happened and, for reminders, how many have been sent.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804672" y="319559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131591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"Dr. Patel is checking your record" tells the patient a real physician is looking, not a system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3747491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683483"/>
            <a:ext cx="6044184" cy="3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 are numbered, "Reminder 1 of 3" and "Reminder 2 of 3", so the escalation is never a surprise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804672" y="4467225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403217"/>
            <a:ext cx="6044184" cy="3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"Your record is ready: we found records from 3 places" closes the onboarding loop in plain words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8577072" y="466344"/>
            <a:ext cx="2715768" cy="5775304"/>
          </a:xfrm>
          <a:prstGeom prst="roundRect">
            <a:avLst>
              <a:gd name="adj" fmla="val 6061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2" name="Image 1" descr="Notificatio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387" y="531522"/>
            <a:ext cx="2607137" cy="56421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8 OF 36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PATIENT MOBILE APP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78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1865005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18650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  ·  THE FREE HOME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Score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6492240" cy="486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score, not a verdict</a:t>
            </a:r>
            <a:endParaRPr lang="en-US" sz="3100" dirty="0"/>
          </a:p>
        </p:txBody>
      </p:sp>
      <p:sp>
        <p:nvSpPr>
          <p:cNvPr id="13" name="Shape 10"/>
          <p:cNvSpPr/>
          <p:nvPr/>
        </p:nvSpPr>
        <p:spPr>
          <a:xfrm>
            <a:off x="777240" y="2351913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534793"/>
            <a:ext cx="6309360" cy="46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Inlay score combines how the patient says they are doing with what the record shows. It explains itself and says what it is not.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804672" y="319559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131591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 out of 100, marked "First score", with the next check in January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3747491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683483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inputs on view: how you're doing at 3.9 of 5 from 12 answers, and 20 of 27 results in range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804672" y="4299382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235374"/>
            <a:ext cx="6044184" cy="3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"It isn't a risk score and doesn't predict any illness" sits on the page; "Ways to raise it" pairs BMI and LDL with Ask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8577072" y="466344"/>
            <a:ext cx="2715768" cy="5775304"/>
          </a:xfrm>
          <a:prstGeom prst="roundRect">
            <a:avLst>
              <a:gd name="adj" fmla="val 6061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2" name="Image 1" descr="Inlay Sco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387" y="531522"/>
            <a:ext cx="2607137" cy="56421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9 OF 36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E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64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69264" y="2340864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Record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163824"/>
            <a:ext cx="4846320" cy="698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result, medicine and source in one place. Trends instead of snapshots, and the patient confirms what the hospitals disagree on.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045077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10 to 14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87347" y="822960"/>
            <a:ext cx="1109363" cy="2359152"/>
          </a:xfrm>
          <a:prstGeom prst="roundRect">
            <a:avLst>
              <a:gd name="adj" fmla="val 90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9" name="Image 0" descr="Reco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9535" y="849585"/>
            <a:ext cx="1064989" cy="230474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187347" y="3218688"/>
            <a:ext cx="110936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8406438" y="822960"/>
            <a:ext cx="1109363" cy="2359152"/>
          </a:xfrm>
          <a:prstGeom prst="roundRect">
            <a:avLst>
              <a:gd name="adj" fmla="val 90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2" name="Image 1" descr="Resul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8626" y="849585"/>
            <a:ext cx="1064989" cy="230474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406438" y="3218688"/>
            <a:ext cx="110936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9625530" y="822960"/>
            <a:ext cx="1109363" cy="2359152"/>
          </a:xfrm>
          <a:prstGeom prst="roundRect">
            <a:avLst>
              <a:gd name="adj" fmla="val 90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5" name="Image 2" descr="Result Detai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7717" y="849585"/>
            <a:ext cx="1064989" cy="230474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625530" y="3218688"/>
            <a:ext cx="110936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7796893" y="3474720"/>
            <a:ext cx="1109363" cy="2359152"/>
          </a:xfrm>
          <a:prstGeom prst="roundRect">
            <a:avLst>
              <a:gd name="adj" fmla="val 90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8" name="Image 3" descr="Your Medicin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9080" y="3501345"/>
            <a:ext cx="1064989" cy="230474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796893" y="5870448"/>
            <a:ext cx="110936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20" name="Shape 14"/>
          <p:cNvSpPr/>
          <p:nvPr/>
        </p:nvSpPr>
        <p:spPr>
          <a:xfrm>
            <a:off x="9015984" y="3474720"/>
            <a:ext cx="1109363" cy="2359152"/>
          </a:xfrm>
          <a:prstGeom prst="roundRect">
            <a:avLst>
              <a:gd name="adj" fmla="val 90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1" name="Image 4" descr="Tell Us Somethi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8171" y="3501345"/>
            <a:ext cx="1064989" cy="230474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015984" y="5870448"/>
            <a:ext cx="110936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PATIENT MOBILE APP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8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1778317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17783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·  YOUR RECORD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6492240" cy="486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record, filtered</a:t>
            </a:r>
            <a:endParaRPr lang="en-US" sz="3100" dirty="0"/>
          </a:p>
        </p:txBody>
      </p:sp>
      <p:sp>
        <p:nvSpPr>
          <p:cNvPr id="13" name="Shape 10"/>
          <p:cNvSpPr/>
          <p:nvPr/>
        </p:nvSpPr>
        <p:spPr>
          <a:xfrm>
            <a:off x="777240" y="2351913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534793"/>
            <a:ext cx="6309360" cy="46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Record tab gathers results, medicines, conditions and visits from every source. Category pills and body system chips narrow it without a menu.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804672" y="319559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131591"/>
            <a:ext cx="6044184" cy="3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Biomarkers, Medicines, Conditions, Visits as pills; Blood sugar, Cholesterol, Heart and weight as chips beneath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3915334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851326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 shows name, big value, trend line, status and date: LDL 162, Above target, Aug 2026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804672" y="4467225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403217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"Add to your record" sits in the header, so self-reported tests and supplements have a home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8577072" y="466344"/>
            <a:ext cx="2715768" cy="5775304"/>
          </a:xfrm>
          <a:prstGeom prst="roundRect">
            <a:avLst>
              <a:gd name="adj" fmla="val 6061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2" name="Image 1" descr="Reco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387" y="531522"/>
            <a:ext cx="2607137" cy="56421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10 OF 36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PATIENT MOBILE APP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8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1778317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17783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·  YOUR RECORD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6492240" cy="486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of 27 in range</a:t>
            </a:r>
            <a:endParaRPr lang="en-US" sz="3100" dirty="0"/>
          </a:p>
        </p:txBody>
      </p:sp>
      <p:sp>
        <p:nvSpPr>
          <p:cNvPr id="13" name="Shape 10"/>
          <p:cNvSpPr/>
          <p:nvPr/>
        </p:nvSpPr>
        <p:spPr>
          <a:xfrm>
            <a:off x="777240" y="2351913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534793"/>
            <a:ext cx="6309360" cy="46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results list opens with a single sentence of where the patient stands, then groups every marker by body system.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804672" y="319559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131591"/>
            <a:ext cx="6044184" cy="3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bar splits 20 in range, 2 borderline and 5 out of range, from 86 lab results and 32 visit readings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3915334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851326"/>
            <a:ext cx="6044184" cy="3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All, To watch and In range filters plus search, for the patient who arrives with one marker in mind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804672" y="4635068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571060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Hemoglobin A1c 5.9 borderline and glucose 94 in range sit together under Blood sugar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8577072" y="466344"/>
            <a:ext cx="2715768" cy="5775304"/>
          </a:xfrm>
          <a:prstGeom prst="roundRect">
            <a:avLst>
              <a:gd name="adj" fmla="val 6061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2" name="Image 1" descr="Resul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387" y="531522"/>
            <a:ext cx="2607137" cy="56421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11 OF 36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PATIENT MOBILE APP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8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1778317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17783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·  YOUR RECORD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Detail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6492240" cy="486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Trend, never a snapshot</a:t>
            </a:r>
            <a:endParaRPr lang="en-US" sz="3100" dirty="0"/>
          </a:p>
        </p:txBody>
      </p:sp>
      <p:sp>
        <p:nvSpPr>
          <p:cNvPr id="13" name="Shape 10"/>
          <p:cNvSpPr/>
          <p:nvPr/>
        </p:nvSpPr>
        <p:spPr>
          <a:xfrm>
            <a:off x="777240" y="2351913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534793"/>
            <a:ext cx="6309360" cy="46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a result shows where it sits and how it got there. Every reading is labelled on the graph, so the patient sees the drift without tapping.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804672" y="319559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131591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"Prediabetes range" and "Trending up": 5.9%, up from 5.3 in Apr 2022, across 5 results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3747491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683483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range bar names the bands: normal below 5.7, prediabetes 5.7 to 6.4, diabetes 6.5 and up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804672" y="4299382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235374"/>
            <a:ext cx="6044184" cy="3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and dots move green to orange to red reading by reading; the assistant button sits at the foot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8577072" y="466344"/>
            <a:ext cx="2715768" cy="5775304"/>
          </a:xfrm>
          <a:prstGeom prst="roundRect">
            <a:avLst>
              <a:gd name="adj" fmla="val 6061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2" name="Image 1" descr="Result Detai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387" y="531522"/>
            <a:ext cx="2607137" cy="56421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12 OF 36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PATIENT MOBILE APP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78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1778317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17783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·  YOUR RECORD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Medicines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6492240" cy="486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dose you take</a:t>
            </a:r>
            <a:endParaRPr lang="en-US" sz="3100" dirty="0"/>
          </a:p>
        </p:txBody>
      </p:sp>
      <p:sp>
        <p:nvSpPr>
          <p:cNvPr id="13" name="Shape 10"/>
          <p:cNvSpPr/>
          <p:nvPr/>
        </p:nvSpPr>
        <p:spPr>
          <a:xfrm>
            <a:off x="777240" y="2351913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534793"/>
            <a:ext cx="6309360" cy="46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two records disagree, the patient settles it with one tap. The practice list stays the source of truth; the patient's answer goes to the physician.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804672" y="319559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131591"/>
            <a:ext cx="6044184" cy="3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Atorvastatin: 20 mg on Dr. Patel's list, Aug 12, against 10 mg from Scripps Memorial; "Records differ"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3915334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851326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"Which dose do you take?" gives both doses, "Another dose" and "I don't take it"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804672" y="4467225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403217"/>
            <a:ext cx="6044184" cy="3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date medicines sit below, including Vitamin D3 2,000 IU, "told by you", so self-reported items stay labelled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8577072" y="466344"/>
            <a:ext cx="2715768" cy="5775304"/>
          </a:xfrm>
          <a:prstGeom prst="roundRect">
            <a:avLst>
              <a:gd name="adj" fmla="val 6061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2" name="Image 1" descr="Your Medici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387" y="531522"/>
            <a:ext cx="2607137" cy="56421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13 OF 36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PATIENT MOBILE APP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8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1778317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17783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·  YOUR RECORD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Us Something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6492240" cy="486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care we can't see</a:t>
            </a:r>
            <a:endParaRPr lang="en-US" sz="3100" dirty="0"/>
          </a:p>
        </p:txBody>
      </p:sp>
      <p:sp>
        <p:nvSpPr>
          <p:cNvPr id="13" name="Shape 10"/>
          <p:cNvSpPr/>
          <p:nvPr/>
        </p:nvSpPr>
        <p:spPr>
          <a:xfrm>
            <a:off x="777240" y="2351913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534793"/>
            <a:ext cx="6309360" cy="46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care never reaches an EHR: a supplement, a trip abroad, a test elsewhere. The patient adds it in their own words, starting from four plain choices.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804672" y="319559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131591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options: a medicine or supplement, a stopped medicine, another doctor, a test elsewhere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3747491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683483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"Add to my record" stays disabled until a choice is made, so nothing half-filled is saved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804672" y="4299382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235374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as the patient talks, "I saw another doctor", not as a clinical category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8577072" y="466344"/>
            <a:ext cx="2715768" cy="5775304"/>
          </a:xfrm>
          <a:prstGeom prst="roundRect">
            <a:avLst>
              <a:gd name="adj" fmla="val 6061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2" name="Image 1" descr="Tell Us Someth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387" y="531522"/>
            <a:ext cx="2607137" cy="56421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14 OF 36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E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64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69264" y="2340864"/>
            <a:ext cx="512064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Do and Care Gaps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681984"/>
            <a:ext cx="4846320" cy="698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the doctor placed and the patient never finished. The app tracks each one from ordered to done, and Inlay can arrange the next step.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563237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15 to 18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0" y="2054738"/>
            <a:ext cx="1197864" cy="2547356"/>
          </a:xfrm>
          <a:prstGeom prst="roundRect">
            <a:avLst>
              <a:gd name="adj" fmla="val 90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9" name="Image 0" descr="To 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4757" y="2083487"/>
            <a:ext cx="1149949" cy="2488609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400800" y="4638670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7708392" y="2054738"/>
            <a:ext cx="1197864" cy="2547356"/>
          </a:xfrm>
          <a:prstGeom prst="roundRect">
            <a:avLst>
              <a:gd name="adj" fmla="val 90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2" name="Image 1" descr="Care Ga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2349" y="2083487"/>
            <a:ext cx="1149949" cy="248860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708392" y="4638670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9015984" y="2054738"/>
            <a:ext cx="1197864" cy="2547356"/>
          </a:xfrm>
          <a:prstGeom prst="roundRect">
            <a:avLst>
              <a:gd name="adj" fmla="val 90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5" name="Image 2" descr="Order Track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9941" y="2083487"/>
            <a:ext cx="1149949" cy="248860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15984" y="4638670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10323576" y="2054738"/>
            <a:ext cx="1197864" cy="2547356"/>
          </a:xfrm>
          <a:prstGeom prst="roundRect">
            <a:avLst>
              <a:gd name="adj" fmla="val 90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8" name="Image 3" descr="Book Your Blood Tes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7533" y="2083487"/>
            <a:ext cx="1149949" cy="2488609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323576" y="4638670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PATIENT MOBILE APP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78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2253965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22539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·  TO DO AND CARE GAPS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Do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6492240" cy="486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overdue, first</a:t>
            </a:r>
            <a:endParaRPr lang="en-US" sz="3100" dirty="0"/>
          </a:p>
        </p:txBody>
      </p:sp>
      <p:sp>
        <p:nvSpPr>
          <p:cNvPr id="13" name="Shape 10"/>
          <p:cNvSpPr/>
          <p:nvPr/>
        </p:nvSpPr>
        <p:spPr>
          <a:xfrm>
            <a:off x="777240" y="2351913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534793"/>
            <a:ext cx="6309360" cy="46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list of everything the patient owes their own care. Overdue items lead, each with the single action that closes it.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804672" y="319559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131591"/>
            <a:ext cx="6044184" cy="3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(8), Overdue (2), Upcoming (4) and Completed; "2 overdue" flagged in red beside the heading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3915334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851326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your mammogram, due Apr 4, carries a Book button; the follow up visit carries Call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804672" y="4467225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403217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"Record review by Dr. Patel, Dec 8, no visit needed" shows the physician's part on the same list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8577072" y="466344"/>
            <a:ext cx="2715768" cy="5775304"/>
          </a:xfrm>
          <a:prstGeom prst="roundRect">
            <a:avLst>
              <a:gd name="adj" fmla="val 6061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2" name="Image 1" descr="To 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387" y="531522"/>
            <a:ext cx="2607137" cy="56421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15 OF 36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PATIENT MOBILE APP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78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2253965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22539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·  TO DO AND CARE GAPS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 Gap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6492240" cy="486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Ordered, never done</a:t>
            </a:r>
            <a:endParaRPr lang="en-US" sz="3100" dirty="0"/>
          </a:p>
        </p:txBody>
      </p:sp>
      <p:sp>
        <p:nvSpPr>
          <p:cNvPr id="13" name="Shape 10"/>
          <p:cNvSpPr/>
          <p:nvPr/>
        </p:nvSpPr>
        <p:spPr>
          <a:xfrm>
            <a:off x="777240" y="2351913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534793"/>
            <a:ext cx="6309360" cy="46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record knows a test was ordered and no result came back. The screen says so plainly and makes the next step easy, whoever the patient chooses to book with.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804672" y="319559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131591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"Dr. Patel ordered it on Mar 4, 2026. No result has reached your record." Reminder 3 of 3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3747491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683483"/>
            <a:ext cx="6044184" cy="3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practice's own number comes first, then "I booked it", then a partner Inlay can arrange, from $120 with a Mon, Oct 12 opening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804672" y="4467225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403217"/>
            <a:ext cx="6044184" cy="3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reminders ticked, then "Dr. Patel's team will reach out": the physician, not a sales prompt, is the escalation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8577072" y="466344"/>
            <a:ext cx="2715768" cy="5775304"/>
          </a:xfrm>
          <a:prstGeom prst="roundRect">
            <a:avLst>
              <a:gd name="adj" fmla="val 6061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2" name="Image 1" descr="Care Ga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387" y="531522"/>
            <a:ext cx="2607137" cy="56421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16 OF 36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PATIENT MOBILE APP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78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2253965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22539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·  TO DO AND CARE GAPS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Tracking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6492240" cy="486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Ordered, scheduled, done</a:t>
            </a:r>
            <a:endParaRPr lang="en-US" sz="3100" dirty="0"/>
          </a:p>
        </p:txBody>
      </p:sp>
      <p:sp>
        <p:nvSpPr>
          <p:cNvPr id="13" name="Shape 10"/>
          <p:cNvSpPr/>
          <p:nvPr/>
        </p:nvSpPr>
        <p:spPr>
          <a:xfrm>
            <a:off x="777240" y="2351913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534793"/>
            <a:ext cx="6309360" cy="46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order carries three dates. The patient sees which one is missing and what to do about it.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804672" y="319559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131591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Ordered Aug 12 ticked; Scheduled and Done read "Not yet", due by Nov 12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3747491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683483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Preparation is on the order itself: fast for 10 to 12 hours, water is fine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804672" y="4299382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235374"/>
            <a:ext cx="6044184" cy="3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partner lab with a first opening tomorrow sits beside the clinic's own number, as a way to get it done, not a deal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8577072" y="466344"/>
            <a:ext cx="2715768" cy="5775304"/>
          </a:xfrm>
          <a:prstGeom prst="roundRect">
            <a:avLst>
              <a:gd name="adj" fmla="val 6061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2" name="Image 1" descr="Order Track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387" y="531522"/>
            <a:ext cx="2607137" cy="56421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17 OF 36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PATIENT MOBILE APP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78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2253965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22539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·  TO DO AND CARE GAPS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Your Blood Test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6492240" cy="486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Inlay arrange it</a:t>
            </a:r>
            <a:endParaRPr lang="en-US" sz="3100" dirty="0"/>
          </a:p>
        </p:txBody>
      </p:sp>
      <p:sp>
        <p:nvSpPr>
          <p:cNvPr id="13" name="Shape 10"/>
          <p:cNvSpPr/>
          <p:nvPr/>
        </p:nvSpPr>
        <p:spPr>
          <a:xfrm>
            <a:off x="777240" y="2351913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534793"/>
            <a:ext cx="6309360" cy="46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physician already wrote the order; Inlay only finds a time. The patient picks a lab, confirms once, and the result comes back into the record.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804672" y="319559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131591"/>
            <a:ext cx="6044184" cy="3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 Diagnostics, Del Mar, first opening tomorrow; Labcorp, Solana Beach, Mon, Oct 12. Prices are placeholders until supplier terms are signed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3915334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851326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fasting note repeats at the top, at the moment the patient is choosing a time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804672" y="4467225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403217"/>
            <a:ext cx="6044184" cy="3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confirm with the card on file. The order then appears in the patient's care list and closes the loop when the result lands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8577072" y="466344"/>
            <a:ext cx="2715768" cy="5775304"/>
          </a:xfrm>
          <a:prstGeom prst="roundRect">
            <a:avLst>
              <a:gd name="adj" fmla="val 6061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2" name="Image 1" descr="Book Your Blood Te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387" y="531522"/>
            <a:ext cx="2607137" cy="56421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18 OF 36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3E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64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69264" y="2340864"/>
            <a:ext cx="512064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Inlay and Optimization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681984"/>
            <a:ext cx="4846320" cy="698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assistant answers from the patient's own record, five questions a month on the free record. Optimization is built from that record too, and the physician approves it.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563237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19 to 23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87347" y="822960"/>
            <a:ext cx="1109363" cy="2359152"/>
          </a:xfrm>
          <a:prstGeom prst="roundRect">
            <a:avLst>
              <a:gd name="adj" fmla="val 90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9" name="Image 0" descr="Ask Inla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9535" y="849585"/>
            <a:ext cx="1064989" cy="230474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187347" y="3218688"/>
            <a:ext cx="110936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8406438" y="822960"/>
            <a:ext cx="1109363" cy="2359152"/>
          </a:xfrm>
          <a:prstGeom prst="roundRect">
            <a:avLst>
              <a:gd name="adj" fmla="val 90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2" name="Image 1" descr="Questions Used 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8626" y="849585"/>
            <a:ext cx="1064989" cy="230474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406438" y="3218688"/>
            <a:ext cx="110936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9625530" y="822960"/>
            <a:ext cx="1109363" cy="2359152"/>
          </a:xfrm>
          <a:prstGeom prst="roundRect">
            <a:avLst>
              <a:gd name="adj" fmla="val 90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5" name="Image 2" descr="A Plan Built Around You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7717" y="849585"/>
            <a:ext cx="1064989" cy="230474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625530" y="3218688"/>
            <a:ext cx="110936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7796893" y="3474720"/>
            <a:ext cx="1109363" cy="2359152"/>
          </a:xfrm>
          <a:prstGeom prst="roundRect">
            <a:avLst>
              <a:gd name="adj" fmla="val 90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8" name="Image 3" descr="Finish Setting U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9080" y="3501345"/>
            <a:ext cx="1064989" cy="230474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796893" y="5870448"/>
            <a:ext cx="110936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00" dirty="0"/>
          </a:p>
        </p:txBody>
      </p:sp>
      <p:sp>
        <p:nvSpPr>
          <p:cNvPr id="20" name="Shape 14"/>
          <p:cNvSpPr/>
          <p:nvPr/>
        </p:nvSpPr>
        <p:spPr>
          <a:xfrm>
            <a:off x="9015984" y="3474720"/>
            <a:ext cx="1109363" cy="2359152"/>
          </a:xfrm>
          <a:prstGeom prst="roundRect">
            <a:avLst>
              <a:gd name="adj" fmla="val 90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1" name="Image 4" descr="Plan With the Docto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8171" y="3501345"/>
            <a:ext cx="1064989" cy="230474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015984" y="5870448"/>
            <a:ext cx="110936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PATIENT MOBILE APP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78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2620052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26200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ASK INLAY AND OPTIMIZATION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Inlay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6492240" cy="486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health, in context</a:t>
            </a:r>
            <a:endParaRPr lang="en-US" sz="3100" dirty="0"/>
          </a:p>
        </p:txBody>
      </p:sp>
      <p:sp>
        <p:nvSpPr>
          <p:cNvPr id="13" name="Shape 10"/>
          <p:cNvSpPr/>
          <p:nvPr/>
        </p:nvSpPr>
        <p:spPr>
          <a:xfrm>
            <a:off x="777240" y="2351913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534793"/>
            <a:ext cx="6309360" cy="46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Inlay answers questions about the patient's own results, medicines and visits. Four starters help the patient who does not know what to ask.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804672" y="319559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131591"/>
            <a:ext cx="6044184" cy="3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one of my results, prepare for my next visit, a medicine question, something is bothering me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3915334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851326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"3 of 5 questions remaining" sits on the composer itself, not on a separate credit page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804672" y="4467225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403217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"Inlay provides general information, not medical advice" is always under the input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8577072" y="466344"/>
            <a:ext cx="2715768" cy="5775304"/>
          </a:xfrm>
          <a:prstGeom prst="roundRect">
            <a:avLst>
              <a:gd name="adj" fmla="val 6061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2" name="Image 1" descr="Ask Inla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387" y="531522"/>
            <a:ext cx="2607137" cy="56421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19 OF 36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PATIENT MOBILE APP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8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2620052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26200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ASK INLAY AND OPTIMIZATION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Used Up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6492240" cy="486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limit is a date, not a wall</a:t>
            </a:r>
            <a:endParaRPr lang="en-US" sz="3100" dirty="0"/>
          </a:p>
        </p:txBody>
      </p:sp>
      <p:sp>
        <p:nvSpPr>
          <p:cNvPr id="13" name="Shape 10"/>
          <p:cNvSpPr/>
          <p:nvPr/>
        </p:nvSpPr>
        <p:spPr>
          <a:xfrm>
            <a:off x="777240" y="2351913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534793"/>
            <a:ext cx="6309360" cy="46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free questions run out, the strip names the day they return. Optimization is mentioned as a way to get more help, never as a wall.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804672" y="319559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131591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 questions left until Mon, Oct 12": the patient knows exactly when to come back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3747491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683483"/>
            <a:ext cx="6044184" cy="3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appears in the strip and the banner. The banner still reads "unlimited AI"; the agreed wording is increased access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804672" y="4467225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403217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starters stay on screen, so the record is still readable without a question to spend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8577072" y="466344"/>
            <a:ext cx="2715768" cy="5775304"/>
          </a:xfrm>
          <a:prstGeom prst="roundRect">
            <a:avLst>
              <a:gd name="adj" fmla="val 6061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2" name="Image 1" descr="Questions Used 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387" y="531522"/>
            <a:ext cx="2607137" cy="56421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20 OF 36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PATIENT MOBILE APP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78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2620052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26200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ASK INLAY AND OPTIMIZATION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Plan Built Around You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6492240" cy="899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case is the patient's own record</a:t>
            </a:r>
            <a:endParaRPr lang="en-US" sz="3100" dirty="0"/>
          </a:p>
        </p:txBody>
      </p:sp>
      <p:sp>
        <p:nvSpPr>
          <p:cNvPr id="13" name="Shape 10"/>
          <p:cNvSpPr/>
          <p:nvPr/>
        </p:nvSpPr>
        <p:spPr>
          <a:xfrm>
            <a:off x="777240" y="2765298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948178"/>
            <a:ext cx="6309360" cy="46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Optimization page leads with the patient's numbers, not a feature list. It says what the record shows and what a plan could help with, and lets the patient decide.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804672" y="3608984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544976"/>
            <a:ext cx="6044184" cy="3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"Your record shows 3 areas worth working on": BMI 32.4 up 2.2, LDL 162 up 34, triglycerides 188 up 38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432871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4264711"/>
            <a:ext cx="6044184" cy="3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area is dated from when it started rising, so the patient sees years of drift, not one bad test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804672" y="5048453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984445"/>
            <a:ext cx="6044184" cy="3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membership adds follows the evidence; "Build my personalized plan" is the one action. The "Premium" pill should read Optimization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8577072" y="466344"/>
            <a:ext cx="2715768" cy="5775304"/>
          </a:xfrm>
          <a:prstGeom prst="roundRect">
            <a:avLst>
              <a:gd name="adj" fmla="val 6061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2" name="Image 1" descr="A Plan Built Around You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387" y="531522"/>
            <a:ext cx="2607137" cy="56421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21 OF 36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PATIENT MOBILE APP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78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2620052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26200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ASK INLAY AND OPTIMIZATION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Setting Up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6492240" cy="486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step, then the doctor</a:t>
            </a:r>
            <a:endParaRPr lang="en-US" sz="3100" dirty="0"/>
          </a:p>
        </p:txBody>
      </p:sp>
      <p:sp>
        <p:nvSpPr>
          <p:cNvPr id="13" name="Shape 10"/>
          <p:cNvSpPr/>
          <p:nvPr/>
        </p:nvSpPr>
        <p:spPr>
          <a:xfrm>
            <a:off x="777240" y="2351913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534793"/>
            <a:ext cx="6309360" cy="46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joining, home asks for the one thing the record cannot supply. The rest of the free home stays exactly where it was.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804672" y="319559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131591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"Finish setting up your plan, Step 1 of 1: Tell us more about you" with a single Continue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3747491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683483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Upgrade tab becomes Plan, so the patient's status shows in the tab bar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804672" y="4299382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235374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Trends and "3 things need you" stay below, so joining never hides the record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8577072" y="466344"/>
            <a:ext cx="2715768" cy="5775304"/>
          </a:xfrm>
          <a:prstGeom prst="roundRect">
            <a:avLst>
              <a:gd name="adj" fmla="val 6061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2" name="Image 1" descr="Finish Setting 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387" y="531522"/>
            <a:ext cx="2607137" cy="56421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22 OF 36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PATIENT MOBILE APP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78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2620052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26200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ASK INLAY AND OPTIMIZATION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With the Doctor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6492240" cy="899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starts before the physician</a:t>
            </a:r>
            <a:endParaRPr lang="en-US" sz="3100" dirty="0"/>
          </a:p>
        </p:txBody>
      </p:sp>
      <p:sp>
        <p:nvSpPr>
          <p:cNvPr id="13" name="Shape 10"/>
          <p:cNvSpPr/>
          <p:nvPr/>
        </p:nvSpPr>
        <p:spPr>
          <a:xfrm>
            <a:off x="777240" y="2765298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948178"/>
            <a:ext cx="6309360" cy="46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is drafted, then held for the patient's own physician. Membership only begins once it is approved, and the wait is put to use.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804672" y="3608984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544976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"Your plan is with Dr. Patel. It starts once it's approved. Billing starts then too."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4160876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4096868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you wait: blood panel Mon, Oct 12 and DEXA Tue, Oct 13 already arranged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804672" y="4712767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648759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"Try logging a meal" and "Ask about your plan" turn the wait into practice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8577072" y="466344"/>
            <a:ext cx="2715768" cy="5775304"/>
          </a:xfrm>
          <a:prstGeom prst="roundRect">
            <a:avLst>
              <a:gd name="adj" fmla="val 6061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2" name="Image 1" descr="Plan With the Doct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387" y="531522"/>
            <a:ext cx="2607137" cy="56421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23 OF 36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3E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64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69264" y="2340864"/>
            <a:ext cx="512064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Member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681984"/>
            <a:ext cx="4846320" cy="698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screens a member uses every day: today's plan, yesterday's score, meals, exercise and measured progress, all under the physician's approved plan.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563237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24 to 32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0" y="1190896"/>
            <a:ext cx="936346" cy="1991216"/>
          </a:xfrm>
          <a:prstGeom prst="roundRect">
            <a:avLst>
              <a:gd name="adj" fmla="val 90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9" name="Image 0" descr="Member 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9527" y="1213368"/>
            <a:ext cx="898892" cy="194529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400800" y="3218688"/>
            <a:ext cx="9363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7446874" y="1190896"/>
            <a:ext cx="936346" cy="1991216"/>
          </a:xfrm>
          <a:prstGeom prst="roundRect">
            <a:avLst>
              <a:gd name="adj" fmla="val 90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2" name="Image 1" descr="Pl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601" y="1213368"/>
            <a:ext cx="898892" cy="194529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46874" y="3218688"/>
            <a:ext cx="9363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8492947" y="1190896"/>
            <a:ext cx="936346" cy="1991216"/>
          </a:xfrm>
          <a:prstGeom prst="roundRect">
            <a:avLst>
              <a:gd name="adj" fmla="val 90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5" name="Image 2" descr="Diet Pla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674" y="1213368"/>
            <a:ext cx="898892" cy="194529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92947" y="3218688"/>
            <a:ext cx="9363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9539021" y="1190896"/>
            <a:ext cx="936346" cy="1991216"/>
          </a:xfrm>
          <a:prstGeom prst="roundRect">
            <a:avLst>
              <a:gd name="adj" fmla="val 90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8" name="Image 3" descr="Log a Me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7748" y="1213368"/>
            <a:ext cx="898892" cy="194529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539021" y="3218688"/>
            <a:ext cx="9363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800" dirty="0"/>
          </a:p>
        </p:txBody>
      </p:sp>
      <p:sp>
        <p:nvSpPr>
          <p:cNvPr id="20" name="Shape 14"/>
          <p:cNvSpPr/>
          <p:nvPr/>
        </p:nvSpPr>
        <p:spPr>
          <a:xfrm>
            <a:off x="10585094" y="1190896"/>
            <a:ext cx="936346" cy="1991216"/>
          </a:xfrm>
          <a:prstGeom prst="roundRect">
            <a:avLst>
              <a:gd name="adj" fmla="val 90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1" name="Image 4" descr="Today's Exercis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3821" y="1213368"/>
            <a:ext cx="898892" cy="194529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585094" y="3218688"/>
            <a:ext cx="9363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800" dirty="0"/>
          </a:p>
        </p:txBody>
      </p:sp>
      <p:sp>
        <p:nvSpPr>
          <p:cNvPr id="23" name="Shape 16"/>
          <p:cNvSpPr/>
          <p:nvPr/>
        </p:nvSpPr>
        <p:spPr>
          <a:xfrm>
            <a:off x="6923837" y="3474720"/>
            <a:ext cx="936346" cy="1991216"/>
          </a:xfrm>
          <a:prstGeom prst="roundRect">
            <a:avLst>
              <a:gd name="adj" fmla="val 90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4" name="Image 5" descr="Yesterda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2564" y="3497192"/>
            <a:ext cx="898892" cy="1945294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923837" y="5502512"/>
            <a:ext cx="9363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800" dirty="0"/>
          </a:p>
        </p:txBody>
      </p:sp>
      <p:sp>
        <p:nvSpPr>
          <p:cNvPr id="26" name="Shape 18"/>
          <p:cNvSpPr/>
          <p:nvPr/>
        </p:nvSpPr>
        <p:spPr>
          <a:xfrm>
            <a:off x="7969910" y="3474720"/>
            <a:ext cx="936346" cy="1991216"/>
          </a:xfrm>
          <a:prstGeom prst="roundRect">
            <a:avLst>
              <a:gd name="adj" fmla="val 90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7" name="Image 6" descr="Progres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8637" y="3497192"/>
            <a:ext cx="898892" cy="1945294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7969910" y="5502512"/>
            <a:ext cx="9363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00" dirty="0"/>
          </a:p>
        </p:txBody>
      </p:sp>
      <p:sp>
        <p:nvSpPr>
          <p:cNvPr id="29" name="Shape 20"/>
          <p:cNvSpPr/>
          <p:nvPr/>
        </p:nvSpPr>
        <p:spPr>
          <a:xfrm>
            <a:off x="9015984" y="3474720"/>
            <a:ext cx="936346" cy="1991216"/>
          </a:xfrm>
          <a:prstGeom prst="roundRect">
            <a:avLst>
              <a:gd name="adj" fmla="val 90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30" name="Image 7" descr="History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34711" y="3497192"/>
            <a:ext cx="898892" cy="1945294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9015984" y="5502512"/>
            <a:ext cx="9363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800" dirty="0"/>
          </a:p>
        </p:txBody>
      </p:sp>
      <p:sp>
        <p:nvSpPr>
          <p:cNvPr id="32" name="Shape 22"/>
          <p:cNvSpPr/>
          <p:nvPr/>
        </p:nvSpPr>
        <p:spPr>
          <a:xfrm>
            <a:off x="10062058" y="3474720"/>
            <a:ext cx="936346" cy="1991216"/>
          </a:xfrm>
          <a:prstGeom prst="roundRect">
            <a:avLst>
              <a:gd name="adj" fmla="val 90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33" name="Image 8" descr="Plan Updat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80785" y="3497192"/>
            <a:ext cx="898892" cy="1945294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10062058" y="5502512"/>
            <a:ext cx="9363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PATIENT MOBILE APP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78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225735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225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06  ·  OPTIMIZATION MEMBER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Home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6492240" cy="486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Today, then yesterday</a:t>
            </a:r>
            <a:endParaRPr lang="en-US" sz="3100" dirty="0"/>
          </a:p>
        </p:txBody>
      </p:sp>
      <p:sp>
        <p:nvSpPr>
          <p:cNvPr id="13" name="Shape 10"/>
          <p:cNvSpPr/>
          <p:nvPr/>
        </p:nvSpPr>
        <p:spPr>
          <a:xfrm>
            <a:off x="777240" y="2351913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534793"/>
            <a:ext cx="6309360" cy="46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member home is a daily plan. Today's tasks lead, yesterday's score follows, and the physician's approval sits above both.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804672" y="319559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131591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"Version 2, approved by Dr. Patel on Sep 12" heads the screen; Today shows 0 of 4 done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3747491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683483"/>
            <a:ext cx="6044184" cy="3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tiles: 20 min exercise, 1,700 kcal diet plan, Lunch log a meal; today's focus is fiber at lunch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804672" y="4467225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403217"/>
            <a:ext cx="6044184" cy="3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Yesterday at 85%: "Fiber was 8 g short", about 370 kcal under what was burned, marked Estimated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8577072" y="466344"/>
            <a:ext cx="2715768" cy="5775304"/>
          </a:xfrm>
          <a:prstGeom prst="roundRect">
            <a:avLst>
              <a:gd name="adj" fmla="val 6061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2" name="Image 1" descr="Member Hom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387" y="531522"/>
            <a:ext cx="2607137" cy="56421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24 OF 36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PATIENT MOBILE APP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78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225735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225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06  ·  OPTIMIZATION MEMBER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6492240" cy="486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goals, one plan</a:t>
            </a:r>
            <a:endParaRPr lang="en-US" sz="3100" dirty="0"/>
          </a:p>
        </p:txBody>
      </p:sp>
      <p:sp>
        <p:nvSpPr>
          <p:cNvPr id="13" name="Shape 10"/>
          <p:cNvSpPr/>
          <p:nvPr/>
        </p:nvSpPr>
        <p:spPr>
          <a:xfrm>
            <a:off x="777240" y="2351913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534793"/>
            <a:ext cx="6309360" cy="46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plan covers several goals at once. Each goal shows its target, the latest number and when it is next measured.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804672" y="319559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131591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plan, version 2, Active: approved by Dr. Maya Patel, Sep 12, next review in December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3747491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683483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sugar A1c below 5.7, latest 5.9%; weight 175 lb, now 177.6 lb; LDL below 100, latest 162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804672" y="4299382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235374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targets in plain rows: up to 1,700 kcal, at least 110 g protein, at least 28 g fiber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8577072" y="466344"/>
            <a:ext cx="2715768" cy="5775304"/>
          </a:xfrm>
          <a:prstGeom prst="roundRect">
            <a:avLst>
              <a:gd name="adj" fmla="val 6061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2" name="Image 1" descr="Pl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387" y="531522"/>
            <a:ext cx="2607137" cy="56421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25 OF 36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PATIENT MOBILE APP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8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225735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225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06  ·  OPTIMIZATION MEMBER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Diet Plan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6492240" cy="486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Targets, and what's left</a:t>
            </a:r>
            <a:endParaRPr lang="en-US" sz="3100" dirty="0"/>
          </a:p>
        </p:txBody>
      </p:sp>
      <p:sp>
        <p:nvSpPr>
          <p:cNvPr id="13" name="Shape 10"/>
          <p:cNvSpPr/>
          <p:nvPr/>
        </p:nvSpPr>
        <p:spPr>
          <a:xfrm>
            <a:off x="777240" y="2351913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534793"/>
            <a:ext cx="6309360" cy="46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diet screen answers one question through the day: how much room is left. Every target shows progress against its limit.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804672" y="319559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131591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352 of 1,700 kcal so far, 1,348 left; protein 18 of 110 g, 92 g to go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3747491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683483"/>
            <a:ext cx="6044184" cy="3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sugar and sodium read as limits, fiber and protein as goals, so direction is never ambiguous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804672" y="4467225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403217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"Today's focus: fiber at lunch. Beans, berries or oats close most of the gap."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8577072" y="466344"/>
            <a:ext cx="2715768" cy="5775304"/>
          </a:xfrm>
          <a:prstGeom prst="roundRect">
            <a:avLst>
              <a:gd name="adj" fmla="val 6061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2" name="Image 1" descr="Diet Pl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387" y="531522"/>
            <a:ext cx="2607137" cy="56421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26 OF 36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PATIENT MOBILE APP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78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225735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225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06  ·  OPTIMIZATION MEMBER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a Meal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6492240" cy="486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Photo, voice or type</a:t>
            </a:r>
            <a:endParaRPr lang="en-US" sz="3100" dirty="0"/>
          </a:p>
        </p:txBody>
      </p:sp>
      <p:sp>
        <p:nvSpPr>
          <p:cNvPr id="13" name="Shape 10"/>
          <p:cNvSpPr/>
          <p:nvPr/>
        </p:nvSpPr>
        <p:spPr>
          <a:xfrm>
            <a:off x="777240" y="2351913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534793"/>
            <a:ext cx="6309360" cy="46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 has to take seconds or it stops. Three ways in, and yesterday's meals one tap away.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804672" y="319559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131591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a photo, Say it, Type it: one row each, no form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3747491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683483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Breakfast, Lunch, Snack, Dinner pills preselect the meal by time of day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804672" y="4299382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235374"/>
            <a:ext cx="6044184" cy="3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again: scrambled eggs at 352 kcal, 18 g protein, and a turkey sandwich at 475 kcal, each with Add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8577072" y="466344"/>
            <a:ext cx="2715768" cy="5775304"/>
          </a:xfrm>
          <a:prstGeom prst="roundRect">
            <a:avLst>
              <a:gd name="adj" fmla="val 6061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2" name="Image 1" descr="Log a Me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387" y="531522"/>
            <a:ext cx="2607137" cy="56421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27 OF 36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PATIENT MOBILE APP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78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225735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225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06  ·  OPTIMIZATION MEMBER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Exercise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6492240" cy="486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moves, twenty minutes</a:t>
            </a:r>
            <a:endParaRPr lang="en-US" sz="3100" dirty="0"/>
          </a:p>
        </p:txBody>
      </p:sp>
      <p:sp>
        <p:nvSpPr>
          <p:cNvPr id="13" name="Shape 10"/>
          <p:cNvSpPr/>
          <p:nvPr/>
        </p:nvSpPr>
        <p:spPr>
          <a:xfrm>
            <a:off x="777240" y="2351913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534793"/>
            <a:ext cx="6309360" cy="46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workout is specific enough to follow without a coach. Effort is described in words a patient can feel.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804672" y="319559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131591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A: lower body and core, 5 moves, about 20 minutes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3747491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683483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"Effort about 6 of 10. You can talk, but not sing." explains intensity without a heart rate monitor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804672" y="4299382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235374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workout, or "I did something else", so a different activity still counts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8577072" y="466344"/>
            <a:ext cx="2715768" cy="5775304"/>
          </a:xfrm>
          <a:prstGeom prst="roundRect">
            <a:avLst>
              <a:gd name="adj" fmla="val 6061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2" name="Image 1" descr="Today's Exerci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387" y="531522"/>
            <a:ext cx="2607137" cy="56421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28 OF 36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PATIENT MOBILE APP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78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225735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225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06  ·  OPTIMIZATION MEMBER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6492240" cy="486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did I do?</a:t>
            </a:r>
            <a:endParaRPr lang="en-US" sz="3100" dirty="0"/>
          </a:p>
        </p:txBody>
      </p:sp>
      <p:sp>
        <p:nvSpPr>
          <p:cNvPr id="13" name="Shape 10"/>
          <p:cNvSpPr/>
          <p:nvPr/>
        </p:nvSpPr>
        <p:spPr>
          <a:xfrm>
            <a:off x="777240" y="2351913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534793"/>
            <a:ext cx="6309360" cy="46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score for the day, then each goal against its target. The miss is named, not hidden in an average.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804672" y="319559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131591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of goals, 2 of 5 met, Thu, Oct 8; "Fiber was 8 g short" is the headline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3747491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683483"/>
            <a:ext cx="6044184" cy="3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Calories 1,590 of 1,700 and sodium 1,990 of 2,300 met; added sugar 29 of 25 g, 4 g over in orange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804672" y="4467225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403217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closes the day: about 1,960 kcal burned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8577072" y="466344"/>
            <a:ext cx="2715768" cy="5775304"/>
          </a:xfrm>
          <a:prstGeom prst="roundRect">
            <a:avLst>
              <a:gd name="adj" fmla="val 6061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2" name="Image 1" descr="Yesterda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387" y="531522"/>
            <a:ext cx="2607137" cy="56421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29 OF 36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PATIENT MOBILE APP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78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225735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225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06  ·  OPTIMIZATION MEMBER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6492240" cy="486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23, measured</a:t>
            </a:r>
            <a:endParaRPr lang="en-US" sz="3100" dirty="0"/>
          </a:p>
        </p:txBody>
      </p:sp>
      <p:sp>
        <p:nvSpPr>
          <p:cNvPr id="13" name="Shape 10"/>
          <p:cNvSpPr/>
          <p:nvPr/>
        </p:nvSpPr>
        <p:spPr>
          <a:xfrm>
            <a:off x="777240" y="2351913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534793"/>
            <a:ext cx="6309360" cy="46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is measured by scans and weigh-ins, not by feeling. The forecast is shown, and labelled as one.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804672" y="319559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131591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lb of body fat lost since May, from DEXA scans on May 5 and Sep 22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3747491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683483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177.6 lb, 11.4 lb down since May 3, with the goal of 175 lb drawn on the chart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804672" y="4299382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235374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may reach 175 lb by late November. A forecast, not a promise."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8577072" y="466344"/>
            <a:ext cx="2715768" cy="5775304"/>
          </a:xfrm>
          <a:prstGeom prst="roundRect">
            <a:avLst>
              <a:gd name="adj" fmla="val 6061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2" name="Image 1" descr="Progre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387" y="531522"/>
            <a:ext cx="2607137" cy="56421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30 OF 36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PATIENT MOBILE APP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78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225735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225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06  ·  OPTIMIZATION MEMBER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6492240" cy="486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day, scored</a:t>
            </a:r>
            <a:endParaRPr lang="en-US" sz="3100" dirty="0"/>
          </a:p>
        </p:txBody>
      </p:sp>
      <p:sp>
        <p:nvSpPr>
          <p:cNvPr id="13" name="Shape 10"/>
          <p:cNvSpPr/>
          <p:nvPr/>
        </p:nvSpPr>
        <p:spPr>
          <a:xfrm>
            <a:off x="777240" y="2351913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534793"/>
            <a:ext cx="6309360" cy="46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run of days is what keeps a member going. Two weeks at a glance, then every day open for detail.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804672" y="319559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131591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bar for each day against a 100% goal; "Average 89% on 12 scored days"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3747491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683483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by day rows: Wed, Oct 7 at 93%, Tue, Oct 6 at 96%, each with meals, walk and strength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804672" y="4299382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235374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Days, Weight, Blood pressure and Lab results tabs keep all history in one place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8577072" y="466344"/>
            <a:ext cx="2715768" cy="5775304"/>
          </a:xfrm>
          <a:prstGeom prst="roundRect">
            <a:avLst>
              <a:gd name="adj" fmla="val 6061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2" name="Image 1" descr="Histo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387" y="531522"/>
            <a:ext cx="2607137" cy="56421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31 OF 36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PATIENT MOBILE APP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78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225735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225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06  ·  OPTIMIZATION MEMBER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Update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6492240" cy="486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version, in review</a:t>
            </a:r>
            <a:endParaRPr lang="en-US" sz="3100" dirty="0"/>
          </a:p>
        </p:txBody>
      </p:sp>
      <p:sp>
        <p:nvSpPr>
          <p:cNvPr id="13" name="Shape 10"/>
          <p:cNvSpPr/>
          <p:nvPr/>
        </p:nvSpPr>
        <p:spPr>
          <a:xfrm>
            <a:off x="777240" y="2351913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534793"/>
            <a:ext cx="6309360" cy="46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record changes, the plan is redrafted and goes back to the physician. The current plan keeps running meanwhile.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804672" y="319559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131591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"Version 2, approved by Dr. Patel on Sep 12" and, under it, "Version 3 is with Dr. Patel"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3747491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683483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pauses: Today's tasks and yesterday's 85% stay exactly where they were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804672" y="4299382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235374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patient sees the change is coming before it arrives, so a new target never feels arbitrary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8577072" y="466344"/>
            <a:ext cx="2715768" cy="5775304"/>
          </a:xfrm>
          <a:prstGeom prst="roundRect">
            <a:avLst>
              <a:gd name="adj" fmla="val 6061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2" name="Image 1" descr="Plan Upda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387" y="531522"/>
            <a:ext cx="2607137" cy="56421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32 OF 36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3E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64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69264" y="2340864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and Control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163824"/>
            <a:ext cx="484632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patient owns the record: who sees it, for how long, who looked, and their membership, each one tap from Profile.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84276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33 to 36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0" y="2054738"/>
            <a:ext cx="1197864" cy="2547356"/>
          </a:xfrm>
          <a:prstGeom prst="roundRect">
            <a:avLst>
              <a:gd name="adj" fmla="val 90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9" name="Image 0" descr="Prof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4757" y="2083487"/>
            <a:ext cx="1149949" cy="2488609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400800" y="4638670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7708392" y="2054738"/>
            <a:ext cx="1197864" cy="2547356"/>
          </a:xfrm>
          <a:prstGeom prst="roundRect">
            <a:avLst>
              <a:gd name="adj" fmla="val 90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2" name="Image 1" descr="Acce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2349" y="2083487"/>
            <a:ext cx="1149949" cy="248860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708392" y="4638670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9015984" y="2054738"/>
            <a:ext cx="1197864" cy="2547356"/>
          </a:xfrm>
          <a:prstGeom prst="roundRect">
            <a:avLst>
              <a:gd name="adj" fmla="val 90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5" name="Image 2" descr="Who Has Looke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9941" y="2083487"/>
            <a:ext cx="1149949" cy="248860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15984" y="4638670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10323576" y="2054738"/>
            <a:ext cx="1197864" cy="2547356"/>
          </a:xfrm>
          <a:prstGeom prst="roundRect">
            <a:avLst>
              <a:gd name="adj" fmla="val 90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8" name="Image 3" descr="Membershi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7533" y="2083487"/>
            <a:ext cx="1149949" cy="2488609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323576" y="4638670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PATIENT MOBILE APP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78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2271685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22716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07  ·  PROFILE AND CONTROL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6492240" cy="486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doctor, your data</a:t>
            </a:r>
            <a:endParaRPr lang="en-US" sz="3100" dirty="0"/>
          </a:p>
        </p:txBody>
      </p:sp>
      <p:sp>
        <p:nvSpPr>
          <p:cNvPr id="13" name="Shape 10"/>
          <p:cNvSpPr/>
          <p:nvPr/>
        </p:nvSpPr>
        <p:spPr>
          <a:xfrm>
            <a:off x="777240" y="2351913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534793"/>
            <a:ext cx="6309360" cy="46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puts the patient's doctor and practice first, then the controls. Sharing settings sit one tap deeper, where they can't be changed by accident.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804672" y="319559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131591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Maya Patel and Harborview Longevity Clinic, with Call beside (858) 555-0100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3747491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683483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Membership: Free record, 3 months, with "See the Optimization plan" beside it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804672" y="4299382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235374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(2 connected), who has looked at your record, download my record; log out in soft red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8577072" y="466344"/>
            <a:ext cx="2715768" cy="5775304"/>
          </a:xfrm>
          <a:prstGeom prst="roundRect">
            <a:avLst>
              <a:gd name="adj" fmla="val 6061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2" name="Image 1" descr="Profi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387" y="531522"/>
            <a:ext cx="2607137" cy="56421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33 OF 36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PATIENT MOBILE APP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78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2271685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22716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07  ·  PROFILE AND CONTROL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6492240" cy="486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Sharing, with an end date</a:t>
            </a:r>
            <a:endParaRPr lang="en-US" sz="3100" dirty="0"/>
          </a:p>
        </p:txBody>
      </p:sp>
      <p:sp>
        <p:nvSpPr>
          <p:cNvPr id="13" name="Shape 10"/>
          <p:cNvSpPr/>
          <p:nvPr/>
        </p:nvSpPr>
        <p:spPr>
          <a:xfrm>
            <a:off x="777240" y="2351913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534793"/>
            <a:ext cx="6309360" cy="46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consent the patient signed is on view and can be switched off. Every connected source is named.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804672" y="319559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131591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Sharing until Jan 5, 2027, on one toggle: signed Oct 5, for 3 months, as Olivia Bennett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3747491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683483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with Harborview Longevity Clinic, and only them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804672" y="4299382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235374"/>
            <a:ext cx="6044184" cy="3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sources listed: Harborview through athenahealth, Scripps Memorial Hospital through Epic MyChart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8577072" y="466344"/>
            <a:ext cx="2715768" cy="5775304"/>
          </a:xfrm>
          <a:prstGeom prst="roundRect">
            <a:avLst>
              <a:gd name="adj" fmla="val 6061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2" name="Image 1" descr="Acce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387" y="531522"/>
            <a:ext cx="2607137" cy="56421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34 OF 36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PATIENT MOBILE APP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78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2271685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22716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07  ·  PROFILE AND CONTROL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Has Looked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6492240" cy="486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view, named</a:t>
            </a:r>
            <a:endParaRPr lang="en-US" sz="3100" dirty="0"/>
          </a:p>
        </p:txBody>
      </p:sp>
      <p:sp>
        <p:nvSpPr>
          <p:cNvPr id="13" name="Shape 10"/>
          <p:cNvSpPr/>
          <p:nvPr/>
        </p:nvSpPr>
        <p:spPr>
          <a:xfrm>
            <a:off x="777240" y="2351913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534793"/>
            <a:ext cx="6309360" cy="46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comes from seeing who opened the record. Each entry names the person, their role and the time.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804672" y="319559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131591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Maya Patel, physician, viewed lab results at 10:14 AM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3747491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683483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Ortiz, care coordinator, viewed care gaps at 9:02 AM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804672" y="4299382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235374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Inlay's own record check is listed too, and the patient's signature at 8:45 AM opens the trail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8577072" y="466344"/>
            <a:ext cx="2715768" cy="5775304"/>
          </a:xfrm>
          <a:prstGeom prst="roundRect">
            <a:avLst>
              <a:gd name="adj" fmla="val 6061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2" name="Image 1" descr="Who Has Look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387" y="531522"/>
            <a:ext cx="2607137" cy="56421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35 OF 36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PATIENT MOBILE APP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78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2271685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22716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07  ·  PROFILE AND CONTROL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Membership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6492240" cy="486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pause, easy to leave</a:t>
            </a:r>
            <a:endParaRPr lang="en-US" sz="3100" dirty="0"/>
          </a:p>
        </p:txBody>
      </p:sp>
      <p:sp>
        <p:nvSpPr>
          <p:cNvPr id="13" name="Shape 10"/>
          <p:cNvSpPr/>
          <p:nvPr/>
        </p:nvSpPr>
        <p:spPr>
          <a:xfrm>
            <a:off x="777240" y="2351913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534793"/>
            <a:ext cx="6309360" cy="46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Membership is laid out plainly, and leaving is as visible as staying. A patient who can see the way out trusts the rest of the app.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804672" y="319559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131591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membership, Active: next payment $100 on Oct 18, Visa ending 4242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3747491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683483"/>
            <a:ext cx="6044184" cy="22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receipts listed, $100 each from May 18 to Sep 18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804672" y="4299382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235374"/>
            <a:ext cx="6044184" cy="3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"Pause membership" and "Cancel membership" in soft red, both on the page, no phone call needed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8577072" y="466344"/>
            <a:ext cx="2715768" cy="5775304"/>
          </a:xfrm>
          <a:prstGeom prst="roundRect">
            <a:avLst>
              <a:gd name="adj" fmla="val 6061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2" name="Image 1" descr="Membershi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387" y="531522"/>
            <a:ext cx="2607137" cy="56421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36 OF 36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PATIENT MOBILE APP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900" dirty="0"/>
          </a:p>
        </p:txBody>
      </p:sp>
      <p:pic>
        <p:nvPicPr>
          <p:cNvPr id="6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1444752" cy="3383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91440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app speaks</a:t>
            </a:r>
            <a:endParaRPr lang="en-US" sz="2900" dirty="0"/>
          </a:p>
        </p:txBody>
      </p:sp>
      <p:sp>
        <p:nvSpPr>
          <p:cNvPr id="8" name="Text 5"/>
          <p:cNvSpPr txBox="1"/>
          <p:nvPr/>
        </p:nvSpPr>
        <p:spPr>
          <a:xfrm>
            <a:off x="576072" y="14264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Inlay Care brief: the words decide whether the patient feels looked after or sold to.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66928" y="1938528"/>
            <a:ext cx="64922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E7ED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21671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WRITE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3840480" y="21671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INSTEAD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257860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trike="sngStrike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products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840480" y="257860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can help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22960" y="3017520"/>
            <a:ext cx="5989320" cy="0"/>
          </a:xfrm>
          <a:prstGeom prst="line">
            <a:avLst/>
          </a:prstGeom>
          <a:noFill/>
          <a:ln w="9525">
            <a:solidFill>
              <a:srgbClr val="E7ED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31272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trike="sngStrike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now / Buy medical equipment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840480" y="312724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Inlay arrange this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22960" y="3566160"/>
            <a:ext cx="5989320" cy="0"/>
          </a:xfrm>
          <a:prstGeom prst="line">
            <a:avLst/>
          </a:prstGeom>
          <a:noFill/>
          <a:ln w="9525">
            <a:solidFill>
              <a:srgbClr val="E7EDE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367588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trike="sngStrike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to cart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3840480" y="36758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you like us to take care of this?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22960" y="4114800"/>
            <a:ext cx="5989320" cy="0"/>
          </a:xfrm>
          <a:prstGeom prst="line">
            <a:avLst/>
          </a:prstGeom>
          <a:noFill/>
          <a:ln w="9525">
            <a:solidFill>
              <a:srgbClr val="E7EDE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2960" y="422452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trike="sngStrike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offer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3840480" y="42245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recovery easier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22960" y="4663440"/>
            <a:ext cx="5989320" cy="0"/>
          </a:xfrm>
          <a:prstGeom prst="line">
            <a:avLst/>
          </a:prstGeom>
          <a:noFill/>
          <a:ln w="9525">
            <a:solidFill>
              <a:srgbClr val="E7ED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2960" y="47731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trike="sngStrike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need a wheelchair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3840480" y="47731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may want a walker during recovery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22960" y="5212080"/>
            <a:ext cx="5989320" cy="0"/>
          </a:xfrm>
          <a:prstGeom prst="line">
            <a:avLst/>
          </a:prstGeom>
          <a:noFill/>
          <a:ln w="9525">
            <a:solidFill>
              <a:srgbClr val="E7ED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2960" y="532180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trike="sngStrike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 whole-body MRI today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3840480" y="532180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found options for you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7242048" y="1938528"/>
            <a:ext cx="4379976" cy="4023360"/>
          </a:xfrm>
          <a:prstGeom prst="roundRect">
            <a:avLst>
              <a:gd name="adj" fmla="val 1818"/>
            </a:avLst>
          </a:prstGeom>
          <a:solidFill>
            <a:srgbClr val="EDF1EE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470648" y="21671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ON SCREEN IN THE LIVE BUILD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7498080" y="2651760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7726680" y="2578608"/>
            <a:ext cx="36118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"Unlock unlimited AI" on the Ask Inlay banner: say increased access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7498080" y="3240024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7726680" y="3166872"/>
            <a:ext cx="36118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"Upgrade to Premium" pill on the plan page: the paid tier is Optimization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7498080" y="3828288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7726680" y="3755136"/>
            <a:ext cx="36118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"Ask to Health Agent" button on result, order and plan screens: Ask Inlay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7498080" y="4416552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7726680" y="4343400"/>
            <a:ext cx="36118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"Pay and book" on the lab sheet: confirm, with Inlay arranging it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Inlay 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Patient App</dc:title>
  <dc:subject>PptxGenJS Presentation</dc:subject>
  <dc:creator>PptxGenJS</dc:creator>
  <cp:lastModifiedBy>PptxGenJS</cp:lastModifiedBy>
  <cp:revision>1</cp:revision>
  <dcterms:created xsi:type="dcterms:W3CDTF">2026-10-09T05:53:38Z</dcterms:created>
  <dcterms:modified xsi:type="dcterms:W3CDTF">2026-10-09T05:53:38Z</dcterms:modified>
</cp:coreProperties>
</file>