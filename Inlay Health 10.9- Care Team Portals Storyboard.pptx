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0af48da-4e86-39bf-ce12-c05549fbb7dd}">
          <p14:sldIdLst>
            <p14:sldId id="256"/>
          </p14:sldIdLst>
        </p14:section>
        <p14:section name="Overview" id="{b3f414ef-a405-0e90-b6d8-b5f7f8822875}">
          <p14:sldIdLst>
            <p14:sldId id="257"/>
          </p14:sldIdLst>
        </p14:section>
        <p14:section name="Super Admin: Sign In and Security" id="{a782513f-d998-d1d6-cd2d-e6dbfce18d6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uper Admin: Practices" id="{a4898367-bdae-e22a-a99c-55208b2a93c3}">
          <p14:sldIdLst>
            <p14:sldId id="265"/>
            <p14:sldId id="266"/>
            <p14:sldId id="267"/>
            <p14:sldId id="268"/>
          </p14:sldIdLst>
        </p14:section>
        <p14:section name="Clinic Manager: Onboarding" id="{c55b6b88-e887-cbb7-2068-2a03398e5cea}">
          <p14:sldIdLst>
            <p14:sldId id="269"/>
            <p14:sldId id="270"/>
            <p14:sldId id="271"/>
          </p14:sldIdLst>
        </p14:section>
        <p14:section name="Clinic Manager: Users" id="{79b71534-9bda-dc54-d4f7-64c77e87ca97}">
          <p14:sldIdLst>
            <p14:sldId id="272"/>
            <p14:sldId id="273"/>
            <p14:sldId id="274"/>
            <p14:sldId id="275"/>
          </p14:sldIdLst>
        </p14:section>
        <p14:section name="Clinic Manager: Patients" id="{47cc4f6a-6aea-9ae1-f1a5-bd47c4be229a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inic Manager: Locations" id="{696b166d-2f97-d8a6-6cf3-37f62c334f2a}">
          <p14:sldIdLst>
            <p14:sldId id="282"/>
            <p14:sldId id="283"/>
            <p14:sldId id="284"/>
            <p14:sldId id="285"/>
          </p14:sldIdLst>
        </p14:section>
        <p14:section name="Provider: Onboarding and Patients" id="{53c6a512-d874-c041-0b5e-fcacd6736abf}">
          <p14:sldIdLst>
            <p14:sldId id="286"/>
            <p14:sldId id="287"/>
            <p14:sldId id="288"/>
          </p14:sldIdLst>
        </p14:section>
        <p14:section name="Provider: Record States" id="{6eb30e1a-bc1a-185b-9b61-057b66ab6d06}">
          <p14:sldIdLst>
            <p14:sldId id="289"/>
            <p14:sldId id="290"/>
            <p14:sldId id="291"/>
            <p14:sldId id="292"/>
          </p14:sldIdLst>
        </p14:section>
        <p14:section name="Provider: Patient Chart" id="{ad67f829-934b-f8e7-b0bf-4e11b171dd89}">
          <p14:sldIdLst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image" Target="../media/image-1-10.jpg"/><Relationship Id="rId11" Type="http://schemas.openxmlformats.org/officeDocument/2006/relationships/image" Target="../media/image-1-11.jpg"/><Relationship Id="rId12" Type="http://schemas.openxmlformats.org/officeDocument/2006/relationships/image" Target="../media/image-1-12.jpg"/><Relationship Id="rId13" Type="http://schemas.openxmlformats.org/officeDocument/2006/relationships/image" Target="../media/image-1-13.jpg"/><Relationship Id="rId14" Type="http://schemas.openxmlformats.org/officeDocument/2006/relationships/image" Target="../media/image-1-14.jp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image" Target="../media/image-2-8.jpg"/><Relationship Id="rId9" Type="http://schemas.openxmlformats.org/officeDocument/2006/relationships/image" Target="../media/image-2-9.jpg"/><Relationship Id="rId10" Type="http://schemas.openxmlformats.org/officeDocument/2006/relationships/image" Target="../media/image-2-10.jpg"/><Relationship Id="rId11" Type="http://schemas.openxmlformats.org/officeDocument/2006/relationships/image" Target="../media/image-2-11.jpg"/><Relationship Id="rId12" Type="http://schemas.openxmlformats.org/officeDocument/2006/relationships/image" Target="../media/image-2-12.jpg"/><Relationship Id="rId13" Type="http://schemas.openxmlformats.org/officeDocument/2006/relationships/image" Target="../media/image-2-13.jpg"/><Relationship Id="rId14" Type="http://schemas.openxmlformats.org/officeDocument/2006/relationships/image" Target="../media/image-2-14.jpg"/><Relationship Id="rId15" Type="http://schemas.openxmlformats.org/officeDocument/2006/relationships/image" Target="../media/image-2-15.jpg"/><Relationship Id="rId16" Type="http://schemas.openxmlformats.org/officeDocument/2006/relationships/image" Target="../media/image-2-16.jpg"/><Relationship Id="rId17" Type="http://schemas.openxmlformats.org/officeDocument/2006/relationships/image" Target="../media/image-2-17.jpg"/><Relationship Id="rId18" Type="http://schemas.openxmlformats.org/officeDocument/2006/relationships/image" Target="../media/image-2-18.jpg"/><Relationship Id="rId19" Type="http://schemas.openxmlformats.org/officeDocument/2006/relationships/image" Target="../media/image-2-19.jpg"/><Relationship Id="rId20" Type="http://schemas.openxmlformats.org/officeDocument/2006/relationships/image" Target="../media/image-2-20.jpg"/><Relationship Id="rId21" Type="http://schemas.openxmlformats.org/officeDocument/2006/relationships/image" Target="../media/image-2-21.jpg"/><Relationship Id="rId22" Type="http://schemas.openxmlformats.org/officeDocument/2006/relationships/image" Target="../media/image-2-22.jpg"/><Relationship Id="rId23" Type="http://schemas.openxmlformats.org/officeDocument/2006/relationships/image" Target="../media/image-2-23.jpg"/><Relationship Id="rId24" Type="http://schemas.openxmlformats.org/officeDocument/2006/relationships/image" Target="../media/image-2-24.jpg"/><Relationship Id="rId25" Type="http://schemas.openxmlformats.org/officeDocument/2006/relationships/image" Target="../media/image-2-25.jpg"/><Relationship Id="rId26" Type="http://schemas.openxmlformats.org/officeDocument/2006/relationships/image" Target="../media/image-2-26.jpg"/><Relationship Id="rId27" Type="http://schemas.openxmlformats.org/officeDocument/2006/relationships/image" Target="../media/image-2-27.jpg"/><Relationship Id="rId28" Type="http://schemas.openxmlformats.org/officeDocument/2006/relationships/image" Target="../media/image-2-28.jpg"/><Relationship Id="rId29" Type="http://schemas.openxmlformats.org/officeDocument/2006/relationships/image" Target="../media/image-2-29.jpg"/><Relationship Id="rId30" Type="http://schemas.openxmlformats.org/officeDocument/2006/relationships/image" Target="../media/image-2-30.jpg"/><Relationship Id="rId31" Type="http://schemas.openxmlformats.org/officeDocument/2006/relationships/image" Target="../media/image-2-31.jpg"/><Relationship Id="rId32" Type="http://schemas.openxmlformats.org/officeDocument/2006/relationships/image" Target="../media/image-2-32.jpg"/><Relationship Id="rId33" Type="http://schemas.openxmlformats.org/officeDocument/2006/relationships/image" Target="../media/image-2-33.jpg"/><Relationship Id="rId34" Type="http://schemas.openxmlformats.org/officeDocument/2006/relationships/image" Target="../media/image-2-34.jpg"/><Relationship Id="rId35" Type="http://schemas.openxmlformats.org/officeDocument/2006/relationships/image" Target="../media/image-2-35.jpg"/><Relationship Id="rId36" Type="http://schemas.openxmlformats.org/officeDocument/2006/relationships/image" Target="../media/image-2-36.jpg"/><Relationship Id="rId37" Type="http://schemas.openxmlformats.org/officeDocument/2006/relationships/image" Target="../media/image-2-37.jpg"/><Relationship Id="rId38" Type="http://schemas.openxmlformats.org/officeDocument/2006/relationships/image" Target="../media/image-2-38.jpg"/><Relationship Id="rId39" Type="http://schemas.openxmlformats.org/officeDocument/2006/relationships/image" Target="../media/image-2-39.jp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5" Type="http://schemas.openxmlformats.org/officeDocument/2006/relationships/image" Target="../media/image-38-5.jpg"/><Relationship Id="rId6" Type="http://schemas.openxmlformats.org/officeDocument/2006/relationships/image" Target="../media/image-38-6.jpg"/><Relationship Id="rId7" Type="http://schemas.openxmlformats.org/officeDocument/2006/relationships/image" Target="../media/image-38-7.jpg"/><Relationship Id="rId8" Type="http://schemas.openxmlformats.org/officeDocument/2006/relationships/image" Target="../media/image-38-8.jpg"/><Relationship Id="rId9" Type="http://schemas.openxmlformats.org/officeDocument/2006/relationships/image" Target="../media/image-38-9.jpg"/><Relationship Id="rId10" Type="http://schemas.openxmlformats.org/officeDocument/2006/relationships/image" Target="../media/image-38-10.jpg"/><Relationship Id="rId11" Type="http://schemas.openxmlformats.org/officeDocument/2006/relationships/image" Target="../media/image-38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PORTALS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 Team Portals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Thirty-eight screens across Super Admin, Clinic Manager and Provider, from the first invitation to a patient's full chart.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2062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Super Admin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Clinic Manager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Provider</a:t>
            </a:r>
            <a:endParaRPr lang="en-US" sz="1200" dirty="0"/>
          </a:p>
        </p:txBody>
      </p:sp>
      <p:pic>
        <p:nvPicPr>
          <p:cNvPr id="12" name="Image 1" descr="Invitation E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154680"/>
            <a:ext cx="1068019" cy="667512"/>
          </a:xfrm>
          <a:prstGeom prst="rect">
            <a:avLst/>
          </a:prstGeom>
        </p:spPr>
      </p:pic>
      <p:pic>
        <p:nvPicPr>
          <p:cNvPr id="13" name="Image 2" descr="Two-Factor Set-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251" y="3154680"/>
            <a:ext cx="1068019" cy="667512"/>
          </a:xfrm>
          <a:prstGeom prst="rect">
            <a:avLst/>
          </a:prstGeom>
        </p:spPr>
      </p:pic>
      <p:pic>
        <p:nvPicPr>
          <p:cNvPr id="14" name="Image 3" descr="Practic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2" y="3154680"/>
            <a:ext cx="1068019" cy="667512"/>
          </a:xfrm>
          <a:prstGeom prst="rect">
            <a:avLst/>
          </a:prstGeom>
        </p:spPr>
      </p:pic>
      <p:pic>
        <p:nvPicPr>
          <p:cNvPr id="15" name="Image 4" descr="Clinic Manager Invit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594" y="3154680"/>
            <a:ext cx="1068019" cy="667512"/>
          </a:xfrm>
          <a:prstGeom prst="rect">
            <a:avLst/>
          </a:prstGeom>
        </p:spPr>
      </p:pic>
      <p:pic>
        <p:nvPicPr>
          <p:cNvPr id="16" name="Image 5" descr="Provider Detai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6765" y="3154680"/>
            <a:ext cx="1068019" cy="667512"/>
          </a:xfrm>
          <a:prstGeom prst="rect">
            <a:avLst/>
          </a:prstGeom>
        </p:spPr>
      </p:pic>
      <p:pic>
        <p:nvPicPr>
          <p:cNvPr id="17" name="Image 6" descr="Add Patie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895344"/>
            <a:ext cx="1068019" cy="667512"/>
          </a:xfrm>
          <a:prstGeom prst="rect">
            <a:avLst/>
          </a:prstGeom>
        </p:spPr>
      </p:pic>
      <p:pic>
        <p:nvPicPr>
          <p:cNvPr id="18" name="Image 7" descr="Duplicate Revie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251" y="3895344"/>
            <a:ext cx="1068019" cy="667512"/>
          </a:xfrm>
          <a:prstGeom prst="rect">
            <a:avLst/>
          </a:prstGeom>
        </p:spPr>
      </p:pic>
      <p:pic>
        <p:nvPicPr>
          <p:cNvPr id="19" name="Image 8" descr="Location Detail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4422" y="3895344"/>
            <a:ext cx="1068019" cy="667512"/>
          </a:xfrm>
          <a:prstGeom prst="rect">
            <a:avLst/>
          </a:prstGeom>
        </p:spPr>
      </p:pic>
      <p:pic>
        <p:nvPicPr>
          <p:cNvPr id="20" name="Image 9" descr="Waiting for Consen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5594" y="3895344"/>
            <a:ext cx="1068019" cy="667512"/>
          </a:xfrm>
          <a:prstGeom prst="rect">
            <a:avLst/>
          </a:prstGeom>
        </p:spPr>
      </p:pic>
      <p:pic>
        <p:nvPicPr>
          <p:cNvPr id="21" name="Image 10" descr="Dashboard: Free Memb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6765" y="3895344"/>
            <a:ext cx="1068019" cy="667512"/>
          </a:xfrm>
          <a:prstGeom prst="rect">
            <a:avLst/>
          </a:prstGeom>
        </p:spPr>
      </p:pic>
      <p:pic>
        <p:nvPicPr>
          <p:cNvPr id="22" name="Image 11" descr="Timelin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2080" y="4636008"/>
            <a:ext cx="1068019" cy="667512"/>
          </a:xfrm>
          <a:prstGeom prst="rect">
            <a:avLst/>
          </a:prstGeom>
        </p:spPr>
      </p:pic>
      <p:pic>
        <p:nvPicPr>
          <p:cNvPr id="23" name="Image 12" descr="Medication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251" y="4636008"/>
            <a:ext cx="1068019" cy="667512"/>
          </a:xfrm>
          <a:prstGeom prst="rect">
            <a:avLst/>
          </a:prstGeom>
        </p:spPr>
      </p:pic>
      <p:pic>
        <p:nvPicPr>
          <p:cNvPr id="24" name="Image 13" descr="Imagi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4422" y="4636008"/>
            <a:ext cx="1068019" cy="667512"/>
          </a:xfrm>
          <a:prstGeom prst="rect">
            <a:avLst/>
          </a:prstGeom>
        </p:spPr>
      </p:pic>
      <p:sp>
        <p:nvSpPr>
          <p:cNvPr id="25" name="Text 9"/>
          <p:cNvSpPr txBox="1"/>
          <p:nvPr/>
        </p:nvSpPr>
        <p:spPr>
          <a:xfrm>
            <a:off x="5230368" y="5413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screens  ·  3 portals  ·  9 stages</a:t>
            </a:r>
            <a:endParaRPr lang="en-US" sz="900" dirty="0"/>
          </a:p>
        </p:txBody>
      </p:sp>
      <p:sp>
        <p:nvSpPr>
          <p:cNvPr id="26" name="Shape 10"/>
          <p:cNvSpPr/>
          <p:nvPr/>
        </p:nvSpPr>
        <p:spPr>
          <a:xfrm>
            <a:off x="822960" y="5943600"/>
            <a:ext cx="10543032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11"/>
          <p:cNvSpPr txBox="1"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October 2026</a:t>
            </a:r>
            <a:endParaRPr lang="en-US" sz="950" dirty="0"/>
          </a:p>
        </p:txBody>
      </p:sp>
      <p:sp>
        <p:nvSpPr>
          <p:cNvPr id="28" name="Text 12"/>
          <p:cNvSpPr txBox="1"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the live web build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0624"/>
            <a:ext cx="1444752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91440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portals, one record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576072" y="14264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sets up the practice, the clinic manager runs it, and the provider works from one patient record.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66928" y="1938528"/>
            <a:ext cx="3563112" cy="4023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2359152"/>
            <a:ext cx="3270504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589657"/>
            <a:ext cx="3270504" cy="18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and Security  ·  Practices</a:t>
            </a:r>
            <a:endParaRPr lang="en-US" sz="920" dirty="0"/>
          </a:p>
        </p:txBody>
      </p:sp>
      <p:pic>
        <p:nvPicPr>
          <p:cNvPr id="14" name="Image 1" descr="Invitation E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64688"/>
            <a:ext cx="1047496" cy="654685"/>
          </a:xfrm>
          <a:prstGeom prst="rect">
            <a:avLst/>
          </a:prstGeom>
        </p:spPr>
      </p:pic>
      <p:pic>
        <p:nvPicPr>
          <p:cNvPr id="15" name="Image 2" descr="Activate Accou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736" y="2864688"/>
            <a:ext cx="1047496" cy="654685"/>
          </a:xfrm>
          <a:prstGeom prst="rect">
            <a:avLst/>
          </a:prstGeom>
        </p:spPr>
      </p:pic>
      <p:pic>
        <p:nvPicPr>
          <p:cNvPr id="16" name="Image 3" descr="Create Passwo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240" y="2864688"/>
            <a:ext cx="1047496" cy="654685"/>
          </a:xfrm>
          <a:prstGeom prst="rect">
            <a:avLst/>
          </a:prstGeom>
        </p:spPr>
      </p:pic>
      <p:pic>
        <p:nvPicPr>
          <p:cNvPr id="17" name="Image 4" descr="Two-Factor Set-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574237"/>
            <a:ext cx="1047496" cy="654685"/>
          </a:xfrm>
          <a:prstGeom prst="rect">
            <a:avLst/>
          </a:prstGeom>
        </p:spPr>
      </p:pic>
      <p:pic>
        <p:nvPicPr>
          <p:cNvPr id="18" name="Image 5" descr="Sign 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736" y="3574237"/>
            <a:ext cx="1047496" cy="654685"/>
          </a:xfrm>
          <a:prstGeom prst="rect">
            <a:avLst/>
          </a:prstGeom>
        </p:spPr>
      </p:pic>
      <p:pic>
        <p:nvPicPr>
          <p:cNvPr id="19" name="Image 6" descr="Two-Factor Verifica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6240" y="3574237"/>
            <a:ext cx="1047496" cy="654685"/>
          </a:xfrm>
          <a:prstGeom prst="rect">
            <a:avLst/>
          </a:prstGeom>
        </p:spPr>
      </p:pic>
      <p:pic>
        <p:nvPicPr>
          <p:cNvPr id="20" name="Image 7" descr="Practic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283786"/>
            <a:ext cx="1047496" cy="654685"/>
          </a:xfrm>
          <a:prstGeom prst="rect">
            <a:avLst/>
          </a:prstGeom>
        </p:spPr>
      </p:pic>
      <p:pic>
        <p:nvPicPr>
          <p:cNvPr id="21" name="Image 8" descr="Practice Detail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4736" y="4283786"/>
            <a:ext cx="1047496" cy="654685"/>
          </a:xfrm>
          <a:prstGeom prst="rect">
            <a:avLst/>
          </a:prstGeom>
        </p:spPr>
      </p:pic>
      <p:pic>
        <p:nvPicPr>
          <p:cNvPr id="22" name="Image 9" descr="Provider Adopti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6240" y="4283786"/>
            <a:ext cx="1047496" cy="654685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4130040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12"/>
          <p:cNvSpPr/>
          <p:nvPr/>
        </p:nvSpPr>
        <p:spPr>
          <a:xfrm>
            <a:off x="4312920" y="1938528"/>
            <a:ext cx="3563112" cy="4023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25" name="Text 13"/>
          <p:cNvSpPr txBox="1"/>
          <p:nvPr/>
        </p:nvSpPr>
        <p:spPr>
          <a:xfrm>
            <a:off x="4459224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14"/>
          <p:cNvSpPr txBox="1"/>
          <p:nvPr/>
        </p:nvSpPr>
        <p:spPr>
          <a:xfrm>
            <a:off x="4459224" y="2359152"/>
            <a:ext cx="3270504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</a:t>
            </a:r>
            <a:endParaRPr lang="en-US" sz="1050" dirty="0"/>
          </a:p>
        </p:txBody>
      </p:sp>
      <p:sp>
        <p:nvSpPr>
          <p:cNvPr id="27" name="Text 15"/>
          <p:cNvSpPr txBox="1"/>
          <p:nvPr/>
        </p:nvSpPr>
        <p:spPr>
          <a:xfrm>
            <a:off x="4459224" y="2589657"/>
            <a:ext cx="3270504" cy="18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 ·  Users  ·  Patients  ·  Locations</a:t>
            </a:r>
            <a:endParaRPr lang="en-US" sz="920" dirty="0"/>
          </a:p>
        </p:txBody>
      </p:sp>
      <p:pic>
        <p:nvPicPr>
          <p:cNvPr id="28" name="Image 10" descr="Clinic Manager Invitati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8155" y="2864688"/>
            <a:ext cx="868209" cy="542630"/>
          </a:xfrm>
          <a:prstGeom prst="rect">
            <a:avLst/>
          </a:prstGeom>
        </p:spPr>
      </p:pic>
      <p:pic>
        <p:nvPicPr>
          <p:cNvPr id="29" name="Image 11" descr="Clinic Manager Activati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0372" y="2864688"/>
            <a:ext cx="868209" cy="542630"/>
          </a:xfrm>
          <a:prstGeom prst="rect">
            <a:avLst/>
          </a:prstGeom>
        </p:spPr>
      </p:pic>
      <p:pic>
        <p:nvPicPr>
          <p:cNvPr id="30" name="Image 12" descr="Provider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2588" y="2864688"/>
            <a:ext cx="868209" cy="542630"/>
          </a:xfrm>
          <a:prstGeom prst="rect">
            <a:avLst/>
          </a:prstGeom>
        </p:spPr>
      </p:pic>
      <p:pic>
        <p:nvPicPr>
          <p:cNvPr id="31" name="Image 13" descr="Provider Details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8155" y="3462183"/>
            <a:ext cx="868209" cy="542630"/>
          </a:xfrm>
          <a:prstGeom prst="rect">
            <a:avLst/>
          </a:prstGeom>
        </p:spPr>
      </p:pic>
      <p:pic>
        <p:nvPicPr>
          <p:cNvPr id="32" name="Image 14" descr="Non-Clinical User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60372" y="3462183"/>
            <a:ext cx="868209" cy="542630"/>
          </a:xfrm>
          <a:prstGeom prst="rect">
            <a:avLst/>
          </a:prstGeom>
        </p:spPr>
      </p:pic>
      <p:pic>
        <p:nvPicPr>
          <p:cNvPr id="33" name="Image 15" descr="Patients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2588" y="3462183"/>
            <a:ext cx="868209" cy="542630"/>
          </a:xfrm>
          <a:prstGeom prst="rect">
            <a:avLst/>
          </a:prstGeom>
        </p:spPr>
      </p:pic>
      <p:pic>
        <p:nvPicPr>
          <p:cNvPr id="34" name="Image 16" descr="Add Patien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8155" y="4059677"/>
            <a:ext cx="868209" cy="542630"/>
          </a:xfrm>
          <a:prstGeom prst="rect">
            <a:avLst/>
          </a:prstGeom>
        </p:spPr>
      </p:pic>
      <p:pic>
        <p:nvPicPr>
          <p:cNvPr id="35" name="Image 17" descr="Patient Details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60372" y="4059677"/>
            <a:ext cx="868209" cy="542630"/>
          </a:xfrm>
          <a:prstGeom prst="rect">
            <a:avLst/>
          </a:prstGeom>
        </p:spPr>
      </p:pic>
      <p:pic>
        <p:nvPicPr>
          <p:cNvPr id="36" name="Image 18" descr="Possible Duplicates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2588" y="4059677"/>
            <a:ext cx="868209" cy="542630"/>
          </a:xfrm>
          <a:prstGeom prst="rect">
            <a:avLst/>
          </a:prstGeom>
        </p:spPr>
      </p:pic>
      <p:pic>
        <p:nvPicPr>
          <p:cNvPr id="37" name="Image 19" descr="Duplicate Review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28155" y="4657171"/>
            <a:ext cx="868209" cy="542630"/>
          </a:xfrm>
          <a:prstGeom prst="rect">
            <a:avLst/>
          </a:prstGeom>
        </p:spPr>
      </p:pic>
      <p:pic>
        <p:nvPicPr>
          <p:cNvPr id="38" name="Image 20" descr="Locations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60372" y="4657171"/>
            <a:ext cx="868209" cy="542630"/>
          </a:xfrm>
          <a:prstGeom prst="rect">
            <a:avLst/>
          </a:prstGeom>
        </p:spPr>
      </p:pic>
      <p:pic>
        <p:nvPicPr>
          <p:cNvPr id="39" name="Image 21" descr="Add Locati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2588" y="4657171"/>
            <a:ext cx="868209" cy="542630"/>
          </a:xfrm>
          <a:prstGeom prst="rect">
            <a:avLst/>
          </a:prstGeom>
        </p:spPr>
      </p:pic>
      <p:pic>
        <p:nvPicPr>
          <p:cNvPr id="40" name="Image 22" descr="Location Details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60372" y="5254666"/>
            <a:ext cx="868209" cy="542630"/>
          </a:xfrm>
          <a:prstGeom prst="rect">
            <a:avLst/>
          </a:prstGeom>
        </p:spPr>
      </p:pic>
      <p:sp>
        <p:nvSpPr>
          <p:cNvPr id="41" name="Text 16"/>
          <p:cNvSpPr txBox="1"/>
          <p:nvPr/>
        </p:nvSpPr>
        <p:spPr>
          <a:xfrm>
            <a:off x="7876032" y="3657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2" name="Shape 17"/>
          <p:cNvSpPr/>
          <p:nvPr/>
        </p:nvSpPr>
        <p:spPr>
          <a:xfrm>
            <a:off x="8058912" y="1938528"/>
            <a:ext cx="3563112" cy="4023360"/>
          </a:xfrm>
          <a:prstGeom prst="roundRect">
            <a:avLst>
              <a:gd name="adj" fmla="val 2053"/>
            </a:avLst>
          </a:prstGeom>
          <a:solidFill>
            <a:srgbClr val="FFFFFF"/>
          </a:solidFill>
          <a:ln w="9525">
            <a:solidFill>
              <a:srgbClr val="E7EDEA"/>
            </a:solidFill>
            <a:prstDash val="solid"/>
          </a:ln>
        </p:spPr>
      </p:sp>
      <p:sp>
        <p:nvSpPr>
          <p:cNvPr id="43" name="Text 18"/>
          <p:cNvSpPr txBox="1"/>
          <p:nvPr/>
        </p:nvSpPr>
        <p:spPr>
          <a:xfrm>
            <a:off x="8205216" y="2103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4" name="Text 19"/>
          <p:cNvSpPr txBox="1"/>
          <p:nvPr/>
        </p:nvSpPr>
        <p:spPr>
          <a:xfrm>
            <a:off x="8205216" y="2359152"/>
            <a:ext cx="3270504" cy="2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050" dirty="0"/>
          </a:p>
        </p:txBody>
      </p:sp>
      <p:sp>
        <p:nvSpPr>
          <p:cNvPr id="45" name="Text 20"/>
          <p:cNvSpPr txBox="1"/>
          <p:nvPr/>
        </p:nvSpPr>
        <p:spPr>
          <a:xfrm>
            <a:off x="8205216" y="2589657"/>
            <a:ext cx="3270504" cy="18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Patients  ·  Record States  ·  Patient Chart</a:t>
            </a:r>
            <a:endParaRPr lang="en-US" sz="920" dirty="0"/>
          </a:p>
        </p:txBody>
      </p:sp>
      <p:pic>
        <p:nvPicPr>
          <p:cNvPr id="46" name="Image 23" descr="Provider Invitation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05216" y="2864688"/>
            <a:ext cx="769620" cy="481012"/>
          </a:xfrm>
          <a:prstGeom prst="rect">
            <a:avLst/>
          </a:prstGeom>
        </p:spPr>
      </p:pic>
      <p:pic>
        <p:nvPicPr>
          <p:cNvPr id="47" name="Image 24" descr="Provider Patient List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38844" y="2864688"/>
            <a:ext cx="769620" cy="481012"/>
          </a:xfrm>
          <a:prstGeom prst="rect">
            <a:avLst/>
          </a:prstGeom>
        </p:spPr>
      </p:pic>
      <p:pic>
        <p:nvPicPr>
          <p:cNvPr id="48" name="Image 25" descr="Waiting for Consent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72472" y="2864688"/>
            <a:ext cx="769620" cy="481012"/>
          </a:xfrm>
          <a:prstGeom prst="rect">
            <a:avLst/>
          </a:prstGeom>
        </p:spPr>
      </p:pic>
      <p:pic>
        <p:nvPicPr>
          <p:cNvPr id="49" name="Image 26" descr="Building the Record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06100" y="2864688"/>
            <a:ext cx="769620" cy="481012"/>
          </a:xfrm>
          <a:prstGeom prst="rect">
            <a:avLst/>
          </a:prstGeom>
        </p:spPr>
      </p:pic>
      <p:pic>
        <p:nvPicPr>
          <p:cNvPr id="50" name="Image 27" descr="Sync Failed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5216" y="3400565"/>
            <a:ext cx="769620" cy="481012"/>
          </a:xfrm>
          <a:prstGeom prst="rect">
            <a:avLst/>
          </a:prstGeom>
        </p:spPr>
      </p:pic>
      <p:pic>
        <p:nvPicPr>
          <p:cNvPr id="51" name="Image 28" descr="Dashboard: Free Member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38844" y="3400565"/>
            <a:ext cx="769620" cy="481012"/>
          </a:xfrm>
          <a:prstGeom prst="rect">
            <a:avLst/>
          </a:prstGeom>
        </p:spPr>
      </p:pic>
      <p:pic>
        <p:nvPicPr>
          <p:cNvPr id="52" name="Image 29" descr="Dashboard: Optimization Member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72472" y="3400565"/>
            <a:ext cx="769620" cy="481012"/>
          </a:xfrm>
          <a:prstGeom prst="rect">
            <a:avLst/>
          </a:prstGeom>
        </p:spPr>
      </p:pic>
      <p:pic>
        <p:nvPicPr>
          <p:cNvPr id="53" name="Image 30" descr="Face Sheet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06100" y="3400565"/>
            <a:ext cx="769620" cy="481012"/>
          </a:xfrm>
          <a:prstGeom prst="rect">
            <a:avLst/>
          </a:prstGeom>
        </p:spPr>
      </p:pic>
      <p:pic>
        <p:nvPicPr>
          <p:cNvPr id="54" name="Image 31" descr="Timeline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05216" y="3936441"/>
            <a:ext cx="769620" cy="481012"/>
          </a:xfrm>
          <a:prstGeom prst="rect">
            <a:avLst/>
          </a:prstGeom>
        </p:spPr>
      </p:pic>
      <p:pic>
        <p:nvPicPr>
          <p:cNvPr id="55" name="Image 32" descr="Encounters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38844" y="3936441"/>
            <a:ext cx="769620" cy="481012"/>
          </a:xfrm>
          <a:prstGeom prst="rect">
            <a:avLst/>
          </a:prstGeom>
        </p:spPr>
      </p:pic>
      <p:pic>
        <p:nvPicPr>
          <p:cNvPr id="56" name="Image 33" descr="Diagnoses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72472" y="3936441"/>
            <a:ext cx="769620" cy="481012"/>
          </a:xfrm>
          <a:prstGeom prst="rect">
            <a:avLst/>
          </a:prstGeom>
        </p:spPr>
      </p:pic>
      <p:pic>
        <p:nvPicPr>
          <p:cNvPr id="57" name="Image 34" descr="Medications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706100" y="3936441"/>
            <a:ext cx="769620" cy="481012"/>
          </a:xfrm>
          <a:prstGeom prst="rect">
            <a:avLst/>
          </a:prstGeom>
        </p:spPr>
      </p:pic>
      <p:pic>
        <p:nvPicPr>
          <p:cNvPr id="58" name="Image 35" descr="Vitals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205216" y="4472318"/>
            <a:ext cx="769620" cy="481012"/>
          </a:xfrm>
          <a:prstGeom prst="rect">
            <a:avLst/>
          </a:prstGeom>
        </p:spPr>
      </p:pic>
      <p:pic>
        <p:nvPicPr>
          <p:cNvPr id="59" name="Image 36" descr="Lab Results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038844" y="4472318"/>
            <a:ext cx="769620" cy="481012"/>
          </a:xfrm>
          <a:prstGeom prst="rect">
            <a:avLst/>
          </a:prstGeom>
        </p:spPr>
      </p:pic>
      <p:pic>
        <p:nvPicPr>
          <p:cNvPr id="60" name="Image 37" descr="Imagi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872472" y="4472318"/>
            <a:ext cx="769620" cy="481012"/>
          </a:xfrm>
          <a:prstGeom prst="rect">
            <a:avLst/>
          </a:prstGeom>
        </p:spPr>
      </p:pic>
      <p:pic>
        <p:nvPicPr>
          <p:cNvPr id="61" name="Image 38" descr="Documents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706100" y="4472318"/>
            <a:ext cx="769620" cy="481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STAGE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and Security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screens, shown once for all three portals. Every account starts from an invitation and ends with two-factor sign-in. Nobody self-registers.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 to 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93295" y="844702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35367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6777438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819509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Invitation 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7011" y="921196"/>
            <a:ext cx="2158097" cy="134881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693295" y="2342015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Invitation Email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043416" y="844702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85487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9127559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69630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Activate Acc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132" y="921196"/>
            <a:ext cx="2158097" cy="134881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43416" y="2342015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Activate Account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693295" y="2598047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35367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6777438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19"/>
          <p:cNvSpPr/>
          <p:nvPr/>
        </p:nvSpPr>
        <p:spPr>
          <a:xfrm>
            <a:off x="6819509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4" name="Image 2" descr="Create Passwo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11" y="2674541"/>
            <a:ext cx="2158097" cy="134881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93295" y="4095361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Create Password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9043416" y="2598047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085487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8" name="Shape 23"/>
          <p:cNvSpPr/>
          <p:nvPr/>
        </p:nvSpPr>
        <p:spPr>
          <a:xfrm>
            <a:off x="9127559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9" name="Shape 24"/>
          <p:cNvSpPr/>
          <p:nvPr/>
        </p:nvSpPr>
        <p:spPr>
          <a:xfrm>
            <a:off x="9169630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30" name="Image 3" descr="Two-Factor Set-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132" y="2674541"/>
            <a:ext cx="2158097" cy="134881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43416" y="4095361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Two-Factor Set-Up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6693295" y="4351393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735367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34" name="Shape 28"/>
          <p:cNvSpPr/>
          <p:nvPr/>
        </p:nvSpPr>
        <p:spPr>
          <a:xfrm>
            <a:off x="6777438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35" name="Shape 29"/>
          <p:cNvSpPr/>
          <p:nvPr/>
        </p:nvSpPr>
        <p:spPr>
          <a:xfrm>
            <a:off x="6819509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36" name="Image 4" descr="Sign 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7011" y="4427886"/>
            <a:ext cx="2158097" cy="1348811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693295" y="5848706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Sign In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9043416" y="4351393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9085487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40" name="Shape 33"/>
          <p:cNvSpPr/>
          <p:nvPr/>
        </p:nvSpPr>
        <p:spPr>
          <a:xfrm>
            <a:off x="9127559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41" name="Shape 34"/>
          <p:cNvSpPr/>
          <p:nvPr/>
        </p:nvSpPr>
        <p:spPr>
          <a:xfrm>
            <a:off x="9169630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42" name="Image 5" descr="Two-Factor Verific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7132" y="4427886"/>
            <a:ext cx="2158097" cy="1348811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043416" y="5848706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Two-Factor Verification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46664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466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SIGN IN AND SECURITY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invitation is the account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are never self-created. Maya Chen, a platform admin, invites Jordan Reyes as a Super Admin, and the email carries everything needed to get in.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ticket-style card names the role, Super Admin, and the address it belongs to before any code appears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482915 sits above a single Activate account button, so there is one way forward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"Works once. Expires in 48 hours." A named person to ask for a new one, never a generic help desk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Invitation Em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38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46664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466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SIGN IN AND SECURITY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Account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 inbox first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portal screen asks for one thing: the 6-digit code that was emailed. The address is shown in full, so the invitee knows which inbox to check.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single-digit boxes and one Verify code button; nothing else competes on the panel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jordan.reyes@humanoptimization.com is printed under the heading, so a wrong account is caught here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panel states the rule early: HIPAA-aligned, with two-factor sign-in on every account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Activate Accou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38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46664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466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SIGN IN AND SECURITY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Password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fields, one button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creation is kept to the minimum: new password, confirm, continue. Both fields are required and both can be revealed.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 and Confirm password, each marked required with a red asterisk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eye icon on each field lets the user check what they typed instead of retyping it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"Set password &amp; continue" signals that set-up is not finished yet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Create Pass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38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46664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466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SIGN IN AND SECURITY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Set-Up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not a setting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is part of activation, not something to find later. The account cannot be used until an authenticator app is paired.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QR code plus named apps: Google Authenticator, Microsoft Authenticator or 1Password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"Verify &amp; enable 2FA" completes only with a live 6-digit code from the app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panel shows the product loop for the first time: Measure, Review, Plan, Act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Two-Factor Set-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38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46664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466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SIGN IN AND SECURITY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door for every role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Admin, clinic manager and provider all sign in here. Each person is routed by their account, so there is no role picker to get wrong.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ID, Email and Password, with an e.g. 123456 hint for the 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me and Forgot Password? share one line under the fields, out of the main path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Sign In button. The same screen serves all three portals, which is why it appears once here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Sign 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38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466645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4666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SIGN IN AND SECURITY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Verification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sign-in, every time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password comes a fresh code from the authenticator app. It is the second half of every sign-in, not only the first.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code in six boxes, then Verify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84416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78015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"Back to sign in" is the only other action, for the user who picked the wrong account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55790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9389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layout as activation, so returning users meet nothing new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Two-Factor Verif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 OF 38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STAGE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 Admin creates practices, invites each clinic manager and watches adoption, from the whole practice down to a single provider.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7 to 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850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6204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543906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Pract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668" y="1615059"/>
            <a:ext cx="2448288" cy="15301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043416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91118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9138820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8652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Practice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284" y="1615059"/>
            <a:ext cx="2448288" cy="1530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43416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Practice Details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722108" y="3474720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69810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7817512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19"/>
          <p:cNvSpPr/>
          <p:nvPr/>
        </p:nvSpPr>
        <p:spPr>
          <a:xfrm>
            <a:off x="7865214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4" name="Image 2" descr="Provider Adop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976" y="3561451"/>
            <a:ext cx="2448288" cy="15301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722108" y="516508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Provider Adoption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34056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PRACTICES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practice on one page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 Admin's home is the list of practices. Each row answers three questions: who runs it, how big it is, and whether it is live.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practices, 15 a page, with region, clinician and patient counts on every row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manager column shows the gap: an Invite link where none exists, an Invited tag until they activate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practice is the only primary button; search and Filters sit beside it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acti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7 OF 38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34056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PRACTICES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Details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before admin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practice opens on four adoption meters, then the record. The first question a Super Admin asks is whether the practice is actually using Inlay.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7 of 10, providers 3 of 6, patients enrolled 103 of 196 (53%), providers behind 1 of 3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Practice, referral, location and clinic manager in Label : Value blocks, with a copyable referral URL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(6) and Users (10) tabs keep the people one click away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actice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8 OF 38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34056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 ·  PRACTICES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Adoption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behind, and by how much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Drilling into a provider shows their enrolment funnel. Upton Hightower, MD is tagged Behind, and the four meters say why.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73 enrolled (21%), 50 pending (68%), 8 declined (11%)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19087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12686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holds 83 of the practice's 214 patients (39%), so his gap is the practice's gap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90461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4060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All (83), Enrolled (15), Pending (50), Declined (8) and Closed (10) filter the list below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ovider Adop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9 OF 38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STAGE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manager arrives the same way: an invitation from the Super Admin, then the shared activation, password and two-factor screens.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10 to 11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991210"/>
            <a:ext cx="3291840" cy="2192365"/>
          </a:xfrm>
          <a:prstGeom prst="roundRect">
            <a:avLst>
              <a:gd name="adj" fmla="val 417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8568" y="103153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7441936" y="103153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7505304" y="103153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Clinic Manager Invi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951" y="1106424"/>
            <a:ext cx="3252338" cy="203271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0" y="3218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Clinic Manager Invitation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15200" y="3474720"/>
            <a:ext cx="3291840" cy="2192365"/>
          </a:xfrm>
          <a:prstGeom prst="roundRect">
            <a:avLst>
              <a:gd name="adj" fmla="val 417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78568" y="351504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7441936" y="351504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7505304" y="351504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Clinic Manager Activ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51" y="3589934"/>
            <a:ext cx="3252338" cy="203271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15200" y="570219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Clinic Manager Activation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216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ONBOARDING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Invitation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Invited with the practice attached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manager's email names the practice they are joining. Marcus Whitfield is invited to run Harborview Longevity Clinic by the Super Admin who created it.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reads Clinic Manager, marcus.whitfield@harborviewlongevity.com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 says what the role is for: clinicians, patients and settings in one place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code, same 48-hour expiry, same layout as every other invitation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Clinic Manager Invi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 OF 38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15216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15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ONBOARDING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Activation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organization ID, handed over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for a practice account adds one line the Super Admin never needed: the Organization ID the clinic manager will sign in with.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ID : 954150 sits under Verify code and matches the practice ID on the Super Admin list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shown is on the practice domain, confirming the right account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and two-factor follow exactly as in the Super Admin flow, so they are not repeated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Clinic Manager Activ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 OF 38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STAGE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and non-clinical staff share one Users area with two tabs. The clinic manager adds, invites and maintains them.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276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12 to 14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850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6204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543906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Provi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668" y="1615059"/>
            <a:ext cx="2448288" cy="15301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Providers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043416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91118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9138820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8652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Provider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284" y="1615059"/>
            <a:ext cx="2448288" cy="1530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43416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Provider Details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722108" y="3474720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69810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7817512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19"/>
          <p:cNvSpPr/>
          <p:nvPr/>
        </p:nvSpPr>
        <p:spPr>
          <a:xfrm>
            <a:off x="7865214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4" name="Image 2" descr="Non-Clinical 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976" y="3561451"/>
            <a:ext cx="2448288" cy="15301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722108" y="516508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Non-Clinical Users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633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6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USERS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Fifty-one providers, one table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open the clinic manager's portal. Every row carries what an administrator checks: role, NPI, contact and whether the person has ever signed in.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 (51) and Non-clinical users (50) as tabs, so both groups share one screen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login "Never" beside an Invited tag shows at once who has not activated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add next to Add provider, for a practice onboarding many clinicians at once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ovi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 OF 38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633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6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USERS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Details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profile, not a form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provider's page reads like a profile card. Elise Harrington's credentials, contact details and role are grouped into labelled sections.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PR3132, MD, NPI 1271828182 and taxonomy 207R00000X Internal Medicine in the first block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SSN masked to ***-**-1842; empty fields read "Not provided" in grey rather than sitting blank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Supervising provider, with Add signature waiting in its own card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ovider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 OF 38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77633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776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USERS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Non-Clinical Users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by what they actually do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tab lists the people who keep the practice running. Role is Staff; the sub role says what each person does.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desk, Nurse, Care coordinator and Medical assistant as sub roles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Whitfield is tagged You: Clinic manager, sub role Practice admin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Invited and Inactive tags beside Last activity show who really uses the portal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Non-Clinical 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 OF 38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STAGE 05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manager adds and maintains patients and resolves possible duplicates. They see demographics and enrolment, never the medical record.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15 to 19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93295" y="844702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35367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6777438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819509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Pati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7011" y="921196"/>
            <a:ext cx="2158097" cy="134881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693295" y="2342015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Patients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043416" y="844702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85487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9127559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69630" y="87147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Add Pati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132" y="921196"/>
            <a:ext cx="2158097" cy="134881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43416" y="2342015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Add Patient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693295" y="2598047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35367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6777438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19"/>
          <p:cNvSpPr/>
          <p:nvPr/>
        </p:nvSpPr>
        <p:spPr>
          <a:xfrm>
            <a:off x="6819509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4" name="Image 2" descr="Patient Deta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11" y="2674541"/>
            <a:ext cx="2158097" cy="134881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693295" y="4095361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Patient Details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9043416" y="2598047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085487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8" name="Shape 23"/>
          <p:cNvSpPr/>
          <p:nvPr/>
        </p:nvSpPr>
        <p:spPr>
          <a:xfrm>
            <a:off x="9127559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9" name="Shape 24"/>
          <p:cNvSpPr/>
          <p:nvPr/>
        </p:nvSpPr>
        <p:spPr>
          <a:xfrm>
            <a:off x="9169630" y="2624820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30" name="Image 3" descr="Possible Duplicat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132" y="2674541"/>
            <a:ext cx="2158097" cy="134881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43416" y="4095361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Possible Duplicates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868356" y="4351393"/>
            <a:ext cx="2185529" cy="1456165"/>
          </a:xfrm>
          <a:prstGeom prst="roundRect">
            <a:avLst>
              <a:gd name="adj" fmla="val 4503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910427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34" name="Shape 28"/>
          <p:cNvSpPr/>
          <p:nvPr/>
        </p:nvSpPr>
        <p:spPr>
          <a:xfrm>
            <a:off x="7952498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35" name="Shape 29"/>
          <p:cNvSpPr/>
          <p:nvPr/>
        </p:nvSpPr>
        <p:spPr>
          <a:xfrm>
            <a:off x="7994570" y="4378165"/>
            <a:ext cx="24478" cy="24478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36" name="Image 4" descr="Duplicate Revie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072" y="4427886"/>
            <a:ext cx="2158097" cy="1348811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868356" y="5848706"/>
            <a:ext cx="21855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Duplicate Review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960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9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surface first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list opens with a banner, not the table. Possible duplicates are the one job only the clinic manager can do, so they come first.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possible duplicates need review" with a single Review button above the list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(131), Active (80) and Inactive (51); statuses include Discharged as well as Active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and Primary provider on every row; no clinical columns appear in this portal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ati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 OF 38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960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9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Patient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fields before the full form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patient starts with a short dialog. The identifying details come first, so a match can be caught before anyone fills in a full profile.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name, Last name, Date of birth and Sex at birth are required; Email and Mobile number complete the match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and Continue are the only actions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90461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4060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form waits behind the dialog, sectioned into basic details, additional details and care team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Add Pati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 OF 38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960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9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Details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Demographics, not diagnoses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manager's view of a patient stops at the profile. Olivia Bennett's contact details, care team and enrolment are here; her health record is not.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team names the location, La Jolla, and the primary provider, Elise Harrington, MD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Enrollment card reads Invite: Accepted, Invited: Aug 25, 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fields read Not provided, so a gap is visible rather than hidden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atient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 OF 38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960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9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Duplicates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pair was flagged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pairs an incoming patient with the existing record it resembles, and says what matched. Nothing is merged automatically.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on names the evidence: name and date of birth, date of birth and email, name and mobile number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shows Bulk import or Manual; Sent by shows whether a provider or the clinic manager added it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queue, each with one Review button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ossible Duplic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 OF 38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960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9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Review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Compare, then resolve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puts both records side by side, field by field. Matches and differences are tinted, so the decision takes seconds.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date of birth, sex, location and primary provider Match; email, mobile and address Differ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record P10291, Active, against an incoming Bulk import record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Resolve button, with the trail kept: Sent by Marcus Whitfield on Oct 8,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Duplicate Re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 OF 38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STAGE 06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site the practice runs, with its identifiers, address and working hours. Locations feed the provider and patient forms.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276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20 to 22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850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6204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543906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Lo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668" y="1615059"/>
            <a:ext cx="2448288" cy="15301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Locations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043416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91118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9138820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8652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Add L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284" y="1615059"/>
            <a:ext cx="2448288" cy="1530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43416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 Add Location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722108" y="3474720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69810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7817512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19"/>
          <p:cNvSpPr/>
          <p:nvPr/>
        </p:nvSpPr>
        <p:spPr>
          <a:xfrm>
            <a:off x="7865214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4" name="Image 2" descr="Location Deta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976" y="3561451"/>
            <a:ext cx="2448288" cy="15301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722108" y="516508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 Location Details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03548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03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LOCATIONS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Fifty sites, the primary marked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locations list gives each site an ID, specialty, address and contact line. The primary location is tagged so it is never confused with the rest.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(50), Active (44) and Inactive (6)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19087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12686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Jolla carries a Primary tag; Virtual Care is listed as a location of its own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90461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4060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Specialties such as Longevity Medicine, Primary Care and Preventive Medicine on every row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Loc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 OF 38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03548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03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LOCATIONS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Location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Identifiers once, defaults everywhere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location form is split into basic details, practice address and working hours. Common values are pre-set, so most locations need little typing.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of service defaults to 11 Office, time zone to Pacific (PT), state to 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NPI, taxonomy code and FTIN are captured once for the whole site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start at 08:00 AM to 05:00 PM, with a copy icon to repeat a day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Add L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21 OF 38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03548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03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MANAGER  ·  LOCATIONS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Details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site, one page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location page mirrors the form in read mode. Everything a front desk or biller needs about La Jolla is on one screen.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1079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04393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LOC1001, place of service 11 Office, specialty Longevity Medicine 2083P0500X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8216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757676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Providers: 5, linking the site to the people who work there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37057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306570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as a week strip: Monday to Friday 08:00 AM to 05:00 PM, weekends Closed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Location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 OF 38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STAGE 07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Patients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81984"/>
            <a:ext cx="484632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 is invited by their clinic manager, signs in through the shared screens and lands on their patient list.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36092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23 to 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991210"/>
            <a:ext cx="3291840" cy="2192365"/>
          </a:xfrm>
          <a:prstGeom prst="roundRect">
            <a:avLst>
              <a:gd name="adj" fmla="val 417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8568" y="103153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7441936" y="103153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7505304" y="103153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Provider Invit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951" y="1106424"/>
            <a:ext cx="3252338" cy="203271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0" y="32186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Provider Invitation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315200" y="3474720"/>
            <a:ext cx="3291840" cy="2192365"/>
          </a:xfrm>
          <a:prstGeom prst="roundRect">
            <a:avLst>
              <a:gd name="adj" fmla="val 4171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78568" y="351504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7441936" y="351504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7505304" y="3515045"/>
            <a:ext cx="36869" cy="36869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Provider Patient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51" y="3589934"/>
            <a:ext cx="3252338" cy="203271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315200" y="570219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 Provider Patient List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58456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584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ONBOARDING AND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Invitation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Invited to add patients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provider's invitation comes from their own clinic manager. It states the job in one line: add your patients and invite them to the Inlay Health app.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Whitfield, clinic manager at Harborview Longevity Clinic, is named as the sender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ticket reads Provider, elise.harrington@harborviewlongevity.com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invitation is requested from Marcus, the person who sent this one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ovider Invi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23 OF 38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2584562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2584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ONBOARDING AND PATIENTS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Patient List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status on every row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provider's patient list adds what the clinic manager's leaves out: the state of each health record and when it last synced.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record column: Synced, Waiting for consent, Record building, Sync failed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sync reads Today, 5:00 AM or Yesterday, 5:00 AM, so a stale record stands out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patient and Bulk add sit here too; adding a patient sends the invitation at once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Provider Patient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24 OF 38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STAGE 08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States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consent, during the first sync and after a failure, the chart says exactly what is happening and what the provider can do.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25 to 27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850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6204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6543906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2" name="Image 0" descr="Waiting for Cons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668" y="1615059"/>
            <a:ext cx="2448288" cy="15301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0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 Waiting for Consent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043416" y="1528328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91118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9138820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86522" y="1558684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18" name="Image 1" descr="Building the Rec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284" y="1615059"/>
            <a:ext cx="2448288" cy="1530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043416" y="3218688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 Building the Record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722108" y="3474720"/>
            <a:ext cx="2478024" cy="1650364"/>
          </a:xfrm>
          <a:prstGeom prst="roundRect">
            <a:avLst>
              <a:gd name="adj" fmla="val 4505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69810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2" name="Shape 18"/>
          <p:cNvSpPr/>
          <p:nvPr/>
        </p:nvSpPr>
        <p:spPr>
          <a:xfrm>
            <a:off x="7817512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19"/>
          <p:cNvSpPr/>
          <p:nvPr/>
        </p:nvSpPr>
        <p:spPr>
          <a:xfrm>
            <a:off x="7865214" y="3505076"/>
            <a:ext cx="27754" cy="27754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4" name="Image 2" descr="Sync Fail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976" y="3561451"/>
            <a:ext cx="2448288" cy="15301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722108" y="516508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 Sync Failed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749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RECORD STATES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Consent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Empty, and honest about it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patient consents in the app, there is no record to show. The chart says so plainly instead of showing empty tables.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sync: Waiting for consent, with Sync now greyed out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84416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78015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record yet" says the chart fills in once Harrison consents and the EHR returns the record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55790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9389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chart navigation stays visible, so the provider learns the layout before data arrives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Waiting for Cons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 OF 38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749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RECORD STATES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Record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arrive as they report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consent is given, the record is collected from the connected sources. The provider sees what is happening, not a spinner.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"Building the record": the EHR connection is still collecting, and results appear as each source reports in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now in both the banner and the empty state, for a provider who wants to check again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sync Today 5:00 AM shows the connection is live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Building the Rec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 OF 38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92749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927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RECORD STATES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Failed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failure, with a reason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sync fails, the chart names the source and the likely cause. The provider can fix it or retry, rather than guess.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1079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043936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"Scripps Health (Epic) returned no documents for this patient"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65683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592830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likely cause is stated: the name or date of birth may not match the hospital's record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37057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306570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sync appears twice: in red in the banner and again under the message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Sync Fail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 OF 38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E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STAGE 09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69264" y="23408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Chart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63824"/>
            <a:ext cx="4846320" cy="69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screens from one chart. The dashboard says what changed since the last review; the sections behind it hold the full record, source by source.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4507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28 to 38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00368" y="832307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9" name="Image 0" descr="Dashboard: Free Mem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084" y="905459"/>
            <a:ext cx="1503341" cy="9395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00368" y="1897482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 Dashboard: Free Member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195733" y="832307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2" name="Image 1" descr="Dashboard: Optimization Mem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449" y="905459"/>
            <a:ext cx="1503341" cy="9395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195733" y="1897482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 Dashboard: Optimization Member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891099" y="832307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5" name="Image 2" descr="Face She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815" y="905459"/>
            <a:ext cx="1503341" cy="9395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891099" y="1897482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 Face Sheet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6500368" y="2153514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18" name="Image 3" descr="Time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084" y="2226666"/>
            <a:ext cx="1503341" cy="93958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00368" y="3218688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 Timeline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8195733" y="2153514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1" name="Image 4" descr="Encount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449" y="2226666"/>
            <a:ext cx="1503341" cy="93958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195733" y="3218688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 Encounters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9891099" y="2153514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4" name="Image 5" descr="Diagnos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4815" y="2226666"/>
            <a:ext cx="1503341" cy="93958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891099" y="3218688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 Diagnoses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6500368" y="3474720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27" name="Image 6" descr="Medicatio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084" y="3547872"/>
            <a:ext cx="1503341" cy="93958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500368" y="4539894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 Medications</a:t>
            </a:r>
            <a:endParaRPr lang="en-US" sz="800" dirty="0"/>
          </a:p>
        </p:txBody>
      </p:sp>
      <p:sp>
        <p:nvSpPr>
          <p:cNvPr id="29" name="Shape 20"/>
          <p:cNvSpPr/>
          <p:nvPr/>
        </p:nvSpPr>
        <p:spPr>
          <a:xfrm>
            <a:off x="8195733" y="3474720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0" name="Image 7" descr="Vital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9449" y="3547872"/>
            <a:ext cx="1503341" cy="93958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195733" y="4539894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 Vitals</a:t>
            </a:r>
            <a:endParaRPr lang="en-US" sz="800" dirty="0"/>
          </a:p>
        </p:txBody>
      </p:sp>
      <p:sp>
        <p:nvSpPr>
          <p:cNvPr id="32" name="Shape 22"/>
          <p:cNvSpPr/>
          <p:nvPr/>
        </p:nvSpPr>
        <p:spPr>
          <a:xfrm>
            <a:off x="9891099" y="3474720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3" name="Image 8" descr="Lab Result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4815" y="3547872"/>
            <a:ext cx="1503341" cy="93958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9891099" y="4539894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 Lab Results</a:t>
            </a:r>
            <a:endParaRPr lang="en-US" sz="800" dirty="0"/>
          </a:p>
        </p:txBody>
      </p:sp>
      <p:sp>
        <p:nvSpPr>
          <p:cNvPr id="35" name="Shape 24"/>
          <p:cNvSpPr/>
          <p:nvPr/>
        </p:nvSpPr>
        <p:spPr>
          <a:xfrm>
            <a:off x="7348051" y="4795926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6" name="Image 9" descr="Imagi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1767" y="4869078"/>
            <a:ext cx="1503341" cy="93958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348051" y="5861101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 Imaging</a:t>
            </a:r>
            <a:endParaRPr lang="en-US" sz="800" dirty="0"/>
          </a:p>
        </p:txBody>
      </p:sp>
      <p:sp>
        <p:nvSpPr>
          <p:cNvPr id="38" name="Shape 26"/>
          <p:cNvSpPr/>
          <p:nvPr/>
        </p:nvSpPr>
        <p:spPr>
          <a:xfrm>
            <a:off x="9043416" y="4795926"/>
            <a:ext cx="1530773" cy="1043601"/>
          </a:xfrm>
          <a:prstGeom prst="roundRect">
            <a:avLst>
              <a:gd name="adj" fmla="val 4400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pic>
        <p:nvPicPr>
          <p:cNvPr id="39" name="Image 10" descr="Document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7132" y="4869078"/>
            <a:ext cx="1503341" cy="939588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043416" y="5861101"/>
            <a:ext cx="15307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 Documents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Free Member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you last looked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822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opens on change, not on everything. For Olivia Bennett, a free member, an ED visit leads with the four changes it brought. Recommend optimization sits one click away.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82930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76529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visit banner: potassium 4.4 → 5.8, atorvastatin 10 mg → 20 mg, metoprolol not on your list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5430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47903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updates 9: Action needed 5 and For review 4, new since 07/02/2026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2567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19277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side panel opens on the top item, with Mark reviewed, Open encounters and Open documents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Dashboard: Free Mem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 OF 38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Optimization Member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dashboard, a member's priorities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Optimization member gets the same dashboard, led by whatever is moving. For Marcus Hale it opens on declining kidney function.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eGFR 67 → 62, lisinopril doubled, renal ultrasound 18 days overdue, urine ACR never tested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panel: current eGFR 62 against a range of ≥ 60, down 7%, with an eight-result trend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fit the finding: View full trend, Order Urine ACR, Add to care plan, Mark reviewed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Dashboard: Optimization Mem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38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Sheet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record on one page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face sheet gives each part of the record a card, three columns wide. Every card shows the latest entries and a View all.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Allergies with severity: penicillin Moderate, shellfish Severe, pollen Mild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results count flags inline: metabolic panel, 3 tests, 2 flagged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904613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40605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grip on every card lets each provider rearrange the sheet; Print chart sits top right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Face She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30 OF 38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event, in date order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timeline lays the record out by day, newest first. Vaccines, documents, encounters and results run in one stream.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29526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23126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08/26/2026 holds 11 events: an annual physical, a lab draw and the results that followed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00900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94500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names its type, status and source, such as Encounter: Completed or Lab result: Final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72274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658741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 filter at the top narrows the stream to one kind of event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Time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31 OF 38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note, as it was written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 list on the left; the selected visit opens as the actual progress note, letterhead and all.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1079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043936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 (7), each tagged In person, Lab, Virtual or Imaging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65683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592830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 physical note shows reason for visit, chief complaint and history of present illness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37057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306570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 sources filter above, Print and Download below the paper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Encount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32 OF 38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above historical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diagnosis carries its ICD-10 code, type and dates, with a short note on why it matters now.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1079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04393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R73.03 Prediabetes, E78.5 Hyperlipidemia and R03.0 Elevated blood pressure reading are Active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8216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75767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conditions stay as Historical with an end date, such as gestational diabetes in 2006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53542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7141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diagnosis for practice entries, beside source and status filters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Diagno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33 OF 38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Medications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like a prescription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medication shows what, how, how much and who wrote it. Active and past lists sit on separate tabs.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1079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043936"/>
            <a:ext cx="3986784" cy="2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medications (3) and Past medications (1)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65683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592830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Atorvastatin 10 mg tablet: take 1 tablet by mouth at bedtime, 30 tablets, Dr. Elise Harrington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370578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306570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RxNorm code on every row, such as 617312, for matching the same drug across sources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Medic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34 OF 38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outliers are coloured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vital gets a card with the latest value, the previous one and a plain note. Only readings outside range are coloured.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45465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39064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 130/80 mmHg and BMI 26.6 in red, each noted Above normal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16839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10438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previous value sits under each reading: 136/88 mmHg, 81 bpm, 75.3 kg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8821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1812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Card, Trend and Table views, with the LOINC code and who took each reading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Vit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35 OF 38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report, with flags counted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reports list with their flag counts. The selected one opens as the lab's own patient report.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45465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39064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Metabolic panel, 2 flagged: hemoglobin A1C 6.1 H, fasting glucose 104 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16839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10438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Previous column gives the last value and date: 5.9 on 04/09/2026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88213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81812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times, fasting status and ordering provider in the report header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Lab Resul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36 OF 38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76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 reports, read in place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63194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14828"/>
            <a:ext cx="4251960" cy="63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Imaging studies open as the radiology report itself, on the imaging centre's letterhead: exam, history, technique and comparison.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64197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57797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Imaging (4): DEXA, screening mammogram, abdominal ultrasound and chest X-ray, all Final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435571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429171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block names CPT 77080, the referring clinic, the technologist and the reading physician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5069459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5005451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imaging result covers studies done outside the connected sources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Imag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37 OF 38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327648"/>
            <a:ext cx="11055096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CARE TEAM PORTALS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2736" y="274320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600" dirty="0"/>
          </a:p>
        </p:txBody>
      </p:sp>
      <p:pic>
        <p:nvPicPr>
          <p:cNvPr id="8" name="Image 0" descr="Inlay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042416"/>
            <a:ext cx="1879144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042416"/>
            <a:ext cx="1879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60" kern="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 ·  PATIENT CHART</a:t>
            </a:r>
            <a:endParaRPr lang="en-US" sz="76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4813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1773936"/>
            <a:ext cx="4434840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the record holds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77240" y="2285238"/>
            <a:ext cx="1051560" cy="0"/>
          </a:xfrm>
          <a:prstGeom prst="line">
            <a:avLst/>
          </a:prstGeom>
          <a:noFill/>
          <a:ln w="19050">
            <a:solidFill>
              <a:srgbClr val="3E645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468118"/>
            <a:ext cx="4251960" cy="447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gathers every C-CDA and PDF received for the patient, newest first, each opening in place.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" y="310794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42416" y="304393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(10), each tagged C-CDA or PDF with its source and date received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" y="382168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42416" y="375767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Scripps Health continuity of care document opens with author, custodian and encounter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4535424"/>
            <a:ext cx="64008" cy="64008"/>
          </a:xfrm>
          <a:prstGeom prst="rect">
            <a:avLst/>
          </a:prstGeom>
          <a:solidFill>
            <a:srgbClr val="0E8C7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42416" y="4471416"/>
            <a:ext cx="3986784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 adds a practice file; Print and Download sit under every viewer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197407"/>
            <a:ext cx="6263640" cy="4171584"/>
          </a:xfrm>
          <a:prstGeom prst="roundRect">
            <a:avLst>
              <a:gd name="adj" fmla="val 2192"/>
            </a:avLst>
          </a:prstGeom>
          <a:solidFill>
            <a:srgbClr val="1E2B28"/>
          </a:solidFill>
          <a:ln w="6350">
            <a:solidFill>
              <a:srgbClr val="1E2B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985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3" name="Shape 20"/>
          <p:cNvSpPr/>
          <p:nvPr/>
        </p:nvSpPr>
        <p:spPr>
          <a:xfrm>
            <a:off x="5910430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005" y="1274136"/>
            <a:ext cx="70153" cy="70153"/>
          </a:xfrm>
          <a:prstGeom prst="ellipse">
            <a:avLst/>
          </a:prstGeom>
          <a:solidFill>
            <a:srgbClr val="5E716C"/>
          </a:solidFill>
          <a:ln/>
        </p:spPr>
      </p:sp>
      <p:pic>
        <p:nvPicPr>
          <p:cNvPr id="25" name="Image 1" descr="Docu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862" y="1416634"/>
            <a:ext cx="6188476" cy="38677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38 OF 38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Inlay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Care Team Portals</dc:title>
  <dc:subject>PptxGenJS Presentation</dc:subject>
  <dc:creator>PptxGenJS</dc:creator>
  <cp:lastModifiedBy>PptxGenJS</cp:lastModifiedBy>
  <cp:revision>1</cp:revision>
  <dcterms:created xsi:type="dcterms:W3CDTF">2026-10-09T05:40:40Z</dcterms:created>
  <dcterms:modified xsi:type="dcterms:W3CDTF">2026-10-09T05:40:40Z</dcterms:modified>
</cp:coreProperties>
</file>