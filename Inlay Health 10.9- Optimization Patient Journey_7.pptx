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4" d="100"/>
          <a:sy n="124" d="100"/>
        </p:scale>
        <p:origin x="28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188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25.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2.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6459"/>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E6459"/>
          </a:solidFill>
          <a:ln/>
        </p:spPr>
        <p:txBody>
          <a:bodyPr/>
          <a:lstStyle/>
          <a:p>
            <a:endParaRPr lang="en-US"/>
          </a:p>
        </p:txBody>
      </p:sp>
      <p:sp>
        <p:nvSpPr>
          <p:cNvPr id="3" name="Shape 1"/>
          <p:cNvSpPr/>
          <p:nvPr/>
        </p:nvSpPr>
        <p:spPr>
          <a:xfrm>
            <a:off x="822960" y="0"/>
            <a:ext cx="0" cy="6858000"/>
          </a:xfrm>
          <a:prstGeom prst="line">
            <a:avLst/>
          </a:prstGeom>
          <a:noFill/>
          <a:ln w="6350">
            <a:solidFill>
              <a:srgbClr val="FFFFFF">
                <a:alpha val="8000"/>
              </a:srgbClr>
            </a:solidFill>
            <a:prstDash val="solid"/>
          </a:ln>
        </p:spPr>
        <p:txBody>
          <a:bodyPr/>
          <a:lstStyle/>
          <a:p>
            <a:endParaRPr lang="en-US"/>
          </a:p>
        </p:txBody>
      </p:sp>
      <p:sp>
        <p:nvSpPr>
          <p:cNvPr id="4" name="Shape 2"/>
          <p:cNvSpPr/>
          <p:nvPr/>
        </p:nvSpPr>
        <p:spPr>
          <a:xfrm>
            <a:off x="1207008" y="0"/>
            <a:ext cx="0" cy="6858000"/>
          </a:xfrm>
          <a:prstGeom prst="line">
            <a:avLst/>
          </a:prstGeom>
          <a:noFill/>
          <a:ln w="6350">
            <a:solidFill>
              <a:srgbClr val="FFFFFF">
                <a:alpha val="8000"/>
              </a:srgbClr>
            </a:solidFill>
            <a:prstDash val="solid"/>
          </a:ln>
        </p:spPr>
        <p:txBody>
          <a:bodyPr/>
          <a:lstStyle/>
          <a:p>
            <a:endParaRPr lang="en-US"/>
          </a:p>
        </p:txBody>
      </p:sp>
      <p:sp>
        <p:nvSpPr>
          <p:cNvPr id="5" name="Shape 3"/>
          <p:cNvSpPr/>
          <p:nvPr/>
        </p:nvSpPr>
        <p:spPr>
          <a:xfrm>
            <a:off x="1591056" y="0"/>
            <a:ext cx="0" cy="6858000"/>
          </a:xfrm>
          <a:prstGeom prst="line">
            <a:avLst/>
          </a:prstGeom>
          <a:noFill/>
          <a:ln w="6350">
            <a:solidFill>
              <a:srgbClr val="FFFFFF">
                <a:alpha val="8000"/>
              </a:srgbClr>
            </a:solidFill>
            <a:prstDash val="solid"/>
          </a:ln>
        </p:spPr>
        <p:txBody>
          <a:bodyPr/>
          <a:lstStyle/>
          <a:p>
            <a:endParaRPr lang="en-US"/>
          </a:p>
        </p:txBody>
      </p:sp>
      <p:sp>
        <p:nvSpPr>
          <p:cNvPr id="6" name="Shape 4"/>
          <p:cNvSpPr/>
          <p:nvPr/>
        </p:nvSpPr>
        <p:spPr>
          <a:xfrm>
            <a:off x="1975104" y="0"/>
            <a:ext cx="0" cy="6858000"/>
          </a:xfrm>
          <a:prstGeom prst="line">
            <a:avLst/>
          </a:prstGeom>
          <a:noFill/>
          <a:ln w="6350">
            <a:solidFill>
              <a:srgbClr val="FFFFFF">
                <a:alpha val="8000"/>
              </a:srgbClr>
            </a:solidFill>
            <a:prstDash val="solid"/>
          </a:ln>
        </p:spPr>
        <p:txBody>
          <a:bodyPr/>
          <a:lstStyle/>
          <a:p>
            <a:endParaRPr lang="en-US"/>
          </a:p>
        </p:txBody>
      </p:sp>
      <p:pic>
        <p:nvPicPr>
          <p:cNvPr id="7" name="Image 0" descr="deck/logo_light.png"/>
          <p:cNvPicPr>
            <a:picLocks noChangeAspect="1"/>
          </p:cNvPicPr>
          <p:nvPr/>
        </p:nvPicPr>
        <p:blipFill>
          <a:blip r:embed="rId3"/>
          <a:stretch>
            <a:fillRect/>
          </a:stretch>
        </p:blipFill>
        <p:spPr>
          <a:xfrm>
            <a:off x="822960" y="713232"/>
            <a:ext cx="2148840" cy="502920"/>
          </a:xfrm>
          <a:prstGeom prst="rect">
            <a:avLst/>
          </a:prstGeom>
        </p:spPr>
      </p:pic>
      <p:sp>
        <p:nvSpPr>
          <p:cNvPr id="8" name="Text 5"/>
          <p:cNvSpPr/>
          <p:nvPr/>
        </p:nvSpPr>
        <p:spPr>
          <a:xfrm>
            <a:off x="822960" y="1783080"/>
            <a:ext cx="6400800" cy="274320"/>
          </a:xfrm>
          <a:prstGeom prst="rect">
            <a:avLst/>
          </a:prstGeom>
          <a:noFill/>
          <a:ln/>
        </p:spPr>
        <p:txBody>
          <a:bodyPr wrap="square" rtlCol="0" anchor="ctr"/>
          <a:lstStyle/>
          <a:p>
            <a:pPr marL="0" indent="0">
              <a:buNone/>
            </a:pPr>
            <a:r>
              <a:rPr lang="en-US" sz="1050" b="1" kern="0" spc="320" dirty="0">
                <a:solidFill>
                  <a:srgbClr val="A9C4BA"/>
                </a:solidFill>
                <a:latin typeface="Arial" pitchFamily="34" charset="0"/>
                <a:ea typeface="Arial" pitchFamily="34" charset="-122"/>
                <a:cs typeface="Arial" pitchFamily="34" charset="-120"/>
              </a:rPr>
              <a:t>OPTIMIZATION PROGRAM</a:t>
            </a:r>
            <a:endParaRPr lang="en-US" sz="1050" dirty="0"/>
          </a:p>
        </p:txBody>
      </p:sp>
      <p:sp>
        <p:nvSpPr>
          <p:cNvPr id="9" name="Text 6"/>
          <p:cNvSpPr/>
          <p:nvPr/>
        </p:nvSpPr>
        <p:spPr>
          <a:xfrm>
            <a:off x="786384" y="2103120"/>
            <a:ext cx="8229600" cy="960120"/>
          </a:xfrm>
          <a:prstGeom prst="rect">
            <a:avLst/>
          </a:prstGeom>
          <a:noFill/>
          <a:ln/>
        </p:spPr>
        <p:txBody>
          <a:bodyPr wrap="square" rtlCol="0" anchor="ctr"/>
          <a:lstStyle/>
          <a:p>
            <a:pPr marL="0" indent="0">
              <a:buNone/>
            </a:pPr>
            <a:r>
              <a:rPr lang="en-US" sz="5000" b="1" kern="0" spc="-120" dirty="0">
                <a:solidFill>
                  <a:srgbClr val="FFFFFF"/>
                </a:solidFill>
                <a:latin typeface="Arial" pitchFamily="34" charset="0"/>
                <a:ea typeface="Arial" pitchFamily="34" charset="-122"/>
                <a:cs typeface="Arial" pitchFamily="34" charset="-120"/>
              </a:rPr>
              <a:t>The Patient Journey</a:t>
            </a:r>
            <a:endParaRPr lang="en-US" sz="5000" dirty="0"/>
          </a:p>
        </p:txBody>
      </p:sp>
      <p:sp>
        <p:nvSpPr>
          <p:cNvPr id="10" name="Text 7"/>
          <p:cNvSpPr/>
          <p:nvPr/>
        </p:nvSpPr>
        <p:spPr>
          <a:xfrm>
            <a:off x="822960" y="3127248"/>
            <a:ext cx="6766560" cy="731520"/>
          </a:xfrm>
          <a:prstGeom prst="rect">
            <a:avLst/>
          </a:prstGeom>
          <a:noFill/>
          <a:ln/>
        </p:spPr>
        <p:txBody>
          <a:bodyPr wrap="square" rtlCol="0" anchor="ctr"/>
          <a:lstStyle/>
          <a:p>
            <a:pPr marL="0" indent="0">
              <a:lnSpc>
                <a:spcPts val="2400"/>
              </a:lnSpc>
              <a:buNone/>
            </a:pPr>
            <a:r>
              <a:rPr lang="en-US" sz="1550" dirty="0">
                <a:solidFill>
                  <a:srgbClr val="D5E2DC"/>
                </a:solidFill>
                <a:latin typeface="Arial" pitchFamily="34" charset="0"/>
                <a:ea typeface="Arial" pitchFamily="34" charset="-122"/>
                <a:cs typeface="Arial" pitchFamily="34" charset="-120"/>
              </a:rPr>
              <a:t>Twenty-three screens, from the first look at the program to the morning Inlay sees what is coming next.</a:t>
            </a:r>
            <a:endParaRPr lang="en-US" sz="1550" dirty="0"/>
          </a:p>
        </p:txBody>
      </p:sp>
      <p:sp>
        <p:nvSpPr>
          <p:cNvPr id="11" name="Text 8"/>
          <p:cNvSpPr/>
          <p:nvPr/>
        </p:nvSpPr>
        <p:spPr>
          <a:xfrm>
            <a:off x="841248" y="4114800"/>
            <a:ext cx="3840480" cy="1371600"/>
          </a:xfrm>
          <a:prstGeom prst="rect">
            <a:avLst/>
          </a:prstGeom>
          <a:noFill/>
          <a:ln/>
        </p:spPr>
        <p:txBody>
          <a:bodyPr wrap="square" rtlCol="0" anchor="ctr"/>
          <a:lstStyle/>
          <a:p>
            <a:pPr marL="0" indent="0">
              <a:spcAft>
                <a:spcPts val="700"/>
              </a:spcAft>
              <a:buNone/>
            </a:pPr>
            <a:r>
              <a:rPr lang="en-US" sz="1200" dirty="0">
                <a:solidFill>
                  <a:srgbClr val="C3D6CE"/>
                </a:solidFill>
                <a:latin typeface="Arial" pitchFamily="34" charset="0"/>
                <a:ea typeface="Arial" pitchFamily="34" charset="-122"/>
                <a:cs typeface="Arial" pitchFamily="34" charset="-120"/>
              </a:rPr>
              <a:t>01  Enroll &amp; Set Up</a:t>
            </a:r>
            <a:endParaRPr lang="en-US" sz="1200" dirty="0"/>
          </a:p>
          <a:p>
            <a:pPr marL="0" indent="0">
              <a:spcAft>
                <a:spcPts val="700"/>
              </a:spcAft>
              <a:buNone/>
            </a:pPr>
            <a:r>
              <a:rPr lang="en-US" sz="1200" dirty="0">
                <a:solidFill>
                  <a:srgbClr val="C3D6CE"/>
                </a:solidFill>
                <a:latin typeface="Arial" pitchFamily="34" charset="0"/>
                <a:ea typeface="Arial" pitchFamily="34" charset="-122"/>
                <a:cs typeface="Arial" pitchFamily="34" charset="-120"/>
              </a:rPr>
              <a:t>02  Baseline Testing</a:t>
            </a:r>
            <a:endParaRPr lang="en-US" sz="1200" dirty="0"/>
          </a:p>
          <a:p>
            <a:pPr marL="0" indent="0">
              <a:spcAft>
                <a:spcPts val="700"/>
              </a:spcAft>
              <a:buNone/>
            </a:pPr>
            <a:r>
              <a:rPr lang="en-US" sz="1200" dirty="0">
                <a:solidFill>
                  <a:srgbClr val="C3D6CE"/>
                </a:solidFill>
                <a:latin typeface="Arial" pitchFamily="34" charset="0"/>
                <a:ea typeface="Arial" pitchFamily="34" charset="-122"/>
                <a:cs typeface="Arial" pitchFamily="34" charset="-120"/>
              </a:rPr>
              <a:t>03  Plan Creation &amp; Approval</a:t>
            </a:r>
            <a:endParaRPr lang="en-US" sz="1200" dirty="0"/>
          </a:p>
          <a:p>
            <a:pPr marL="0" indent="0">
              <a:spcAft>
                <a:spcPts val="700"/>
              </a:spcAft>
              <a:buNone/>
            </a:pPr>
            <a:r>
              <a:rPr lang="en-US" sz="1200" dirty="0">
                <a:solidFill>
                  <a:srgbClr val="C3D6CE"/>
                </a:solidFill>
                <a:latin typeface="Arial" pitchFamily="34" charset="0"/>
                <a:ea typeface="Arial" pitchFamily="34" charset="-122"/>
                <a:cs typeface="Arial" pitchFamily="34" charset="-120"/>
              </a:rPr>
              <a:t>04  Daily Use</a:t>
            </a:r>
            <a:endParaRPr lang="en-US" sz="1200" dirty="0"/>
          </a:p>
          <a:p>
            <a:pPr marL="0" indent="0">
              <a:spcAft>
                <a:spcPts val="700"/>
              </a:spcAft>
              <a:buNone/>
            </a:pPr>
            <a:r>
              <a:rPr lang="en-US" sz="1200" dirty="0">
                <a:solidFill>
                  <a:srgbClr val="C3D6CE"/>
                </a:solidFill>
                <a:latin typeface="Arial" pitchFamily="34" charset="0"/>
                <a:ea typeface="Arial" pitchFamily="34" charset="-122"/>
                <a:cs typeface="Arial" pitchFamily="34" charset="-120"/>
              </a:rPr>
              <a:t>05  Inlay Care</a:t>
            </a:r>
            <a:endParaRPr lang="en-US" sz="1200" dirty="0"/>
          </a:p>
        </p:txBody>
      </p:sp>
      <p:pic>
        <p:nvPicPr>
          <p:cNvPr id="12" name="Image 1" descr="deck/tn01.png"/>
          <p:cNvPicPr>
            <a:picLocks noChangeAspect="1"/>
          </p:cNvPicPr>
          <p:nvPr/>
        </p:nvPicPr>
        <p:blipFill>
          <a:blip r:embed="rId4">
            <a:alphaModFix amt="92000"/>
          </a:blip>
          <a:stretch>
            <a:fillRect/>
          </a:stretch>
        </p:blipFill>
        <p:spPr>
          <a:xfrm>
            <a:off x="5212080" y="3611880"/>
            <a:ext cx="384048" cy="831190"/>
          </a:xfrm>
          <a:prstGeom prst="rect">
            <a:avLst/>
          </a:prstGeom>
        </p:spPr>
      </p:pic>
      <p:pic>
        <p:nvPicPr>
          <p:cNvPr id="13" name="Image 2" descr="deck/tn02.png"/>
          <p:cNvPicPr>
            <a:picLocks noChangeAspect="1"/>
          </p:cNvPicPr>
          <p:nvPr/>
        </p:nvPicPr>
        <p:blipFill>
          <a:blip r:embed="rId5">
            <a:alphaModFix amt="92000"/>
          </a:blip>
          <a:stretch>
            <a:fillRect/>
          </a:stretch>
        </p:blipFill>
        <p:spPr>
          <a:xfrm>
            <a:off x="5641848" y="3611880"/>
            <a:ext cx="384048" cy="831190"/>
          </a:xfrm>
          <a:prstGeom prst="rect">
            <a:avLst/>
          </a:prstGeom>
        </p:spPr>
      </p:pic>
      <p:pic>
        <p:nvPicPr>
          <p:cNvPr id="14" name="Image 3" descr="deck/tn03.png"/>
          <p:cNvPicPr>
            <a:picLocks noChangeAspect="1"/>
          </p:cNvPicPr>
          <p:nvPr/>
        </p:nvPicPr>
        <p:blipFill>
          <a:blip r:embed="rId6">
            <a:alphaModFix amt="92000"/>
          </a:blip>
          <a:stretch>
            <a:fillRect/>
          </a:stretch>
        </p:blipFill>
        <p:spPr>
          <a:xfrm>
            <a:off x="6071616" y="3611880"/>
            <a:ext cx="384048" cy="831190"/>
          </a:xfrm>
          <a:prstGeom prst="rect">
            <a:avLst/>
          </a:prstGeom>
        </p:spPr>
      </p:pic>
      <p:pic>
        <p:nvPicPr>
          <p:cNvPr id="15" name="Image 4" descr="deck/tn04.png"/>
          <p:cNvPicPr>
            <a:picLocks noChangeAspect="1"/>
          </p:cNvPicPr>
          <p:nvPr/>
        </p:nvPicPr>
        <p:blipFill>
          <a:blip r:embed="rId7">
            <a:alphaModFix amt="92000"/>
          </a:blip>
          <a:stretch>
            <a:fillRect/>
          </a:stretch>
        </p:blipFill>
        <p:spPr>
          <a:xfrm>
            <a:off x="6501384" y="3611880"/>
            <a:ext cx="384048" cy="831190"/>
          </a:xfrm>
          <a:prstGeom prst="rect">
            <a:avLst/>
          </a:prstGeom>
        </p:spPr>
      </p:pic>
      <p:pic>
        <p:nvPicPr>
          <p:cNvPr id="16" name="Image 5" descr="deck/tn05.png"/>
          <p:cNvPicPr>
            <a:picLocks noChangeAspect="1"/>
          </p:cNvPicPr>
          <p:nvPr/>
        </p:nvPicPr>
        <p:blipFill>
          <a:blip r:embed="rId8">
            <a:alphaModFix amt="92000"/>
          </a:blip>
          <a:stretch>
            <a:fillRect/>
          </a:stretch>
        </p:blipFill>
        <p:spPr>
          <a:xfrm>
            <a:off x="6931152" y="3611880"/>
            <a:ext cx="384048" cy="831190"/>
          </a:xfrm>
          <a:prstGeom prst="rect">
            <a:avLst/>
          </a:prstGeom>
        </p:spPr>
      </p:pic>
      <p:pic>
        <p:nvPicPr>
          <p:cNvPr id="17" name="Image 6" descr="deck/tn06.png"/>
          <p:cNvPicPr>
            <a:picLocks noChangeAspect="1"/>
          </p:cNvPicPr>
          <p:nvPr/>
        </p:nvPicPr>
        <p:blipFill>
          <a:blip r:embed="rId9">
            <a:alphaModFix amt="92000"/>
          </a:blip>
          <a:stretch>
            <a:fillRect/>
          </a:stretch>
        </p:blipFill>
        <p:spPr>
          <a:xfrm>
            <a:off x="7360920" y="3611880"/>
            <a:ext cx="384048" cy="831190"/>
          </a:xfrm>
          <a:prstGeom prst="rect">
            <a:avLst/>
          </a:prstGeom>
        </p:spPr>
      </p:pic>
      <p:pic>
        <p:nvPicPr>
          <p:cNvPr id="18" name="Image 7" descr="deck/tn07.png"/>
          <p:cNvPicPr>
            <a:picLocks noChangeAspect="1"/>
          </p:cNvPicPr>
          <p:nvPr/>
        </p:nvPicPr>
        <p:blipFill>
          <a:blip r:embed="rId10">
            <a:alphaModFix amt="92000"/>
          </a:blip>
          <a:stretch>
            <a:fillRect/>
          </a:stretch>
        </p:blipFill>
        <p:spPr>
          <a:xfrm>
            <a:off x="7790688" y="3611880"/>
            <a:ext cx="384048" cy="831190"/>
          </a:xfrm>
          <a:prstGeom prst="rect">
            <a:avLst/>
          </a:prstGeom>
        </p:spPr>
      </p:pic>
      <p:pic>
        <p:nvPicPr>
          <p:cNvPr id="19" name="Image 8" descr="deck/tn08.png"/>
          <p:cNvPicPr>
            <a:picLocks noChangeAspect="1"/>
          </p:cNvPicPr>
          <p:nvPr/>
        </p:nvPicPr>
        <p:blipFill>
          <a:blip r:embed="rId11">
            <a:alphaModFix amt="92000"/>
          </a:blip>
          <a:stretch>
            <a:fillRect/>
          </a:stretch>
        </p:blipFill>
        <p:spPr>
          <a:xfrm>
            <a:off x="8220456" y="3611880"/>
            <a:ext cx="384048" cy="831190"/>
          </a:xfrm>
          <a:prstGeom prst="rect">
            <a:avLst/>
          </a:prstGeom>
        </p:spPr>
      </p:pic>
      <p:pic>
        <p:nvPicPr>
          <p:cNvPr id="20" name="Image 9" descr="deck/tn09.png"/>
          <p:cNvPicPr>
            <a:picLocks noChangeAspect="1"/>
          </p:cNvPicPr>
          <p:nvPr/>
        </p:nvPicPr>
        <p:blipFill>
          <a:blip r:embed="rId12">
            <a:alphaModFix amt="92000"/>
          </a:blip>
          <a:stretch>
            <a:fillRect/>
          </a:stretch>
        </p:blipFill>
        <p:spPr>
          <a:xfrm>
            <a:off x="8650224" y="3611880"/>
            <a:ext cx="384048" cy="831190"/>
          </a:xfrm>
          <a:prstGeom prst="rect">
            <a:avLst/>
          </a:prstGeom>
        </p:spPr>
      </p:pic>
      <p:pic>
        <p:nvPicPr>
          <p:cNvPr id="21" name="Image 10" descr="deck/tn10.png"/>
          <p:cNvPicPr>
            <a:picLocks noChangeAspect="1"/>
          </p:cNvPicPr>
          <p:nvPr/>
        </p:nvPicPr>
        <p:blipFill>
          <a:blip r:embed="rId13">
            <a:alphaModFix amt="92000"/>
          </a:blip>
          <a:stretch>
            <a:fillRect/>
          </a:stretch>
        </p:blipFill>
        <p:spPr>
          <a:xfrm>
            <a:off x="9079992" y="3611880"/>
            <a:ext cx="384048" cy="831190"/>
          </a:xfrm>
          <a:prstGeom prst="rect">
            <a:avLst/>
          </a:prstGeom>
        </p:spPr>
      </p:pic>
      <p:pic>
        <p:nvPicPr>
          <p:cNvPr id="22" name="Image 11" descr="deck/tn11.png"/>
          <p:cNvPicPr>
            <a:picLocks noChangeAspect="1"/>
          </p:cNvPicPr>
          <p:nvPr/>
        </p:nvPicPr>
        <p:blipFill>
          <a:blip r:embed="rId14">
            <a:alphaModFix amt="92000"/>
          </a:blip>
          <a:stretch>
            <a:fillRect/>
          </a:stretch>
        </p:blipFill>
        <p:spPr>
          <a:xfrm>
            <a:off x="9509760" y="3611880"/>
            <a:ext cx="384048" cy="831190"/>
          </a:xfrm>
          <a:prstGeom prst="rect">
            <a:avLst/>
          </a:prstGeom>
        </p:spPr>
      </p:pic>
      <p:pic>
        <p:nvPicPr>
          <p:cNvPr id="23" name="Image 12" descr="deck/tn12.png"/>
          <p:cNvPicPr>
            <a:picLocks noChangeAspect="1"/>
          </p:cNvPicPr>
          <p:nvPr/>
        </p:nvPicPr>
        <p:blipFill>
          <a:blip r:embed="rId15">
            <a:alphaModFix amt="92000"/>
          </a:blip>
          <a:stretch>
            <a:fillRect/>
          </a:stretch>
        </p:blipFill>
        <p:spPr>
          <a:xfrm>
            <a:off x="9939528" y="3611880"/>
            <a:ext cx="384048" cy="831190"/>
          </a:xfrm>
          <a:prstGeom prst="rect">
            <a:avLst/>
          </a:prstGeom>
        </p:spPr>
      </p:pic>
      <p:pic>
        <p:nvPicPr>
          <p:cNvPr id="24" name="Image 13" descr="deck/tn13.png"/>
          <p:cNvPicPr>
            <a:picLocks noChangeAspect="1"/>
          </p:cNvPicPr>
          <p:nvPr/>
        </p:nvPicPr>
        <p:blipFill>
          <a:blip r:embed="rId16">
            <a:alphaModFix amt="92000"/>
          </a:blip>
          <a:stretch>
            <a:fillRect/>
          </a:stretch>
        </p:blipFill>
        <p:spPr>
          <a:xfrm>
            <a:off x="5212080" y="4471416"/>
            <a:ext cx="384048" cy="831190"/>
          </a:xfrm>
          <a:prstGeom prst="rect">
            <a:avLst/>
          </a:prstGeom>
        </p:spPr>
      </p:pic>
      <p:pic>
        <p:nvPicPr>
          <p:cNvPr id="25" name="Image 14" descr="deck/tn14.png"/>
          <p:cNvPicPr>
            <a:picLocks noChangeAspect="1"/>
          </p:cNvPicPr>
          <p:nvPr/>
        </p:nvPicPr>
        <p:blipFill>
          <a:blip r:embed="rId17">
            <a:alphaModFix amt="92000"/>
          </a:blip>
          <a:stretch>
            <a:fillRect/>
          </a:stretch>
        </p:blipFill>
        <p:spPr>
          <a:xfrm>
            <a:off x="5641848" y="4471416"/>
            <a:ext cx="384048" cy="831190"/>
          </a:xfrm>
          <a:prstGeom prst="rect">
            <a:avLst/>
          </a:prstGeom>
        </p:spPr>
      </p:pic>
      <p:pic>
        <p:nvPicPr>
          <p:cNvPr id="26" name="Image 15" descr="deck/tn15.png"/>
          <p:cNvPicPr>
            <a:picLocks noChangeAspect="1"/>
          </p:cNvPicPr>
          <p:nvPr/>
        </p:nvPicPr>
        <p:blipFill>
          <a:blip r:embed="rId18">
            <a:alphaModFix amt="92000"/>
          </a:blip>
          <a:stretch>
            <a:fillRect/>
          </a:stretch>
        </p:blipFill>
        <p:spPr>
          <a:xfrm>
            <a:off x="6071616" y="4471416"/>
            <a:ext cx="384048" cy="831190"/>
          </a:xfrm>
          <a:prstGeom prst="rect">
            <a:avLst/>
          </a:prstGeom>
        </p:spPr>
      </p:pic>
      <p:pic>
        <p:nvPicPr>
          <p:cNvPr id="27" name="Image 16" descr="deck/tn16.png"/>
          <p:cNvPicPr>
            <a:picLocks noChangeAspect="1"/>
          </p:cNvPicPr>
          <p:nvPr/>
        </p:nvPicPr>
        <p:blipFill>
          <a:blip r:embed="rId19">
            <a:alphaModFix amt="92000"/>
          </a:blip>
          <a:stretch>
            <a:fillRect/>
          </a:stretch>
        </p:blipFill>
        <p:spPr>
          <a:xfrm>
            <a:off x="6501384" y="4471416"/>
            <a:ext cx="384048" cy="831190"/>
          </a:xfrm>
          <a:prstGeom prst="rect">
            <a:avLst/>
          </a:prstGeom>
        </p:spPr>
      </p:pic>
      <p:pic>
        <p:nvPicPr>
          <p:cNvPr id="28" name="Image 17" descr="deck/tn17.png"/>
          <p:cNvPicPr>
            <a:picLocks noChangeAspect="1"/>
          </p:cNvPicPr>
          <p:nvPr/>
        </p:nvPicPr>
        <p:blipFill>
          <a:blip r:embed="rId20">
            <a:alphaModFix amt="92000"/>
          </a:blip>
          <a:stretch>
            <a:fillRect/>
          </a:stretch>
        </p:blipFill>
        <p:spPr>
          <a:xfrm>
            <a:off x="6931152" y="4471416"/>
            <a:ext cx="384048" cy="831190"/>
          </a:xfrm>
          <a:prstGeom prst="rect">
            <a:avLst/>
          </a:prstGeom>
        </p:spPr>
      </p:pic>
      <p:pic>
        <p:nvPicPr>
          <p:cNvPr id="29" name="Image 18" descr="deck/tn18.png"/>
          <p:cNvPicPr>
            <a:picLocks noChangeAspect="1"/>
          </p:cNvPicPr>
          <p:nvPr/>
        </p:nvPicPr>
        <p:blipFill>
          <a:blip r:embed="rId21">
            <a:alphaModFix amt="92000"/>
          </a:blip>
          <a:stretch>
            <a:fillRect/>
          </a:stretch>
        </p:blipFill>
        <p:spPr>
          <a:xfrm>
            <a:off x="7360920" y="4471416"/>
            <a:ext cx="384048" cy="831190"/>
          </a:xfrm>
          <a:prstGeom prst="rect">
            <a:avLst/>
          </a:prstGeom>
        </p:spPr>
      </p:pic>
      <p:pic>
        <p:nvPicPr>
          <p:cNvPr id="30" name="Image 19" descr="deck/tn19.png"/>
          <p:cNvPicPr>
            <a:picLocks noChangeAspect="1"/>
          </p:cNvPicPr>
          <p:nvPr/>
        </p:nvPicPr>
        <p:blipFill>
          <a:blip r:embed="rId22">
            <a:alphaModFix amt="92000"/>
          </a:blip>
          <a:stretch>
            <a:fillRect/>
          </a:stretch>
        </p:blipFill>
        <p:spPr>
          <a:xfrm>
            <a:off x="7790688" y="4471416"/>
            <a:ext cx="384048" cy="831190"/>
          </a:xfrm>
          <a:prstGeom prst="rect">
            <a:avLst/>
          </a:prstGeom>
        </p:spPr>
      </p:pic>
      <p:pic>
        <p:nvPicPr>
          <p:cNvPr id="31" name="Image 20" descr="deck/tn20.png"/>
          <p:cNvPicPr>
            <a:picLocks noChangeAspect="1"/>
          </p:cNvPicPr>
          <p:nvPr/>
        </p:nvPicPr>
        <p:blipFill>
          <a:blip r:embed="rId23">
            <a:alphaModFix amt="92000"/>
          </a:blip>
          <a:stretch>
            <a:fillRect/>
          </a:stretch>
        </p:blipFill>
        <p:spPr>
          <a:xfrm>
            <a:off x="8220456" y="4471416"/>
            <a:ext cx="384048" cy="831190"/>
          </a:xfrm>
          <a:prstGeom prst="rect">
            <a:avLst/>
          </a:prstGeom>
        </p:spPr>
      </p:pic>
      <p:pic>
        <p:nvPicPr>
          <p:cNvPr id="32" name="Image 21" descr="deck/tn21.png"/>
          <p:cNvPicPr>
            <a:picLocks noChangeAspect="1"/>
          </p:cNvPicPr>
          <p:nvPr/>
        </p:nvPicPr>
        <p:blipFill>
          <a:blip r:embed="rId24">
            <a:alphaModFix amt="92000"/>
          </a:blip>
          <a:stretch>
            <a:fillRect/>
          </a:stretch>
        </p:blipFill>
        <p:spPr>
          <a:xfrm>
            <a:off x="8650224" y="4471416"/>
            <a:ext cx="384048" cy="831190"/>
          </a:xfrm>
          <a:prstGeom prst="rect">
            <a:avLst/>
          </a:prstGeom>
        </p:spPr>
      </p:pic>
      <p:pic>
        <p:nvPicPr>
          <p:cNvPr id="33" name="Image 22" descr="deck/tn22.png"/>
          <p:cNvPicPr>
            <a:picLocks noChangeAspect="1"/>
          </p:cNvPicPr>
          <p:nvPr/>
        </p:nvPicPr>
        <p:blipFill>
          <a:blip r:embed="rId25">
            <a:alphaModFix amt="92000"/>
          </a:blip>
          <a:stretch>
            <a:fillRect/>
          </a:stretch>
        </p:blipFill>
        <p:spPr>
          <a:xfrm>
            <a:off x="9079992" y="4471416"/>
            <a:ext cx="384048" cy="831190"/>
          </a:xfrm>
          <a:prstGeom prst="rect">
            <a:avLst/>
          </a:prstGeom>
        </p:spPr>
      </p:pic>
      <p:pic>
        <p:nvPicPr>
          <p:cNvPr id="34" name="Image 23" descr="deck/tn23.png"/>
          <p:cNvPicPr>
            <a:picLocks noChangeAspect="1"/>
          </p:cNvPicPr>
          <p:nvPr/>
        </p:nvPicPr>
        <p:blipFill>
          <a:blip r:embed="rId26">
            <a:alphaModFix amt="92000"/>
          </a:blip>
          <a:stretch>
            <a:fillRect/>
          </a:stretch>
        </p:blipFill>
        <p:spPr>
          <a:xfrm>
            <a:off x="9509760" y="4471416"/>
            <a:ext cx="384048" cy="831190"/>
          </a:xfrm>
          <a:prstGeom prst="rect">
            <a:avLst/>
          </a:prstGeom>
        </p:spPr>
      </p:pic>
      <p:sp>
        <p:nvSpPr>
          <p:cNvPr id="35" name="Text 9"/>
          <p:cNvSpPr/>
          <p:nvPr/>
        </p:nvSpPr>
        <p:spPr>
          <a:xfrm>
            <a:off x="5230368" y="5358384"/>
            <a:ext cx="3657600" cy="274320"/>
          </a:xfrm>
          <a:prstGeom prst="rect">
            <a:avLst/>
          </a:prstGeom>
          <a:noFill/>
          <a:ln/>
        </p:spPr>
        <p:txBody>
          <a:bodyPr wrap="square" rtlCol="0" anchor="ctr"/>
          <a:lstStyle/>
          <a:p>
            <a:pPr marL="0" indent="0">
              <a:buNone/>
            </a:pPr>
            <a:r>
              <a:rPr lang="en-US" sz="900" kern="0" spc="160" dirty="0">
                <a:solidFill>
                  <a:srgbClr val="A9C4BA"/>
                </a:solidFill>
                <a:latin typeface="Arial" pitchFamily="34" charset="0"/>
                <a:ea typeface="Arial" pitchFamily="34" charset="-122"/>
                <a:cs typeface="Arial" pitchFamily="34" charset="-120"/>
              </a:rPr>
              <a:t>23 screens  ·  5 stages</a:t>
            </a:r>
            <a:endParaRPr lang="en-US" sz="900" dirty="0"/>
          </a:p>
        </p:txBody>
      </p:sp>
      <p:sp>
        <p:nvSpPr>
          <p:cNvPr id="36" name="Shape 10"/>
          <p:cNvSpPr/>
          <p:nvPr/>
        </p:nvSpPr>
        <p:spPr>
          <a:xfrm>
            <a:off x="822960" y="5943600"/>
            <a:ext cx="10545775" cy="0"/>
          </a:xfrm>
          <a:prstGeom prst="line">
            <a:avLst/>
          </a:prstGeom>
          <a:noFill/>
          <a:ln w="9525">
            <a:solidFill>
              <a:srgbClr val="FFFFFF">
                <a:alpha val="28000"/>
              </a:srgbClr>
            </a:solidFill>
            <a:prstDash val="solid"/>
          </a:ln>
        </p:spPr>
        <p:txBody>
          <a:bodyPr/>
          <a:lstStyle/>
          <a:p>
            <a:endParaRPr lang="en-US"/>
          </a:p>
        </p:txBody>
      </p:sp>
      <p:sp>
        <p:nvSpPr>
          <p:cNvPr id="37" name="Text 11"/>
          <p:cNvSpPr/>
          <p:nvPr/>
        </p:nvSpPr>
        <p:spPr>
          <a:xfrm>
            <a:off x="822960" y="6053328"/>
            <a:ext cx="5486400" cy="274320"/>
          </a:xfrm>
          <a:prstGeom prst="rect">
            <a:avLst/>
          </a:prstGeom>
          <a:noFill/>
          <a:ln/>
        </p:spPr>
        <p:txBody>
          <a:bodyPr wrap="square" rtlCol="0" anchor="ctr"/>
          <a:lstStyle/>
          <a:p>
            <a:pPr marL="0" indent="0">
              <a:buNone/>
            </a:pPr>
            <a:r>
              <a:rPr lang="en-US" sz="950" kern="0" spc="120" dirty="0">
                <a:solidFill>
                  <a:srgbClr val="A9C4BA"/>
                </a:solidFill>
                <a:latin typeface="Arial" pitchFamily="34" charset="0"/>
                <a:ea typeface="Arial" pitchFamily="34" charset="-122"/>
                <a:cs typeface="Arial" pitchFamily="34" charset="-120"/>
              </a:rPr>
              <a:t>Internal discussion draft  ·  October 2026</a:t>
            </a:r>
            <a:endParaRPr lang="en-US" sz="950" dirty="0"/>
          </a:p>
        </p:txBody>
      </p:sp>
      <p:sp>
        <p:nvSpPr>
          <p:cNvPr id="38" name="Text 12"/>
          <p:cNvSpPr/>
          <p:nvPr/>
        </p:nvSpPr>
        <p:spPr>
          <a:xfrm>
            <a:off x="5852160" y="6053328"/>
            <a:ext cx="5513832" cy="274320"/>
          </a:xfrm>
          <a:prstGeom prst="rect">
            <a:avLst/>
          </a:prstGeom>
          <a:noFill/>
          <a:ln/>
        </p:spPr>
        <p:txBody>
          <a:bodyPr wrap="square" rtlCol="0" anchor="ctr"/>
          <a:lstStyle/>
          <a:p>
            <a:pPr marL="0" indent="0" algn="r">
              <a:buNone/>
            </a:pPr>
            <a:r>
              <a:rPr lang="en-US" sz="950" kern="0" spc="40" dirty="0">
                <a:solidFill>
                  <a:srgbClr val="A9C4BA"/>
                </a:solidFill>
                <a:latin typeface="Arial" pitchFamily="34" charset="0"/>
                <a:ea typeface="Arial" pitchFamily="34" charset="-122"/>
                <a:cs typeface="Arial" pitchFamily="34" charset="-120"/>
              </a:rPr>
              <a:t>Screen content and figures carried forward from the existing mobile set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pic>
        <p:nvPicPr>
          <p:cNvPr id="2" name="Image 0" descr="deck/logo_dark.png"/>
          <p:cNvPicPr>
            <a:picLocks noChangeAspect="1"/>
          </p:cNvPicPr>
          <p:nvPr/>
        </p:nvPicPr>
        <p:blipFill>
          <a:blip r:embed="rId3"/>
          <a:stretch>
            <a:fillRect/>
          </a:stretch>
        </p:blipFill>
        <p:spPr>
          <a:xfrm>
            <a:off x="566928" y="420624"/>
            <a:ext cx="1444752" cy="338328"/>
          </a:xfrm>
          <a:prstGeom prst="rect">
            <a:avLst/>
          </a:prstGeom>
        </p:spPr>
      </p:pic>
      <p:sp>
        <p:nvSpPr>
          <p:cNvPr id="3" name="Text 0"/>
          <p:cNvSpPr/>
          <p:nvPr/>
        </p:nvSpPr>
        <p:spPr>
          <a:xfrm>
            <a:off x="548640" y="914400"/>
            <a:ext cx="7315200" cy="475488"/>
          </a:xfrm>
          <a:prstGeom prst="rect">
            <a:avLst/>
          </a:prstGeom>
          <a:noFill/>
          <a:ln/>
        </p:spPr>
        <p:txBody>
          <a:bodyPr wrap="square" rtlCol="0" anchor="ctr"/>
          <a:lstStyle/>
          <a:p>
            <a:pPr marL="0" indent="0">
              <a:buNone/>
            </a:pPr>
            <a:r>
              <a:rPr lang="en-US" sz="2900" b="1" kern="0" spc="-70" dirty="0">
                <a:solidFill>
                  <a:srgbClr val="20302C"/>
                </a:solidFill>
                <a:latin typeface="Arial" pitchFamily="34" charset="0"/>
                <a:ea typeface="Arial" pitchFamily="34" charset="-122"/>
                <a:cs typeface="Arial" pitchFamily="34" charset="-120"/>
              </a:rPr>
              <a:t>The journey end to end</a:t>
            </a:r>
            <a:endParaRPr lang="en-US" sz="2900" dirty="0"/>
          </a:p>
        </p:txBody>
      </p:sp>
      <p:sp>
        <p:nvSpPr>
          <p:cNvPr id="4" name="Text 1"/>
          <p:cNvSpPr/>
          <p:nvPr/>
        </p:nvSpPr>
        <p:spPr>
          <a:xfrm>
            <a:off x="576072" y="1426464"/>
            <a:ext cx="8229600" cy="310896"/>
          </a:xfrm>
          <a:prstGeom prst="rect">
            <a:avLst/>
          </a:prstGeom>
          <a:noFill/>
          <a:ln/>
        </p:spPr>
        <p:txBody>
          <a:bodyPr wrap="square" rtlCol="0" anchor="ctr"/>
          <a:lstStyle/>
          <a:p>
            <a:pPr marL="0" indent="0">
              <a:buNone/>
            </a:pPr>
            <a:r>
              <a:rPr lang="en-US" sz="1300" dirty="0">
                <a:solidFill>
                  <a:srgbClr val="5E716C"/>
                </a:solidFill>
                <a:latin typeface="Arial" pitchFamily="34" charset="0"/>
                <a:ea typeface="Arial" pitchFamily="34" charset="-122"/>
                <a:cs typeface="Arial" pitchFamily="34" charset="-120"/>
              </a:rPr>
              <a:t>Five stages. The patient is never asked to do work the record can do for them.</a:t>
            </a:r>
            <a:endParaRPr lang="en-US" sz="1300" dirty="0"/>
          </a:p>
        </p:txBody>
      </p:sp>
      <p:sp>
        <p:nvSpPr>
          <p:cNvPr id="5" name="Shape 2"/>
          <p:cNvSpPr/>
          <p:nvPr/>
        </p:nvSpPr>
        <p:spPr>
          <a:xfrm>
            <a:off x="566928" y="1938528"/>
            <a:ext cx="2066544" cy="4023360"/>
          </a:xfrm>
          <a:prstGeom prst="roundRect">
            <a:avLst>
              <a:gd name="adj" fmla="val 4425"/>
            </a:avLst>
          </a:prstGeom>
          <a:solidFill>
            <a:srgbClr val="FFFFFF"/>
          </a:solidFill>
          <a:ln w="12700">
            <a:solidFill>
              <a:srgbClr val="E7EDEA"/>
            </a:solidFill>
            <a:prstDash val="solid"/>
          </a:ln>
        </p:spPr>
        <p:txBody>
          <a:bodyPr/>
          <a:lstStyle/>
          <a:p>
            <a:endParaRPr lang="en-US"/>
          </a:p>
        </p:txBody>
      </p:sp>
      <p:sp>
        <p:nvSpPr>
          <p:cNvPr id="6" name="Shape 3"/>
          <p:cNvSpPr/>
          <p:nvPr/>
        </p:nvSpPr>
        <p:spPr>
          <a:xfrm>
            <a:off x="566928" y="1938528"/>
            <a:ext cx="2066544" cy="59436"/>
          </a:xfrm>
          <a:prstGeom prst="rect">
            <a:avLst/>
          </a:prstGeom>
          <a:solidFill>
            <a:srgbClr val="3E6459"/>
          </a:solidFill>
          <a:ln w="12700">
            <a:solidFill>
              <a:srgbClr val="333333"/>
            </a:solidFill>
            <a:prstDash val="solid"/>
          </a:ln>
        </p:spPr>
        <p:txBody>
          <a:bodyPr/>
          <a:lstStyle/>
          <a:p>
            <a:endParaRPr lang="en-US"/>
          </a:p>
        </p:txBody>
      </p:sp>
      <p:sp>
        <p:nvSpPr>
          <p:cNvPr id="7" name="Text 4"/>
          <p:cNvSpPr/>
          <p:nvPr/>
        </p:nvSpPr>
        <p:spPr>
          <a:xfrm>
            <a:off x="731520" y="2103120"/>
            <a:ext cx="731520" cy="256032"/>
          </a:xfrm>
          <a:prstGeom prst="rect">
            <a:avLst/>
          </a:prstGeom>
          <a:noFill/>
          <a:ln/>
        </p:spPr>
        <p:txBody>
          <a:bodyPr wrap="square" rtlCol="0" anchor="ctr"/>
          <a:lstStyle/>
          <a:p>
            <a:pPr marL="0" indent="0">
              <a:buNone/>
            </a:pPr>
            <a:r>
              <a:rPr lang="en-US" sz="1100" b="1" kern="0" spc="120" dirty="0">
                <a:solidFill>
                  <a:srgbClr val="0E8C7C"/>
                </a:solidFill>
                <a:latin typeface="Arial" pitchFamily="34" charset="0"/>
                <a:ea typeface="Arial" pitchFamily="34" charset="-122"/>
                <a:cs typeface="Arial" pitchFamily="34" charset="-120"/>
              </a:rPr>
              <a:t>01</a:t>
            </a:r>
            <a:endParaRPr lang="en-US" sz="1100" dirty="0"/>
          </a:p>
        </p:txBody>
      </p:sp>
      <p:sp>
        <p:nvSpPr>
          <p:cNvPr id="8" name="Text 5"/>
          <p:cNvSpPr/>
          <p:nvPr/>
        </p:nvSpPr>
        <p:spPr>
          <a:xfrm>
            <a:off x="731520" y="2359152"/>
            <a:ext cx="1737360" cy="420624"/>
          </a:xfrm>
          <a:prstGeom prst="rect">
            <a:avLst/>
          </a:prstGeom>
          <a:noFill/>
          <a:ln/>
        </p:spPr>
        <p:txBody>
          <a:bodyPr wrap="square" rtlCol="0" anchor="ctr"/>
          <a:lstStyle/>
          <a:p>
            <a:pPr marL="0" indent="0">
              <a:buNone/>
            </a:pPr>
            <a:r>
              <a:rPr lang="en-US" sz="1150" b="1" kern="0" spc="90" dirty="0">
                <a:solidFill>
                  <a:srgbClr val="20302C"/>
                </a:solidFill>
                <a:latin typeface="Arial" pitchFamily="34" charset="0"/>
                <a:ea typeface="Arial" pitchFamily="34" charset="-122"/>
                <a:cs typeface="Arial" pitchFamily="34" charset="-120"/>
              </a:rPr>
              <a:t>ENROLL &amp; SET UP</a:t>
            </a:r>
            <a:endParaRPr lang="en-US" sz="1150" dirty="0"/>
          </a:p>
        </p:txBody>
      </p:sp>
      <p:sp>
        <p:nvSpPr>
          <p:cNvPr id="9" name="Text 6"/>
          <p:cNvSpPr/>
          <p:nvPr/>
        </p:nvSpPr>
        <p:spPr>
          <a:xfrm>
            <a:off x="731520" y="2807208"/>
            <a:ext cx="1737360" cy="768096"/>
          </a:xfrm>
          <a:prstGeom prst="rect">
            <a:avLst/>
          </a:prstGeom>
          <a:noFill/>
          <a:ln/>
        </p:spPr>
        <p:txBody>
          <a:bodyPr wrap="square" rtlCol="0" anchor="ctr"/>
          <a:lstStyle/>
          <a:p>
            <a:pPr marL="0" indent="0">
              <a:lnSpc>
                <a:spcPts val="1300"/>
              </a:lnSpc>
              <a:buNone/>
            </a:pPr>
            <a:r>
              <a:rPr lang="en-US" sz="920" dirty="0">
                <a:solidFill>
                  <a:srgbClr val="5E716C"/>
                </a:solidFill>
                <a:latin typeface="Arial" pitchFamily="34" charset="0"/>
                <a:ea typeface="Arial" pitchFamily="34" charset="-122"/>
                <a:cs typeface="Arial" pitchFamily="34" charset="-120"/>
              </a:rPr>
              <a:t>Seven screens from first look to paid enrollment. The patient sees their own data before they see the price.</a:t>
            </a:r>
            <a:endParaRPr lang="en-US" sz="920" dirty="0"/>
          </a:p>
        </p:txBody>
      </p:sp>
      <p:pic>
        <p:nvPicPr>
          <p:cNvPr id="10" name="Image 1" descr="deck/tn01.png"/>
          <p:cNvPicPr>
            <a:picLocks noChangeAspect="1"/>
          </p:cNvPicPr>
          <p:nvPr/>
        </p:nvPicPr>
        <p:blipFill>
          <a:blip r:embed="rId4"/>
          <a:stretch>
            <a:fillRect/>
          </a:stretch>
        </p:blipFill>
        <p:spPr>
          <a:xfrm>
            <a:off x="716201" y="3625596"/>
            <a:ext cx="380278" cy="822960"/>
          </a:xfrm>
          <a:prstGeom prst="rect">
            <a:avLst/>
          </a:prstGeom>
        </p:spPr>
      </p:pic>
      <p:sp>
        <p:nvSpPr>
          <p:cNvPr id="11" name="Text 7"/>
          <p:cNvSpPr/>
          <p:nvPr/>
        </p:nvSpPr>
        <p:spPr>
          <a:xfrm>
            <a:off x="716201"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a:t>
            </a:r>
            <a:endParaRPr lang="en-US" sz="750" dirty="0"/>
          </a:p>
        </p:txBody>
      </p:sp>
      <p:pic>
        <p:nvPicPr>
          <p:cNvPr id="12" name="Image 2" descr="deck/tn02.png"/>
          <p:cNvPicPr>
            <a:picLocks noChangeAspect="1"/>
          </p:cNvPicPr>
          <p:nvPr/>
        </p:nvPicPr>
        <p:blipFill>
          <a:blip r:embed="rId5"/>
          <a:stretch>
            <a:fillRect/>
          </a:stretch>
        </p:blipFill>
        <p:spPr>
          <a:xfrm>
            <a:off x="1178774" y="3625596"/>
            <a:ext cx="380278" cy="822960"/>
          </a:xfrm>
          <a:prstGeom prst="rect">
            <a:avLst/>
          </a:prstGeom>
        </p:spPr>
      </p:pic>
      <p:sp>
        <p:nvSpPr>
          <p:cNvPr id="13" name="Text 8"/>
          <p:cNvSpPr/>
          <p:nvPr/>
        </p:nvSpPr>
        <p:spPr>
          <a:xfrm>
            <a:off x="1178774"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2</a:t>
            </a:r>
            <a:endParaRPr lang="en-US" sz="750" dirty="0"/>
          </a:p>
        </p:txBody>
      </p:sp>
      <p:pic>
        <p:nvPicPr>
          <p:cNvPr id="14" name="Image 3" descr="deck/tn03.png"/>
          <p:cNvPicPr>
            <a:picLocks noChangeAspect="1"/>
          </p:cNvPicPr>
          <p:nvPr/>
        </p:nvPicPr>
        <p:blipFill>
          <a:blip r:embed="rId6"/>
          <a:stretch>
            <a:fillRect/>
          </a:stretch>
        </p:blipFill>
        <p:spPr>
          <a:xfrm>
            <a:off x="1641348" y="3625596"/>
            <a:ext cx="380278" cy="822960"/>
          </a:xfrm>
          <a:prstGeom prst="rect">
            <a:avLst/>
          </a:prstGeom>
        </p:spPr>
      </p:pic>
      <p:sp>
        <p:nvSpPr>
          <p:cNvPr id="15" name="Text 9"/>
          <p:cNvSpPr/>
          <p:nvPr/>
        </p:nvSpPr>
        <p:spPr>
          <a:xfrm>
            <a:off x="1641348"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3</a:t>
            </a:r>
            <a:endParaRPr lang="en-US" sz="750" dirty="0"/>
          </a:p>
        </p:txBody>
      </p:sp>
      <p:pic>
        <p:nvPicPr>
          <p:cNvPr id="16" name="Image 4" descr="deck/tn04.png"/>
          <p:cNvPicPr>
            <a:picLocks noChangeAspect="1"/>
          </p:cNvPicPr>
          <p:nvPr/>
        </p:nvPicPr>
        <p:blipFill>
          <a:blip r:embed="rId7"/>
          <a:stretch>
            <a:fillRect/>
          </a:stretch>
        </p:blipFill>
        <p:spPr>
          <a:xfrm>
            <a:off x="2103922" y="3625596"/>
            <a:ext cx="380278" cy="822960"/>
          </a:xfrm>
          <a:prstGeom prst="rect">
            <a:avLst/>
          </a:prstGeom>
        </p:spPr>
      </p:pic>
      <p:sp>
        <p:nvSpPr>
          <p:cNvPr id="17" name="Text 10"/>
          <p:cNvSpPr/>
          <p:nvPr/>
        </p:nvSpPr>
        <p:spPr>
          <a:xfrm>
            <a:off x="2103922"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4</a:t>
            </a:r>
            <a:endParaRPr lang="en-US" sz="750" dirty="0"/>
          </a:p>
        </p:txBody>
      </p:sp>
      <p:pic>
        <p:nvPicPr>
          <p:cNvPr id="18" name="Image 5" descr="deck/tn05.png"/>
          <p:cNvPicPr>
            <a:picLocks noChangeAspect="1"/>
          </p:cNvPicPr>
          <p:nvPr/>
        </p:nvPicPr>
        <p:blipFill>
          <a:blip r:embed="rId8"/>
          <a:stretch>
            <a:fillRect/>
          </a:stretch>
        </p:blipFill>
        <p:spPr>
          <a:xfrm>
            <a:off x="947487" y="4741164"/>
            <a:ext cx="380278" cy="822960"/>
          </a:xfrm>
          <a:prstGeom prst="rect">
            <a:avLst/>
          </a:prstGeom>
        </p:spPr>
      </p:pic>
      <p:sp>
        <p:nvSpPr>
          <p:cNvPr id="19" name="Text 11"/>
          <p:cNvSpPr/>
          <p:nvPr/>
        </p:nvSpPr>
        <p:spPr>
          <a:xfrm>
            <a:off x="947487" y="5573268"/>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5</a:t>
            </a:r>
            <a:endParaRPr lang="en-US" sz="750" dirty="0"/>
          </a:p>
        </p:txBody>
      </p:sp>
      <p:pic>
        <p:nvPicPr>
          <p:cNvPr id="20" name="Image 6" descr="deck/tn06.png"/>
          <p:cNvPicPr>
            <a:picLocks noChangeAspect="1"/>
          </p:cNvPicPr>
          <p:nvPr/>
        </p:nvPicPr>
        <p:blipFill>
          <a:blip r:embed="rId9"/>
          <a:stretch>
            <a:fillRect/>
          </a:stretch>
        </p:blipFill>
        <p:spPr>
          <a:xfrm>
            <a:off x="1410061" y="4741164"/>
            <a:ext cx="380278" cy="822960"/>
          </a:xfrm>
          <a:prstGeom prst="rect">
            <a:avLst/>
          </a:prstGeom>
        </p:spPr>
      </p:pic>
      <p:sp>
        <p:nvSpPr>
          <p:cNvPr id="21" name="Text 12"/>
          <p:cNvSpPr/>
          <p:nvPr/>
        </p:nvSpPr>
        <p:spPr>
          <a:xfrm>
            <a:off x="1410061" y="5573268"/>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6</a:t>
            </a:r>
            <a:endParaRPr lang="en-US" sz="750" dirty="0"/>
          </a:p>
        </p:txBody>
      </p:sp>
      <p:pic>
        <p:nvPicPr>
          <p:cNvPr id="22" name="Image 7" descr="deck/tn07.png"/>
          <p:cNvPicPr>
            <a:picLocks noChangeAspect="1"/>
          </p:cNvPicPr>
          <p:nvPr/>
        </p:nvPicPr>
        <p:blipFill>
          <a:blip r:embed="rId10"/>
          <a:stretch>
            <a:fillRect/>
          </a:stretch>
        </p:blipFill>
        <p:spPr>
          <a:xfrm>
            <a:off x="1872635" y="4741164"/>
            <a:ext cx="380278" cy="822960"/>
          </a:xfrm>
          <a:prstGeom prst="rect">
            <a:avLst/>
          </a:prstGeom>
        </p:spPr>
      </p:pic>
      <p:sp>
        <p:nvSpPr>
          <p:cNvPr id="23" name="Text 13"/>
          <p:cNvSpPr/>
          <p:nvPr/>
        </p:nvSpPr>
        <p:spPr>
          <a:xfrm>
            <a:off x="1872635" y="5573268"/>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7</a:t>
            </a:r>
            <a:endParaRPr lang="en-US" sz="750" dirty="0"/>
          </a:p>
        </p:txBody>
      </p:sp>
      <p:sp>
        <p:nvSpPr>
          <p:cNvPr id="24" name="Text 14"/>
          <p:cNvSpPr/>
          <p:nvPr/>
        </p:nvSpPr>
        <p:spPr>
          <a:xfrm>
            <a:off x="2642616" y="3657600"/>
            <a:ext cx="182880" cy="365760"/>
          </a:xfrm>
          <a:prstGeom prst="rect">
            <a:avLst/>
          </a:prstGeom>
          <a:noFill/>
          <a:ln/>
        </p:spPr>
        <p:txBody>
          <a:bodyPr wrap="square" rtlCol="0" anchor="ctr"/>
          <a:lstStyle/>
          <a:p>
            <a:pPr marL="0" indent="0" algn="ctr">
              <a:buNone/>
            </a:pPr>
            <a:r>
              <a:rPr lang="en-US" sz="2000" dirty="0">
                <a:solidFill>
                  <a:srgbClr val="D8D2C8"/>
                </a:solidFill>
                <a:latin typeface="Arial" pitchFamily="34" charset="0"/>
                <a:ea typeface="Arial" pitchFamily="34" charset="-122"/>
                <a:cs typeface="Arial" pitchFamily="34" charset="-120"/>
              </a:rPr>
              <a:t>›</a:t>
            </a:r>
            <a:endParaRPr lang="en-US" sz="2000" dirty="0"/>
          </a:p>
        </p:txBody>
      </p:sp>
      <p:sp>
        <p:nvSpPr>
          <p:cNvPr id="25" name="Shape 15"/>
          <p:cNvSpPr/>
          <p:nvPr/>
        </p:nvSpPr>
        <p:spPr>
          <a:xfrm>
            <a:off x="2816352" y="1938528"/>
            <a:ext cx="2066544" cy="4023360"/>
          </a:xfrm>
          <a:prstGeom prst="roundRect">
            <a:avLst>
              <a:gd name="adj" fmla="val 4425"/>
            </a:avLst>
          </a:prstGeom>
          <a:solidFill>
            <a:srgbClr val="FFFFFF"/>
          </a:solidFill>
          <a:ln w="12700">
            <a:solidFill>
              <a:srgbClr val="E7EDEA"/>
            </a:solidFill>
            <a:prstDash val="solid"/>
          </a:ln>
        </p:spPr>
        <p:txBody>
          <a:bodyPr/>
          <a:lstStyle/>
          <a:p>
            <a:endParaRPr lang="en-US"/>
          </a:p>
        </p:txBody>
      </p:sp>
      <p:sp>
        <p:nvSpPr>
          <p:cNvPr id="26" name="Shape 16"/>
          <p:cNvSpPr/>
          <p:nvPr/>
        </p:nvSpPr>
        <p:spPr>
          <a:xfrm>
            <a:off x="2816352" y="1938528"/>
            <a:ext cx="2066544" cy="59436"/>
          </a:xfrm>
          <a:prstGeom prst="rect">
            <a:avLst/>
          </a:prstGeom>
          <a:solidFill>
            <a:srgbClr val="3E6459"/>
          </a:solidFill>
          <a:ln w="12700">
            <a:solidFill>
              <a:srgbClr val="333333"/>
            </a:solidFill>
            <a:prstDash val="solid"/>
          </a:ln>
        </p:spPr>
        <p:txBody>
          <a:bodyPr/>
          <a:lstStyle/>
          <a:p>
            <a:endParaRPr lang="en-US"/>
          </a:p>
        </p:txBody>
      </p:sp>
      <p:sp>
        <p:nvSpPr>
          <p:cNvPr id="27" name="Text 17"/>
          <p:cNvSpPr/>
          <p:nvPr/>
        </p:nvSpPr>
        <p:spPr>
          <a:xfrm>
            <a:off x="2980944" y="2103120"/>
            <a:ext cx="731520" cy="256032"/>
          </a:xfrm>
          <a:prstGeom prst="rect">
            <a:avLst/>
          </a:prstGeom>
          <a:noFill/>
          <a:ln/>
        </p:spPr>
        <p:txBody>
          <a:bodyPr wrap="square" rtlCol="0" anchor="ctr"/>
          <a:lstStyle/>
          <a:p>
            <a:pPr marL="0" indent="0">
              <a:buNone/>
            </a:pPr>
            <a:r>
              <a:rPr lang="en-US" sz="1100" b="1" kern="0" spc="120" dirty="0">
                <a:solidFill>
                  <a:srgbClr val="0E8C7C"/>
                </a:solidFill>
                <a:latin typeface="Arial" pitchFamily="34" charset="0"/>
                <a:ea typeface="Arial" pitchFamily="34" charset="-122"/>
                <a:cs typeface="Arial" pitchFamily="34" charset="-120"/>
              </a:rPr>
              <a:t>02</a:t>
            </a:r>
            <a:endParaRPr lang="en-US" sz="1100" dirty="0"/>
          </a:p>
        </p:txBody>
      </p:sp>
      <p:sp>
        <p:nvSpPr>
          <p:cNvPr id="28" name="Text 18"/>
          <p:cNvSpPr/>
          <p:nvPr/>
        </p:nvSpPr>
        <p:spPr>
          <a:xfrm>
            <a:off x="2980944" y="2359152"/>
            <a:ext cx="1737360" cy="420624"/>
          </a:xfrm>
          <a:prstGeom prst="rect">
            <a:avLst/>
          </a:prstGeom>
          <a:noFill/>
          <a:ln/>
        </p:spPr>
        <p:txBody>
          <a:bodyPr wrap="square" rtlCol="0" anchor="ctr"/>
          <a:lstStyle/>
          <a:p>
            <a:pPr marL="0" indent="0">
              <a:buNone/>
            </a:pPr>
            <a:r>
              <a:rPr lang="en-US" sz="1150" b="1" kern="0" spc="90" dirty="0">
                <a:solidFill>
                  <a:srgbClr val="20302C"/>
                </a:solidFill>
                <a:latin typeface="Arial" pitchFamily="34" charset="0"/>
                <a:ea typeface="Arial" pitchFamily="34" charset="-122"/>
                <a:cs typeface="Arial" pitchFamily="34" charset="-120"/>
              </a:rPr>
              <a:t>BASELINE TESTING</a:t>
            </a:r>
            <a:endParaRPr lang="en-US" sz="1150" dirty="0"/>
          </a:p>
        </p:txBody>
      </p:sp>
      <p:sp>
        <p:nvSpPr>
          <p:cNvPr id="29" name="Text 19"/>
          <p:cNvSpPr/>
          <p:nvPr/>
        </p:nvSpPr>
        <p:spPr>
          <a:xfrm>
            <a:off x="2980944" y="2807208"/>
            <a:ext cx="1737360" cy="768096"/>
          </a:xfrm>
          <a:prstGeom prst="rect">
            <a:avLst/>
          </a:prstGeom>
          <a:noFill/>
          <a:ln/>
        </p:spPr>
        <p:txBody>
          <a:bodyPr wrap="square" rtlCol="0" anchor="ctr"/>
          <a:lstStyle/>
          <a:p>
            <a:pPr marL="0" indent="0">
              <a:lnSpc>
                <a:spcPts val="1300"/>
              </a:lnSpc>
              <a:buNone/>
            </a:pPr>
            <a:r>
              <a:rPr lang="en-US" sz="920" dirty="0">
                <a:solidFill>
                  <a:srgbClr val="5E716C"/>
                </a:solidFill>
                <a:latin typeface="Arial" pitchFamily="34" charset="0"/>
                <a:ea typeface="Arial" pitchFamily="34" charset="-122"/>
                <a:cs typeface="Arial" pitchFamily="34" charset="-120"/>
              </a:rPr>
              <a:t>Inlay places the orders, takes payment, books the appointments and tracks the results.</a:t>
            </a:r>
            <a:endParaRPr lang="en-US" sz="920" dirty="0"/>
          </a:p>
        </p:txBody>
      </p:sp>
      <p:pic>
        <p:nvPicPr>
          <p:cNvPr id="30" name="Image 8" descr="deck/tn08.png"/>
          <p:cNvPicPr>
            <a:picLocks noChangeAspect="1"/>
          </p:cNvPicPr>
          <p:nvPr/>
        </p:nvPicPr>
        <p:blipFill>
          <a:blip r:embed="rId11"/>
          <a:stretch>
            <a:fillRect/>
          </a:stretch>
        </p:blipFill>
        <p:spPr>
          <a:xfrm>
            <a:off x="3428198" y="4183380"/>
            <a:ext cx="380278" cy="822960"/>
          </a:xfrm>
          <a:prstGeom prst="rect">
            <a:avLst/>
          </a:prstGeom>
        </p:spPr>
      </p:pic>
      <p:sp>
        <p:nvSpPr>
          <p:cNvPr id="31" name="Text 20"/>
          <p:cNvSpPr/>
          <p:nvPr/>
        </p:nvSpPr>
        <p:spPr>
          <a:xfrm>
            <a:off x="3428198" y="5015484"/>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8</a:t>
            </a:r>
            <a:endParaRPr lang="en-US" sz="750" dirty="0"/>
          </a:p>
        </p:txBody>
      </p:sp>
      <p:pic>
        <p:nvPicPr>
          <p:cNvPr id="32" name="Image 9" descr="deck/tn09.png"/>
          <p:cNvPicPr>
            <a:picLocks noChangeAspect="1"/>
          </p:cNvPicPr>
          <p:nvPr/>
        </p:nvPicPr>
        <p:blipFill>
          <a:blip r:embed="rId12"/>
          <a:stretch>
            <a:fillRect/>
          </a:stretch>
        </p:blipFill>
        <p:spPr>
          <a:xfrm>
            <a:off x="3890772" y="4183380"/>
            <a:ext cx="380278" cy="822960"/>
          </a:xfrm>
          <a:prstGeom prst="rect">
            <a:avLst/>
          </a:prstGeom>
        </p:spPr>
      </p:pic>
      <p:sp>
        <p:nvSpPr>
          <p:cNvPr id="33" name="Text 21"/>
          <p:cNvSpPr/>
          <p:nvPr/>
        </p:nvSpPr>
        <p:spPr>
          <a:xfrm>
            <a:off x="3890772" y="5015484"/>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9</a:t>
            </a:r>
            <a:endParaRPr lang="en-US" sz="750" dirty="0"/>
          </a:p>
        </p:txBody>
      </p:sp>
      <p:sp>
        <p:nvSpPr>
          <p:cNvPr id="34" name="Text 22"/>
          <p:cNvSpPr/>
          <p:nvPr/>
        </p:nvSpPr>
        <p:spPr>
          <a:xfrm>
            <a:off x="4892040" y="3657600"/>
            <a:ext cx="182880" cy="365760"/>
          </a:xfrm>
          <a:prstGeom prst="rect">
            <a:avLst/>
          </a:prstGeom>
          <a:noFill/>
          <a:ln/>
        </p:spPr>
        <p:txBody>
          <a:bodyPr wrap="square" rtlCol="0" anchor="ctr"/>
          <a:lstStyle/>
          <a:p>
            <a:pPr marL="0" indent="0" algn="ctr">
              <a:buNone/>
            </a:pPr>
            <a:r>
              <a:rPr lang="en-US" sz="2000" dirty="0">
                <a:solidFill>
                  <a:srgbClr val="D8D2C8"/>
                </a:solidFill>
                <a:latin typeface="Arial" pitchFamily="34" charset="0"/>
                <a:ea typeface="Arial" pitchFamily="34" charset="-122"/>
                <a:cs typeface="Arial" pitchFamily="34" charset="-120"/>
              </a:rPr>
              <a:t>›</a:t>
            </a:r>
            <a:endParaRPr lang="en-US" sz="2000" dirty="0"/>
          </a:p>
        </p:txBody>
      </p:sp>
      <p:sp>
        <p:nvSpPr>
          <p:cNvPr id="35" name="Shape 23"/>
          <p:cNvSpPr/>
          <p:nvPr/>
        </p:nvSpPr>
        <p:spPr>
          <a:xfrm>
            <a:off x="5065776" y="1938528"/>
            <a:ext cx="2066544" cy="4023360"/>
          </a:xfrm>
          <a:prstGeom prst="roundRect">
            <a:avLst>
              <a:gd name="adj" fmla="val 4425"/>
            </a:avLst>
          </a:prstGeom>
          <a:solidFill>
            <a:srgbClr val="FFFFFF"/>
          </a:solidFill>
          <a:ln w="12700">
            <a:solidFill>
              <a:srgbClr val="E7EDEA"/>
            </a:solidFill>
            <a:prstDash val="solid"/>
          </a:ln>
        </p:spPr>
        <p:txBody>
          <a:bodyPr/>
          <a:lstStyle/>
          <a:p>
            <a:endParaRPr lang="en-US"/>
          </a:p>
        </p:txBody>
      </p:sp>
      <p:sp>
        <p:nvSpPr>
          <p:cNvPr id="36" name="Shape 24"/>
          <p:cNvSpPr/>
          <p:nvPr/>
        </p:nvSpPr>
        <p:spPr>
          <a:xfrm>
            <a:off x="5065776" y="1938528"/>
            <a:ext cx="2066544" cy="59436"/>
          </a:xfrm>
          <a:prstGeom prst="rect">
            <a:avLst/>
          </a:prstGeom>
          <a:solidFill>
            <a:srgbClr val="3E6459"/>
          </a:solidFill>
          <a:ln w="12700">
            <a:solidFill>
              <a:srgbClr val="333333"/>
            </a:solidFill>
            <a:prstDash val="solid"/>
          </a:ln>
        </p:spPr>
        <p:txBody>
          <a:bodyPr/>
          <a:lstStyle/>
          <a:p>
            <a:endParaRPr lang="en-US"/>
          </a:p>
        </p:txBody>
      </p:sp>
      <p:sp>
        <p:nvSpPr>
          <p:cNvPr id="37" name="Text 25"/>
          <p:cNvSpPr/>
          <p:nvPr/>
        </p:nvSpPr>
        <p:spPr>
          <a:xfrm>
            <a:off x="5230368" y="2103120"/>
            <a:ext cx="731520" cy="256032"/>
          </a:xfrm>
          <a:prstGeom prst="rect">
            <a:avLst/>
          </a:prstGeom>
          <a:noFill/>
          <a:ln/>
        </p:spPr>
        <p:txBody>
          <a:bodyPr wrap="square" rtlCol="0" anchor="ctr"/>
          <a:lstStyle/>
          <a:p>
            <a:pPr marL="0" indent="0">
              <a:buNone/>
            </a:pPr>
            <a:r>
              <a:rPr lang="en-US" sz="1100" b="1" kern="0" spc="120" dirty="0">
                <a:solidFill>
                  <a:srgbClr val="0E8C7C"/>
                </a:solidFill>
                <a:latin typeface="Arial" pitchFamily="34" charset="0"/>
                <a:ea typeface="Arial" pitchFamily="34" charset="-122"/>
                <a:cs typeface="Arial" pitchFamily="34" charset="-120"/>
              </a:rPr>
              <a:t>03</a:t>
            </a:r>
            <a:endParaRPr lang="en-US" sz="1100" dirty="0"/>
          </a:p>
        </p:txBody>
      </p:sp>
      <p:sp>
        <p:nvSpPr>
          <p:cNvPr id="38" name="Text 26"/>
          <p:cNvSpPr/>
          <p:nvPr/>
        </p:nvSpPr>
        <p:spPr>
          <a:xfrm>
            <a:off x="5230368" y="2359152"/>
            <a:ext cx="1737360" cy="420624"/>
          </a:xfrm>
          <a:prstGeom prst="rect">
            <a:avLst/>
          </a:prstGeom>
          <a:noFill/>
          <a:ln/>
        </p:spPr>
        <p:txBody>
          <a:bodyPr wrap="square" rtlCol="0" anchor="ctr"/>
          <a:lstStyle/>
          <a:p>
            <a:pPr marL="0" indent="0">
              <a:buNone/>
            </a:pPr>
            <a:r>
              <a:rPr lang="en-US" sz="1150" b="1" kern="0" spc="90" dirty="0">
                <a:solidFill>
                  <a:srgbClr val="20302C"/>
                </a:solidFill>
                <a:latin typeface="Arial" pitchFamily="34" charset="0"/>
                <a:ea typeface="Arial" pitchFamily="34" charset="-122"/>
                <a:cs typeface="Arial" pitchFamily="34" charset="-120"/>
              </a:rPr>
              <a:t>PLAN CREATION &amp; APPROVAL</a:t>
            </a:r>
            <a:endParaRPr lang="en-US" sz="1150" dirty="0"/>
          </a:p>
        </p:txBody>
      </p:sp>
      <p:sp>
        <p:nvSpPr>
          <p:cNvPr id="39" name="Text 27"/>
          <p:cNvSpPr/>
          <p:nvPr/>
        </p:nvSpPr>
        <p:spPr>
          <a:xfrm>
            <a:off x="5230368" y="2807208"/>
            <a:ext cx="1737360" cy="768096"/>
          </a:xfrm>
          <a:prstGeom prst="rect">
            <a:avLst/>
          </a:prstGeom>
          <a:noFill/>
          <a:ln/>
        </p:spPr>
        <p:txBody>
          <a:bodyPr wrap="square" rtlCol="0" anchor="ctr"/>
          <a:lstStyle/>
          <a:p>
            <a:pPr marL="0" indent="0">
              <a:lnSpc>
                <a:spcPts val="1300"/>
              </a:lnSpc>
              <a:buNone/>
            </a:pPr>
            <a:r>
              <a:rPr lang="en-US" sz="920" dirty="0">
                <a:solidFill>
                  <a:srgbClr val="5E716C"/>
                </a:solidFill>
                <a:latin typeface="Arial" pitchFamily="34" charset="0"/>
                <a:ea typeface="Arial" pitchFamily="34" charset="-122"/>
                <a:cs typeface="Arial" pitchFamily="34" charset="-120"/>
              </a:rPr>
              <a:t>Generated from complete results, then approved by the patient's own physician — no appointment.</a:t>
            </a:r>
            <a:endParaRPr lang="en-US" sz="920" dirty="0"/>
          </a:p>
        </p:txBody>
      </p:sp>
      <p:pic>
        <p:nvPicPr>
          <p:cNvPr id="40" name="Image 10" descr="deck/tn10.png"/>
          <p:cNvPicPr>
            <a:picLocks noChangeAspect="1"/>
          </p:cNvPicPr>
          <p:nvPr/>
        </p:nvPicPr>
        <p:blipFill>
          <a:blip r:embed="rId13"/>
          <a:stretch>
            <a:fillRect/>
          </a:stretch>
        </p:blipFill>
        <p:spPr>
          <a:xfrm>
            <a:off x="5677622" y="4183380"/>
            <a:ext cx="380278" cy="822960"/>
          </a:xfrm>
          <a:prstGeom prst="rect">
            <a:avLst/>
          </a:prstGeom>
        </p:spPr>
      </p:pic>
      <p:sp>
        <p:nvSpPr>
          <p:cNvPr id="41" name="Text 28"/>
          <p:cNvSpPr/>
          <p:nvPr/>
        </p:nvSpPr>
        <p:spPr>
          <a:xfrm>
            <a:off x="5677622" y="5015484"/>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10</a:t>
            </a:r>
            <a:endParaRPr lang="en-US" sz="750" dirty="0"/>
          </a:p>
        </p:txBody>
      </p:sp>
      <p:pic>
        <p:nvPicPr>
          <p:cNvPr id="42" name="Image 11" descr="deck/tn11.png"/>
          <p:cNvPicPr>
            <a:picLocks noChangeAspect="1"/>
          </p:cNvPicPr>
          <p:nvPr/>
        </p:nvPicPr>
        <p:blipFill>
          <a:blip r:embed="rId14"/>
          <a:stretch>
            <a:fillRect/>
          </a:stretch>
        </p:blipFill>
        <p:spPr>
          <a:xfrm>
            <a:off x="6140196" y="4183380"/>
            <a:ext cx="380278" cy="822960"/>
          </a:xfrm>
          <a:prstGeom prst="rect">
            <a:avLst/>
          </a:prstGeom>
        </p:spPr>
      </p:pic>
      <p:sp>
        <p:nvSpPr>
          <p:cNvPr id="43" name="Text 29"/>
          <p:cNvSpPr/>
          <p:nvPr/>
        </p:nvSpPr>
        <p:spPr>
          <a:xfrm>
            <a:off x="6140196" y="5015484"/>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11</a:t>
            </a:r>
            <a:endParaRPr lang="en-US" sz="750" dirty="0"/>
          </a:p>
        </p:txBody>
      </p:sp>
      <p:sp>
        <p:nvSpPr>
          <p:cNvPr id="44" name="Text 30"/>
          <p:cNvSpPr/>
          <p:nvPr/>
        </p:nvSpPr>
        <p:spPr>
          <a:xfrm>
            <a:off x="7141464" y="3657600"/>
            <a:ext cx="182880" cy="365760"/>
          </a:xfrm>
          <a:prstGeom prst="rect">
            <a:avLst/>
          </a:prstGeom>
          <a:noFill/>
          <a:ln/>
        </p:spPr>
        <p:txBody>
          <a:bodyPr wrap="square" rtlCol="0" anchor="ctr"/>
          <a:lstStyle/>
          <a:p>
            <a:pPr marL="0" indent="0" algn="ctr">
              <a:buNone/>
            </a:pPr>
            <a:r>
              <a:rPr lang="en-US" sz="2000" dirty="0">
                <a:solidFill>
                  <a:srgbClr val="D8D2C8"/>
                </a:solidFill>
                <a:latin typeface="Arial" pitchFamily="34" charset="0"/>
                <a:ea typeface="Arial" pitchFamily="34" charset="-122"/>
                <a:cs typeface="Arial" pitchFamily="34" charset="-120"/>
              </a:rPr>
              <a:t>›</a:t>
            </a:r>
            <a:endParaRPr lang="en-US" sz="2000" dirty="0"/>
          </a:p>
        </p:txBody>
      </p:sp>
      <p:sp>
        <p:nvSpPr>
          <p:cNvPr id="45" name="Shape 31"/>
          <p:cNvSpPr/>
          <p:nvPr/>
        </p:nvSpPr>
        <p:spPr>
          <a:xfrm>
            <a:off x="7315200" y="1938528"/>
            <a:ext cx="2066544" cy="4023360"/>
          </a:xfrm>
          <a:prstGeom prst="roundRect">
            <a:avLst>
              <a:gd name="adj" fmla="val 4425"/>
            </a:avLst>
          </a:prstGeom>
          <a:solidFill>
            <a:srgbClr val="FFFFFF"/>
          </a:solidFill>
          <a:ln w="12700">
            <a:solidFill>
              <a:srgbClr val="E7EDEA"/>
            </a:solidFill>
            <a:prstDash val="solid"/>
          </a:ln>
        </p:spPr>
        <p:txBody>
          <a:bodyPr/>
          <a:lstStyle/>
          <a:p>
            <a:endParaRPr lang="en-US"/>
          </a:p>
        </p:txBody>
      </p:sp>
      <p:sp>
        <p:nvSpPr>
          <p:cNvPr id="46" name="Shape 32"/>
          <p:cNvSpPr/>
          <p:nvPr/>
        </p:nvSpPr>
        <p:spPr>
          <a:xfrm>
            <a:off x="7315200" y="1938528"/>
            <a:ext cx="2066544" cy="59436"/>
          </a:xfrm>
          <a:prstGeom prst="rect">
            <a:avLst/>
          </a:prstGeom>
          <a:solidFill>
            <a:srgbClr val="3E6459"/>
          </a:solidFill>
          <a:ln w="12700">
            <a:solidFill>
              <a:srgbClr val="333333"/>
            </a:solidFill>
            <a:prstDash val="solid"/>
          </a:ln>
        </p:spPr>
        <p:txBody>
          <a:bodyPr/>
          <a:lstStyle/>
          <a:p>
            <a:endParaRPr lang="en-US"/>
          </a:p>
        </p:txBody>
      </p:sp>
      <p:sp>
        <p:nvSpPr>
          <p:cNvPr id="47" name="Text 33"/>
          <p:cNvSpPr/>
          <p:nvPr/>
        </p:nvSpPr>
        <p:spPr>
          <a:xfrm>
            <a:off x="7479792" y="2103120"/>
            <a:ext cx="731520" cy="256032"/>
          </a:xfrm>
          <a:prstGeom prst="rect">
            <a:avLst/>
          </a:prstGeom>
          <a:noFill/>
          <a:ln/>
        </p:spPr>
        <p:txBody>
          <a:bodyPr wrap="square" rtlCol="0" anchor="ctr"/>
          <a:lstStyle/>
          <a:p>
            <a:pPr marL="0" indent="0">
              <a:buNone/>
            </a:pPr>
            <a:r>
              <a:rPr lang="en-US" sz="1100" b="1" kern="0" spc="120" dirty="0">
                <a:solidFill>
                  <a:srgbClr val="0E8C7C"/>
                </a:solidFill>
                <a:latin typeface="Arial" pitchFamily="34" charset="0"/>
                <a:ea typeface="Arial" pitchFamily="34" charset="-122"/>
                <a:cs typeface="Arial" pitchFamily="34" charset="-120"/>
              </a:rPr>
              <a:t>04</a:t>
            </a:r>
            <a:endParaRPr lang="en-US" sz="1100" dirty="0"/>
          </a:p>
        </p:txBody>
      </p:sp>
      <p:sp>
        <p:nvSpPr>
          <p:cNvPr id="48" name="Text 34"/>
          <p:cNvSpPr/>
          <p:nvPr/>
        </p:nvSpPr>
        <p:spPr>
          <a:xfrm>
            <a:off x="7479792" y="2359152"/>
            <a:ext cx="1737360" cy="420624"/>
          </a:xfrm>
          <a:prstGeom prst="rect">
            <a:avLst/>
          </a:prstGeom>
          <a:noFill/>
          <a:ln/>
        </p:spPr>
        <p:txBody>
          <a:bodyPr wrap="square" rtlCol="0" anchor="ctr"/>
          <a:lstStyle/>
          <a:p>
            <a:pPr marL="0" indent="0">
              <a:buNone/>
            </a:pPr>
            <a:r>
              <a:rPr lang="en-US" sz="1150" b="1" kern="0" spc="90" dirty="0">
                <a:solidFill>
                  <a:srgbClr val="20302C"/>
                </a:solidFill>
                <a:latin typeface="Arial" pitchFamily="34" charset="0"/>
                <a:ea typeface="Arial" pitchFamily="34" charset="-122"/>
                <a:cs typeface="Arial" pitchFamily="34" charset="-120"/>
              </a:rPr>
              <a:t>DAILY USE</a:t>
            </a:r>
            <a:endParaRPr lang="en-US" sz="1150" dirty="0"/>
          </a:p>
        </p:txBody>
      </p:sp>
      <p:sp>
        <p:nvSpPr>
          <p:cNvPr id="49" name="Text 35"/>
          <p:cNvSpPr/>
          <p:nvPr/>
        </p:nvSpPr>
        <p:spPr>
          <a:xfrm>
            <a:off x="7479792" y="2807208"/>
            <a:ext cx="1737360" cy="768096"/>
          </a:xfrm>
          <a:prstGeom prst="rect">
            <a:avLst/>
          </a:prstGeom>
          <a:noFill/>
          <a:ln/>
        </p:spPr>
        <p:txBody>
          <a:bodyPr wrap="square" rtlCol="0" anchor="ctr"/>
          <a:lstStyle/>
          <a:p>
            <a:pPr marL="0" indent="0">
              <a:lnSpc>
                <a:spcPts val="1300"/>
              </a:lnSpc>
              <a:buNone/>
            </a:pPr>
            <a:r>
              <a:rPr lang="en-US" sz="920" dirty="0">
                <a:solidFill>
                  <a:srgbClr val="5E716C"/>
                </a:solidFill>
                <a:latin typeface="Arial" pitchFamily="34" charset="0"/>
                <a:ea typeface="Arial" pitchFamily="34" charset="-122"/>
                <a:cs typeface="Arial" pitchFamily="34" charset="-120"/>
              </a:rPr>
              <a:t>Six screens that run every day: yesterday's score, today's plan, progress, photographs and the projection.</a:t>
            </a:r>
            <a:endParaRPr lang="en-US" sz="920" dirty="0"/>
          </a:p>
        </p:txBody>
      </p:sp>
      <p:pic>
        <p:nvPicPr>
          <p:cNvPr id="50" name="Image 12" descr="deck/tn12.png"/>
          <p:cNvPicPr>
            <a:picLocks noChangeAspect="1"/>
          </p:cNvPicPr>
          <p:nvPr/>
        </p:nvPicPr>
        <p:blipFill>
          <a:blip r:embed="rId15"/>
          <a:stretch>
            <a:fillRect/>
          </a:stretch>
        </p:blipFill>
        <p:spPr>
          <a:xfrm>
            <a:off x="7695759" y="3625596"/>
            <a:ext cx="380278" cy="822960"/>
          </a:xfrm>
          <a:prstGeom prst="rect">
            <a:avLst/>
          </a:prstGeom>
        </p:spPr>
      </p:pic>
      <p:sp>
        <p:nvSpPr>
          <p:cNvPr id="51" name="Text 36"/>
          <p:cNvSpPr/>
          <p:nvPr/>
        </p:nvSpPr>
        <p:spPr>
          <a:xfrm>
            <a:off x="7695759"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12</a:t>
            </a:r>
            <a:endParaRPr lang="en-US" sz="750" dirty="0"/>
          </a:p>
        </p:txBody>
      </p:sp>
      <p:pic>
        <p:nvPicPr>
          <p:cNvPr id="52" name="Image 13" descr="deck/tn13.png"/>
          <p:cNvPicPr>
            <a:picLocks noChangeAspect="1"/>
          </p:cNvPicPr>
          <p:nvPr/>
        </p:nvPicPr>
        <p:blipFill>
          <a:blip r:embed="rId16"/>
          <a:stretch>
            <a:fillRect/>
          </a:stretch>
        </p:blipFill>
        <p:spPr>
          <a:xfrm>
            <a:off x="8158333" y="3625596"/>
            <a:ext cx="380278" cy="822960"/>
          </a:xfrm>
          <a:prstGeom prst="rect">
            <a:avLst/>
          </a:prstGeom>
        </p:spPr>
      </p:pic>
      <p:sp>
        <p:nvSpPr>
          <p:cNvPr id="53" name="Text 37"/>
          <p:cNvSpPr/>
          <p:nvPr/>
        </p:nvSpPr>
        <p:spPr>
          <a:xfrm>
            <a:off x="8158333"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13</a:t>
            </a:r>
            <a:endParaRPr lang="en-US" sz="750" dirty="0"/>
          </a:p>
        </p:txBody>
      </p:sp>
      <p:pic>
        <p:nvPicPr>
          <p:cNvPr id="54" name="Image 14" descr="deck/tn14.png"/>
          <p:cNvPicPr>
            <a:picLocks noChangeAspect="1"/>
          </p:cNvPicPr>
          <p:nvPr/>
        </p:nvPicPr>
        <p:blipFill>
          <a:blip r:embed="rId17"/>
          <a:stretch>
            <a:fillRect/>
          </a:stretch>
        </p:blipFill>
        <p:spPr>
          <a:xfrm>
            <a:off x="8620907" y="3625596"/>
            <a:ext cx="380278" cy="822960"/>
          </a:xfrm>
          <a:prstGeom prst="rect">
            <a:avLst/>
          </a:prstGeom>
        </p:spPr>
      </p:pic>
      <p:sp>
        <p:nvSpPr>
          <p:cNvPr id="55" name="Text 38"/>
          <p:cNvSpPr/>
          <p:nvPr/>
        </p:nvSpPr>
        <p:spPr>
          <a:xfrm>
            <a:off x="8620907"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14</a:t>
            </a:r>
            <a:endParaRPr lang="en-US" sz="750" dirty="0"/>
          </a:p>
        </p:txBody>
      </p:sp>
      <p:pic>
        <p:nvPicPr>
          <p:cNvPr id="56" name="Image 15" descr="deck/tn15.png"/>
          <p:cNvPicPr>
            <a:picLocks noChangeAspect="1"/>
          </p:cNvPicPr>
          <p:nvPr/>
        </p:nvPicPr>
        <p:blipFill>
          <a:blip r:embed="rId18"/>
          <a:stretch>
            <a:fillRect/>
          </a:stretch>
        </p:blipFill>
        <p:spPr>
          <a:xfrm>
            <a:off x="7695759" y="4741164"/>
            <a:ext cx="380278" cy="822960"/>
          </a:xfrm>
          <a:prstGeom prst="rect">
            <a:avLst/>
          </a:prstGeom>
        </p:spPr>
      </p:pic>
      <p:sp>
        <p:nvSpPr>
          <p:cNvPr id="57" name="Text 39"/>
          <p:cNvSpPr/>
          <p:nvPr/>
        </p:nvSpPr>
        <p:spPr>
          <a:xfrm>
            <a:off x="7695759" y="5573268"/>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15</a:t>
            </a:r>
            <a:endParaRPr lang="en-US" sz="750" dirty="0"/>
          </a:p>
        </p:txBody>
      </p:sp>
      <p:pic>
        <p:nvPicPr>
          <p:cNvPr id="58" name="Image 16" descr="deck/tn16.png"/>
          <p:cNvPicPr>
            <a:picLocks noChangeAspect="1"/>
          </p:cNvPicPr>
          <p:nvPr/>
        </p:nvPicPr>
        <p:blipFill>
          <a:blip r:embed="rId19"/>
          <a:stretch>
            <a:fillRect/>
          </a:stretch>
        </p:blipFill>
        <p:spPr>
          <a:xfrm>
            <a:off x="8158333" y="4741164"/>
            <a:ext cx="380278" cy="822960"/>
          </a:xfrm>
          <a:prstGeom prst="rect">
            <a:avLst/>
          </a:prstGeom>
        </p:spPr>
      </p:pic>
      <p:sp>
        <p:nvSpPr>
          <p:cNvPr id="59" name="Text 40"/>
          <p:cNvSpPr/>
          <p:nvPr/>
        </p:nvSpPr>
        <p:spPr>
          <a:xfrm>
            <a:off x="8158333" y="5573268"/>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16</a:t>
            </a:r>
            <a:endParaRPr lang="en-US" sz="750" dirty="0"/>
          </a:p>
        </p:txBody>
      </p:sp>
      <p:pic>
        <p:nvPicPr>
          <p:cNvPr id="60" name="Image 17" descr="deck/tn17.png"/>
          <p:cNvPicPr>
            <a:picLocks noChangeAspect="1"/>
          </p:cNvPicPr>
          <p:nvPr/>
        </p:nvPicPr>
        <p:blipFill>
          <a:blip r:embed="rId20"/>
          <a:stretch>
            <a:fillRect/>
          </a:stretch>
        </p:blipFill>
        <p:spPr>
          <a:xfrm>
            <a:off x="8620907" y="4741164"/>
            <a:ext cx="380278" cy="822960"/>
          </a:xfrm>
          <a:prstGeom prst="rect">
            <a:avLst/>
          </a:prstGeom>
        </p:spPr>
      </p:pic>
      <p:sp>
        <p:nvSpPr>
          <p:cNvPr id="61" name="Text 41"/>
          <p:cNvSpPr/>
          <p:nvPr/>
        </p:nvSpPr>
        <p:spPr>
          <a:xfrm>
            <a:off x="8620907" y="5573268"/>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17</a:t>
            </a:r>
            <a:endParaRPr lang="en-US" sz="750" dirty="0"/>
          </a:p>
        </p:txBody>
      </p:sp>
      <p:sp>
        <p:nvSpPr>
          <p:cNvPr id="62" name="Text 42"/>
          <p:cNvSpPr/>
          <p:nvPr/>
        </p:nvSpPr>
        <p:spPr>
          <a:xfrm>
            <a:off x="9390888" y="3657600"/>
            <a:ext cx="182880" cy="365760"/>
          </a:xfrm>
          <a:prstGeom prst="rect">
            <a:avLst/>
          </a:prstGeom>
          <a:noFill/>
          <a:ln/>
        </p:spPr>
        <p:txBody>
          <a:bodyPr wrap="square" rtlCol="0" anchor="ctr"/>
          <a:lstStyle/>
          <a:p>
            <a:pPr marL="0" indent="0" algn="ctr">
              <a:buNone/>
            </a:pPr>
            <a:r>
              <a:rPr lang="en-US" sz="2000" dirty="0">
                <a:solidFill>
                  <a:srgbClr val="D8D2C8"/>
                </a:solidFill>
                <a:latin typeface="Arial" pitchFamily="34" charset="0"/>
                <a:ea typeface="Arial" pitchFamily="34" charset="-122"/>
                <a:cs typeface="Arial" pitchFamily="34" charset="-120"/>
              </a:rPr>
              <a:t>›</a:t>
            </a:r>
            <a:endParaRPr lang="en-US" sz="2000" dirty="0"/>
          </a:p>
        </p:txBody>
      </p:sp>
      <p:sp>
        <p:nvSpPr>
          <p:cNvPr id="63" name="Shape 43"/>
          <p:cNvSpPr/>
          <p:nvPr/>
        </p:nvSpPr>
        <p:spPr>
          <a:xfrm>
            <a:off x="9564624" y="1938528"/>
            <a:ext cx="2066544" cy="4023360"/>
          </a:xfrm>
          <a:prstGeom prst="roundRect">
            <a:avLst>
              <a:gd name="adj" fmla="val 4425"/>
            </a:avLst>
          </a:prstGeom>
          <a:solidFill>
            <a:srgbClr val="FFFFFF"/>
          </a:solidFill>
          <a:ln w="12700">
            <a:solidFill>
              <a:srgbClr val="E7EDEA"/>
            </a:solidFill>
            <a:prstDash val="solid"/>
          </a:ln>
        </p:spPr>
        <p:txBody>
          <a:bodyPr/>
          <a:lstStyle/>
          <a:p>
            <a:endParaRPr lang="en-US"/>
          </a:p>
        </p:txBody>
      </p:sp>
      <p:sp>
        <p:nvSpPr>
          <p:cNvPr id="64" name="Shape 44"/>
          <p:cNvSpPr/>
          <p:nvPr/>
        </p:nvSpPr>
        <p:spPr>
          <a:xfrm>
            <a:off x="9564624" y="1938528"/>
            <a:ext cx="2066544" cy="59436"/>
          </a:xfrm>
          <a:prstGeom prst="rect">
            <a:avLst/>
          </a:prstGeom>
          <a:solidFill>
            <a:srgbClr val="0E8C7C"/>
          </a:solidFill>
          <a:ln w="12700">
            <a:solidFill>
              <a:srgbClr val="333333"/>
            </a:solidFill>
            <a:prstDash val="solid"/>
          </a:ln>
        </p:spPr>
        <p:txBody>
          <a:bodyPr/>
          <a:lstStyle/>
          <a:p>
            <a:endParaRPr lang="en-US"/>
          </a:p>
        </p:txBody>
      </p:sp>
      <p:sp>
        <p:nvSpPr>
          <p:cNvPr id="65" name="Text 45"/>
          <p:cNvSpPr/>
          <p:nvPr/>
        </p:nvSpPr>
        <p:spPr>
          <a:xfrm>
            <a:off x="9729216" y="2103120"/>
            <a:ext cx="731520" cy="256032"/>
          </a:xfrm>
          <a:prstGeom prst="rect">
            <a:avLst/>
          </a:prstGeom>
          <a:noFill/>
          <a:ln/>
        </p:spPr>
        <p:txBody>
          <a:bodyPr wrap="square" rtlCol="0" anchor="ctr"/>
          <a:lstStyle/>
          <a:p>
            <a:pPr marL="0" indent="0">
              <a:buNone/>
            </a:pPr>
            <a:r>
              <a:rPr lang="en-US" sz="1100" b="1" kern="0" spc="120" dirty="0">
                <a:solidFill>
                  <a:srgbClr val="0E8C7C"/>
                </a:solidFill>
                <a:latin typeface="Arial" pitchFamily="34" charset="0"/>
                <a:ea typeface="Arial" pitchFamily="34" charset="-122"/>
                <a:cs typeface="Arial" pitchFamily="34" charset="-120"/>
              </a:rPr>
              <a:t>05</a:t>
            </a:r>
            <a:endParaRPr lang="en-US" sz="1100" dirty="0"/>
          </a:p>
        </p:txBody>
      </p:sp>
      <p:sp>
        <p:nvSpPr>
          <p:cNvPr id="66" name="Text 46"/>
          <p:cNvSpPr/>
          <p:nvPr/>
        </p:nvSpPr>
        <p:spPr>
          <a:xfrm>
            <a:off x="9729216" y="2359152"/>
            <a:ext cx="1737360" cy="420624"/>
          </a:xfrm>
          <a:prstGeom prst="rect">
            <a:avLst/>
          </a:prstGeom>
          <a:noFill/>
          <a:ln/>
        </p:spPr>
        <p:txBody>
          <a:bodyPr wrap="square" rtlCol="0" anchor="ctr"/>
          <a:lstStyle/>
          <a:p>
            <a:pPr marL="0" indent="0">
              <a:buNone/>
            </a:pPr>
            <a:r>
              <a:rPr lang="en-US" sz="1150" b="1" kern="0" spc="90" dirty="0">
                <a:solidFill>
                  <a:srgbClr val="20302C"/>
                </a:solidFill>
                <a:latin typeface="Arial" pitchFamily="34" charset="0"/>
                <a:ea typeface="Arial" pitchFamily="34" charset="-122"/>
                <a:cs typeface="Arial" pitchFamily="34" charset="-120"/>
              </a:rPr>
              <a:t>INLAY CARE</a:t>
            </a:r>
            <a:endParaRPr lang="en-US" sz="1150" dirty="0"/>
          </a:p>
        </p:txBody>
      </p:sp>
      <p:sp>
        <p:nvSpPr>
          <p:cNvPr id="67" name="Text 47"/>
          <p:cNvSpPr/>
          <p:nvPr/>
        </p:nvSpPr>
        <p:spPr>
          <a:xfrm>
            <a:off x="9729216" y="2807208"/>
            <a:ext cx="1737360" cy="768096"/>
          </a:xfrm>
          <a:prstGeom prst="rect">
            <a:avLst/>
          </a:prstGeom>
          <a:noFill/>
          <a:ln/>
        </p:spPr>
        <p:txBody>
          <a:bodyPr wrap="square" rtlCol="0" anchor="ctr"/>
          <a:lstStyle/>
          <a:p>
            <a:pPr marL="0" indent="0">
              <a:lnSpc>
                <a:spcPts val="1300"/>
              </a:lnSpc>
              <a:buNone/>
            </a:pPr>
            <a:r>
              <a:rPr lang="en-US" sz="920" dirty="0">
                <a:solidFill>
                  <a:srgbClr val="5E716C"/>
                </a:solidFill>
                <a:latin typeface="Arial" pitchFamily="34" charset="0"/>
                <a:ea typeface="Arial" pitchFamily="34" charset="-122"/>
                <a:cs typeface="Arial" pitchFamily="34" charset="-120"/>
              </a:rPr>
              <a:t>Free surgery support — a checklist and a local directory — alongside Longevity Care, which stays a paid product.</a:t>
            </a:r>
            <a:endParaRPr lang="en-US" sz="920" dirty="0"/>
          </a:p>
        </p:txBody>
      </p:sp>
      <p:pic>
        <p:nvPicPr>
          <p:cNvPr id="68" name="Image 18" descr="deck/tn18.png"/>
          <p:cNvPicPr>
            <a:picLocks noChangeAspect="1"/>
          </p:cNvPicPr>
          <p:nvPr/>
        </p:nvPicPr>
        <p:blipFill>
          <a:blip r:embed="rId21"/>
          <a:stretch>
            <a:fillRect/>
          </a:stretch>
        </p:blipFill>
        <p:spPr>
          <a:xfrm>
            <a:off x="9945183" y="3625596"/>
            <a:ext cx="380278" cy="822960"/>
          </a:xfrm>
          <a:prstGeom prst="rect">
            <a:avLst/>
          </a:prstGeom>
        </p:spPr>
      </p:pic>
      <p:sp>
        <p:nvSpPr>
          <p:cNvPr id="69" name="Text 48"/>
          <p:cNvSpPr/>
          <p:nvPr/>
        </p:nvSpPr>
        <p:spPr>
          <a:xfrm>
            <a:off x="9945183"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18</a:t>
            </a:r>
            <a:endParaRPr lang="en-US" sz="750" dirty="0"/>
          </a:p>
        </p:txBody>
      </p:sp>
      <p:pic>
        <p:nvPicPr>
          <p:cNvPr id="70" name="Image 19" descr="deck/tn19.png"/>
          <p:cNvPicPr>
            <a:picLocks noChangeAspect="1"/>
          </p:cNvPicPr>
          <p:nvPr/>
        </p:nvPicPr>
        <p:blipFill>
          <a:blip r:embed="rId22"/>
          <a:stretch>
            <a:fillRect/>
          </a:stretch>
        </p:blipFill>
        <p:spPr>
          <a:xfrm>
            <a:off x="10407757" y="3625596"/>
            <a:ext cx="380278" cy="822960"/>
          </a:xfrm>
          <a:prstGeom prst="rect">
            <a:avLst/>
          </a:prstGeom>
        </p:spPr>
      </p:pic>
      <p:sp>
        <p:nvSpPr>
          <p:cNvPr id="71" name="Text 49"/>
          <p:cNvSpPr/>
          <p:nvPr/>
        </p:nvSpPr>
        <p:spPr>
          <a:xfrm>
            <a:off x="10407757"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19</a:t>
            </a:r>
            <a:endParaRPr lang="en-US" sz="750" dirty="0"/>
          </a:p>
        </p:txBody>
      </p:sp>
      <p:pic>
        <p:nvPicPr>
          <p:cNvPr id="72" name="Image 20" descr="deck/tn20.png"/>
          <p:cNvPicPr>
            <a:picLocks noChangeAspect="1"/>
          </p:cNvPicPr>
          <p:nvPr/>
        </p:nvPicPr>
        <p:blipFill>
          <a:blip r:embed="rId23"/>
          <a:stretch>
            <a:fillRect/>
          </a:stretch>
        </p:blipFill>
        <p:spPr>
          <a:xfrm>
            <a:off x="10870331" y="3625596"/>
            <a:ext cx="380278" cy="822960"/>
          </a:xfrm>
          <a:prstGeom prst="rect">
            <a:avLst/>
          </a:prstGeom>
        </p:spPr>
      </p:pic>
      <p:sp>
        <p:nvSpPr>
          <p:cNvPr id="73" name="Text 50"/>
          <p:cNvSpPr/>
          <p:nvPr/>
        </p:nvSpPr>
        <p:spPr>
          <a:xfrm>
            <a:off x="10870331" y="4457700"/>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20</a:t>
            </a:r>
            <a:endParaRPr lang="en-US" sz="750" dirty="0"/>
          </a:p>
        </p:txBody>
      </p:sp>
      <p:pic>
        <p:nvPicPr>
          <p:cNvPr id="74" name="Image 21" descr="deck/tn21.png"/>
          <p:cNvPicPr>
            <a:picLocks noChangeAspect="1"/>
          </p:cNvPicPr>
          <p:nvPr/>
        </p:nvPicPr>
        <p:blipFill>
          <a:blip r:embed="rId24"/>
          <a:stretch>
            <a:fillRect/>
          </a:stretch>
        </p:blipFill>
        <p:spPr>
          <a:xfrm>
            <a:off x="9945183" y="4741164"/>
            <a:ext cx="380278" cy="822960"/>
          </a:xfrm>
          <a:prstGeom prst="rect">
            <a:avLst/>
          </a:prstGeom>
        </p:spPr>
      </p:pic>
      <p:sp>
        <p:nvSpPr>
          <p:cNvPr id="75" name="Text 51"/>
          <p:cNvSpPr/>
          <p:nvPr/>
        </p:nvSpPr>
        <p:spPr>
          <a:xfrm>
            <a:off x="9945183" y="5573268"/>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21</a:t>
            </a:r>
            <a:endParaRPr lang="en-US" sz="750" dirty="0"/>
          </a:p>
        </p:txBody>
      </p:sp>
      <p:pic>
        <p:nvPicPr>
          <p:cNvPr id="76" name="Image 22" descr="deck/tn22.png"/>
          <p:cNvPicPr>
            <a:picLocks noChangeAspect="1"/>
          </p:cNvPicPr>
          <p:nvPr/>
        </p:nvPicPr>
        <p:blipFill>
          <a:blip r:embed="rId25"/>
          <a:stretch>
            <a:fillRect/>
          </a:stretch>
        </p:blipFill>
        <p:spPr>
          <a:xfrm>
            <a:off x="10407757" y="4741164"/>
            <a:ext cx="380278" cy="822960"/>
          </a:xfrm>
          <a:prstGeom prst="rect">
            <a:avLst/>
          </a:prstGeom>
        </p:spPr>
      </p:pic>
      <p:sp>
        <p:nvSpPr>
          <p:cNvPr id="77" name="Text 52"/>
          <p:cNvSpPr/>
          <p:nvPr/>
        </p:nvSpPr>
        <p:spPr>
          <a:xfrm>
            <a:off x="10407757" y="5573268"/>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22</a:t>
            </a:r>
            <a:endParaRPr lang="en-US" sz="750" dirty="0"/>
          </a:p>
        </p:txBody>
      </p:sp>
      <p:pic>
        <p:nvPicPr>
          <p:cNvPr id="78" name="Image 23" descr="deck/tn23.png"/>
          <p:cNvPicPr>
            <a:picLocks noChangeAspect="1"/>
          </p:cNvPicPr>
          <p:nvPr/>
        </p:nvPicPr>
        <p:blipFill>
          <a:blip r:embed="rId26"/>
          <a:stretch>
            <a:fillRect/>
          </a:stretch>
        </p:blipFill>
        <p:spPr>
          <a:xfrm>
            <a:off x="10870331" y="4741164"/>
            <a:ext cx="380278" cy="822960"/>
          </a:xfrm>
          <a:prstGeom prst="rect">
            <a:avLst/>
          </a:prstGeom>
        </p:spPr>
      </p:pic>
      <p:sp>
        <p:nvSpPr>
          <p:cNvPr id="79" name="Text 53"/>
          <p:cNvSpPr/>
          <p:nvPr/>
        </p:nvSpPr>
        <p:spPr>
          <a:xfrm>
            <a:off x="10870331" y="5573268"/>
            <a:ext cx="380278" cy="164592"/>
          </a:xfrm>
          <a:prstGeom prst="rect">
            <a:avLst/>
          </a:prstGeom>
          <a:noFill/>
          <a:ln/>
        </p:spPr>
        <p:txBody>
          <a:bodyPr wrap="square" rtlCol="0" anchor="ctr"/>
          <a:lstStyle/>
          <a:p>
            <a:pPr marL="0" indent="0" algn="ctr">
              <a:buNone/>
            </a:pPr>
            <a:r>
              <a:rPr lang="en-US" sz="750" dirty="0">
                <a:solidFill>
                  <a:srgbClr val="5E716C"/>
                </a:solidFill>
                <a:latin typeface="Arial" pitchFamily="34" charset="0"/>
                <a:ea typeface="Arial" pitchFamily="34" charset="-122"/>
                <a:cs typeface="Arial" pitchFamily="34" charset="-120"/>
              </a:rPr>
              <a:t>23</a:t>
            </a:r>
            <a:endParaRPr lang="en-US" sz="750" dirty="0"/>
          </a:p>
        </p:txBody>
      </p:sp>
      <p:sp>
        <p:nvSpPr>
          <p:cNvPr id="80" name="Shape 54"/>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81" name="Text 55"/>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82" name="Text 56"/>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OVERVIEW</a:t>
            </a:r>
            <a:endParaRPr lang="en-US" sz="800" dirty="0"/>
          </a:p>
        </p:txBody>
      </p:sp>
      <p:sp>
        <p:nvSpPr>
          <p:cNvPr id="83" name="Text 57"/>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E6459"/>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E6459"/>
          </a:solidFill>
          <a:ln/>
        </p:spPr>
        <p:txBody>
          <a:bodyPr/>
          <a:lstStyle/>
          <a:p>
            <a:endParaRPr lang="en-US"/>
          </a:p>
        </p:txBody>
      </p:sp>
      <p:sp>
        <p:nvSpPr>
          <p:cNvPr id="3" name="Shape 1"/>
          <p:cNvSpPr/>
          <p:nvPr/>
        </p:nvSpPr>
        <p:spPr>
          <a:xfrm>
            <a:off x="0" y="0"/>
            <a:ext cx="237744" cy="6858000"/>
          </a:xfrm>
          <a:prstGeom prst="rect">
            <a:avLst/>
          </a:prstGeom>
          <a:solidFill>
            <a:srgbClr val="0E8C7C"/>
          </a:solidFill>
          <a:ln w="12700">
            <a:solidFill>
              <a:srgbClr val="333333"/>
            </a:solidFill>
            <a:prstDash val="solid"/>
          </a:ln>
        </p:spPr>
        <p:txBody>
          <a:bodyPr/>
          <a:lstStyle/>
          <a:p>
            <a:endParaRPr lang="en-US"/>
          </a:p>
        </p:txBody>
      </p:sp>
      <p:sp>
        <p:nvSpPr>
          <p:cNvPr id="4" name="Text 2"/>
          <p:cNvSpPr/>
          <p:nvPr/>
        </p:nvSpPr>
        <p:spPr>
          <a:xfrm>
            <a:off x="1005840" y="2066544"/>
            <a:ext cx="5486400" cy="292608"/>
          </a:xfrm>
          <a:prstGeom prst="rect">
            <a:avLst/>
          </a:prstGeom>
          <a:noFill/>
          <a:ln/>
        </p:spPr>
        <p:txBody>
          <a:bodyPr wrap="square" rtlCol="0" anchor="ctr"/>
          <a:lstStyle/>
          <a:p>
            <a:pPr marL="0" indent="0">
              <a:buNone/>
            </a:pPr>
            <a:r>
              <a:rPr lang="en-US" sz="1100" b="1" kern="0" spc="340" dirty="0">
                <a:solidFill>
                  <a:srgbClr val="A9C4BA"/>
                </a:solidFill>
                <a:latin typeface="Arial" pitchFamily="34" charset="0"/>
                <a:ea typeface="Arial" pitchFamily="34" charset="-122"/>
                <a:cs typeface="Arial" pitchFamily="34" charset="-120"/>
              </a:rPr>
              <a:t>STAGE 01</a:t>
            </a:r>
            <a:endParaRPr lang="en-US" sz="1100" dirty="0"/>
          </a:p>
        </p:txBody>
      </p:sp>
      <p:sp>
        <p:nvSpPr>
          <p:cNvPr id="5" name="Text 3"/>
          <p:cNvSpPr/>
          <p:nvPr/>
        </p:nvSpPr>
        <p:spPr>
          <a:xfrm>
            <a:off x="969264" y="2340864"/>
            <a:ext cx="5120640" cy="1371600"/>
          </a:xfrm>
          <a:prstGeom prst="rect">
            <a:avLst/>
          </a:prstGeom>
          <a:noFill/>
          <a:ln/>
        </p:spPr>
        <p:txBody>
          <a:bodyPr wrap="square" rtlCol="0" anchor="ctr"/>
          <a:lstStyle/>
          <a:p>
            <a:pPr marL="0" indent="0">
              <a:buNone/>
            </a:pPr>
            <a:r>
              <a:rPr lang="en-US" sz="4000" b="1" kern="0" spc="-100" dirty="0">
                <a:solidFill>
                  <a:srgbClr val="FFFFFF"/>
                </a:solidFill>
                <a:latin typeface="Arial" pitchFamily="34" charset="0"/>
                <a:ea typeface="Arial" pitchFamily="34" charset="-122"/>
                <a:cs typeface="Arial" pitchFamily="34" charset="-120"/>
              </a:rPr>
              <a:t>Enroll &amp; Set Up</a:t>
            </a:r>
            <a:endParaRPr lang="en-US" sz="4000" dirty="0"/>
          </a:p>
        </p:txBody>
      </p:sp>
      <p:sp>
        <p:nvSpPr>
          <p:cNvPr id="6" name="Text 4"/>
          <p:cNvSpPr/>
          <p:nvPr/>
        </p:nvSpPr>
        <p:spPr>
          <a:xfrm>
            <a:off x="1005840" y="3822192"/>
            <a:ext cx="4846320" cy="1097280"/>
          </a:xfrm>
          <a:prstGeom prst="rect">
            <a:avLst/>
          </a:prstGeom>
          <a:noFill/>
          <a:ln/>
        </p:spPr>
        <p:txBody>
          <a:bodyPr wrap="square" rtlCol="0" anchor="ctr"/>
          <a:lstStyle/>
          <a:p>
            <a:pPr marL="0" indent="0">
              <a:lnSpc>
                <a:spcPts val="2100"/>
              </a:lnSpc>
              <a:buNone/>
            </a:pPr>
            <a:r>
              <a:rPr lang="en-US" sz="1350" dirty="0">
                <a:solidFill>
                  <a:srgbClr val="D5E2DC"/>
                </a:solidFill>
                <a:latin typeface="Arial" pitchFamily="34" charset="0"/>
                <a:ea typeface="Arial" pitchFamily="34" charset="-122"/>
                <a:cs typeface="Arial" pitchFamily="34" charset="-120"/>
              </a:rPr>
              <a:t>Seven screens from first look to paid enrollment. The patient never fills in a form from scratch, and sees their own health data before they see the price.</a:t>
            </a:r>
            <a:endParaRPr lang="en-US" sz="1350" dirty="0"/>
          </a:p>
        </p:txBody>
      </p:sp>
      <p:sp>
        <p:nvSpPr>
          <p:cNvPr id="7" name="Text 5"/>
          <p:cNvSpPr/>
          <p:nvPr/>
        </p:nvSpPr>
        <p:spPr>
          <a:xfrm>
            <a:off x="1005840" y="5047488"/>
            <a:ext cx="3657600" cy="274320"/>
          </a:xfrm>
          <a:prstGeom prst="rect">
            <a:avLst/>
          </a:prstGeom>
          <a:noFill/>
          <a:ln/>
        </p:spPr>
        <p:txBody>
          <a:bodyPr wrap="square" rtlCol="0" anchor="ctr"/>
          <a:lstStyle/>
          <a:p>
            <a:pPr marL="0" indent="0">
              <a:buNone/>
            </a:pPr>
            <a:r>
              <a:rPr lang="en-US" sz="1050" b="1" kern="0" spc="220" dirty="0">
                <a:solidFill>
                  <a:srgbClr val="A9C4BA"/>
                </a:solidFill>
                <a:latin typeface="Arial" pitchFamily="34" charset="0"/>
                <a:ea typeface="Arial" pitchFamily="34" charset="-122"/>
                <a:cs typeface="Arial" pitchFamily="34" charset="-120"/>
              </a:rPr>
              <a:t>Screens 1–7</a:t>
            </a:r>
            <a:endParaRPr lang="en-US" sz="1050" dirty="0"/>
          </a:p>
        </p:txBody>
      </p:sp>
      <p:sp>
        <p:nvSpPr>
          <p:cNvPr id="8" name="Shape 6"/>
          <p:cNvSpPr/>
          <p:nvPr/>
        </p:nvSpPr>
        <p:spPr>
          <a:xfrm>
            <a:off x="6507048"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9" name="Image 0" descr="deck/tn01.png"/>
          <p:cNvPicPr>
            <a:picLocks noChangeAspect="1"/>
          </p:cNvPicPr>
          <p:nvPr/>
        </p:nvPicPr>
        <p:blipFill>
          <a:blip r:embed="rId3"/>
          <a:stretch>
            <a:fillRect/>
          </a:stretch>
        </p:blipFill>
        <p:spPr>
          <a:xfrm>
            <a:off x="6532651" y="1078992"/>
            <a:ext cx="1054214" cy="2281428"/>
          </a:xfrm>
          <a:prstGeom prst="rect">
            <a:avLst/>
          </a:prstGeom>
        </p:spPr>
      </p:pic>
      <p:sp>
        <p:nvSpPr>
          <p:cNvPr id="10" name="Text 7"/>
          <p:cNvSpPr/>
          <p:nvPr/>
        </p:nvSpPr>
        <p:spPr>
          <a:xfrm>
            <a:off x="6532651"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a:t>
            </a:r>
            <a:endParaRPr lang="en-US" sz="800" dirty="0"/>
          </a:p>
        </p:txBody>
      </p:sp>
      <p:sp>
        <p:nvSpPr>
          <p:cNvPr id="11" name="Shape 8"/>
          <p:cNvSpPr/>
          <p:nvPr/>
        </p:nvSpPr>
        <p:spPr>
          <a:xfrm>
            <a:off x="7698422"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12" name="Image 1" descr="deck/tn02.png"/>
          <p:cNvPicPr>
            <a:picLocks noChangeAspect="1"/>
          </p:cNvPicPr>
          <p:nvPr/>
        </p:nvPicPr>
        <p:blipFill>
          <a:blip r:embed="rId4"/>
          <a:stretch>
            <a:fillRect/>
          </a:stretch>
        </p:blipFill>
        <p:spPr>
          <a:xfrm>
            <a:off x="7724026" y="1078992"/>
            <a:ext cx="1054214" cy="2281428"/>
          </a:xfrm>
          <a:prstGeom prst="rect">
            <a:avLst/>
          </a:prstGeom>
        </p:spPr>
      </p:pic>
      <p:sp>
        <p:nvSpPr>
          <p:cNvPr id="13" name="Text 9"/>
          <p:cNvSpPr/>
          <p:nvPr/>
        </p:nvSpPr>
        <p:spPr>
          <a:xfrm>
            <a:off x="7724026"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2</a:t>
            </a:r>
            <a:endParaRPr lang="en-US" sz="800" dirty="0"/>
          </a:p>
        </p:txBody>
      </p:sp>
      <p:sp>
        <p:nvSpPr>
          <p:cNvPr id="14" name="Shape 10"/>
          <p:cNvSpPr/>
          <p:nvPr/>
        </p:nvSpPr>
        <p:spPr>
          <a:xfrm>
            <a:off x="8889797"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15" name="Image 2" descr="deck/tn03.png"/>
          <p:cNvPicPr>
            <a:picLocks noChangeAspect="1"/>
          </p:cNvPicPr>
          <p:nvPr/>
        </p:nvPicPr>
        <p:blipFill>
          <a:blip r:embed="rId5"/>
          <a:stretch>
            <a:fillRect/>
          </a:stretch>
        </p:blipFill>
        <p:spPr>
          <a:xfrm>
            <a:off x="8915400" y="1078992"/>
            <a:ext cx="1054214" cy="2281428"/>
          </a:xfrm>
          <a:prstGeom prst="rect">
            <a:avLst/>
          </a:prstGeom>
        </p:spPr>
      </p:pic>
      <p:sp>
        <p:nvSpPr>
          <p:cNvPr id="16" name="Text 11"/>
          <p:cNvSpPr/>
          <p:nvPr/>
        </p:nvSpPr>
        <p:spPr>
          <a:xfrm>
            <a:off x="8915400"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3</a:t>
            </a:r>
            <a:endParaRPr lang="en-US" sz="800" dirty="0"/>
          </a:p>
        </p:txBody>
      </p:sp>
      <p:sp>
        <p:nvSpPr>
          <p:cNvPr id="17" name="Shape 12"/>
          <p:cNvSpPr/>
          <p:nvPr/>
        </p:nvSpPr>
        <p:spPr>
          <a:xfrm>
            <a:off x="10081171"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18" name="Image 3" descr="deck/tn04.png"/>
          <p:cNvPicPr>
            <a:picLocks noChangeAspect="1"/>
          </p:cNvPicPr>
          <p:nvPr/>
        </p:nvPicPr>
        <p:blipFill>
          <a:blip r:embed="rId6"/>
          <a:stretch>
            <a:fillRect/>
          </a:stretch>
        </p:blipFill>
        <p:spPr>
          <a:xfrm>
            <a:off x="10106774" y="1078992"/>
            <a:ext cx="1054214" cy="2281428"/>
          </a:xfrm>
          <a:prstGeom prst="rect">
            <a:avLst/>
          </a:prstGeom>
        </p:spPr>
      </p:pic>
      <p:sp>
        <p:nvSpPr>
          <p:cNvPr id="19" name="Text 13"/>
          <p:cNvSpPr/>
          <p:nvPr/>
        </p:nvSpPr>
        <p:spPr>
          <a:xfrm>
            <a:off x="10106774"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4</a:t>
            </a:r>
            <a:endParaRPr lang="en-US" sz="800" dirty="0"/>
          </a:p>
        </p:txBody>
      </p:sp>
      <p:sp>
        <p:nvSpPr>
          <p:cNvPr id="20" name="Shape 14"/>
          <p:cNvSpPr/>
          <p:nvPr/>
        </p:nvSpPr>
        <p:spPr>
          <a:xfrm>
            <a:off x="7102735" y="3471977"/>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21" name="Image 4" descr="deck/tn05.png"/>
          <p:cNvPicPr>
            <a:picLocks noChangeAspect="1"/>
          </p:cNvPicPr>
          <p:nvPr/>
        </p:nvPicPr>
        <p:blipFill>
          <a:blip r:embed="rId7"/>
          <a:stretch>
            <a:fillRect/>
          </a:stretch>
        </p:blipFill>
        <p:spPr>
          <a:xfrm>
            <a:off x="7128338" y="3497580"/>
            <a:ext cx="1054214" cy="2281428"/>
          </a:xfrm>
          <a:prstGeom prst="rect">
            <a:avLst/>
          </a:prstGeom>
        </p:spPr>
      </p:pic>
      <p:sp>
        <p:nvSpPr>
          <p:cNvPr id="22" name="Text 15"/>
          <p:cNvSpPr/>
          <p:nvPr/>
        </p:nvSpPr>
        <p:spPr>
          <a:xfrm>
            <a:off x="7128338" y="5824728"/>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5</a:t>
            </a:r>
            <a:endParaRPr lang="en-US" sz="800" dirty="0"/>
          </a:p>
        </p:txBody>
      </p:sp>
      <p:sp>
        <p:nvSpPr>
          <p:cNvPr id="23" name="Shape 16"/>
          <p:cNvSpPr/>
          <p:nvPr/>
        </p:nvSpPr>
        <p:spPr>
          <a:xfrm>
            <a:off x="8294110" y="3471977"/>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24" name="Image 5" descr="deck/tn06.png"/>
          <p:cNvPicPr>
            <a:picLocks noChangeAspect="1"/>
          </p:cNvPicPr>
          <p:nvPr/>
        </p:nvPicPr>
        <p:blipFill>
          <a:blip r:embed="rId8"/>
          <a:stretch>
            <a:fillRect/>
          </a:stretch>
        </p:blipFill>
        <p:spPr>
          <a:xfrm>
            <a:off x="8319713" y="3497580"/>
            <a:ext cx="1054214" cy="2281428"/>
          </a:xfrm>
          <a:prstGeom prst="rect">
            <a:avLst/>
          </a:prstGeom>
        </p:spPr>
      </p:pic>
      <p:sp>
        <p:nvSpPr>
          <p:cNvPr id="25" name="Text 17"/>
          <p:cNvSpPr/>
          <p:nvPr/>
        </p:nvSpPr>
        <p:spPr>
          <a:xfrm>
            <a:off x="8319713" y="5824728"/>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6</a:t>
            </a:r>
            <a:endParaRPr lang="en-US" sz="800" dirty="0"/>
          </a:p>
        </p:txBody>
      </p:sp>
      <p:sp>
        <p:nvSpPr>
          <p:cNvPr id="26" name="Shape 18"/>
          <p:cNvSpPr/>
          <p:nvPr/>
        </p:nvSpPr>
        <p:spPr>
          <a:xfrm>
            <a:off x="9485484" y="3471977"/>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27" name="Image 6" descr="deck/tn07.png"/>
          <p:cNvPicPr>
            <a:picLocks noChangeAspect="1"/>
          </p:cNvPicPr>
          <p:nvPr/>
        </p:nvPicPr>
        <p:blipFill>
          <a:blip r:embed="rId9"/>
          <a:stretch>
            <a:fillRect/>
          </a:stretch>
        </p:blipFill>
        <p:spPr>
          <a:xfrm>
            <a:off x="9511087" y="3497580"/>
            <a:ext cx="1054214" cy="2281428"/>
          </a:xfrm>
          <a:prstGeom prst="rect">
            <a:avLst/>
          </a:prstGeom>
        </p:spPr>
      </p:pic>
      <p:sp>
        <p:nvSpPr>
          <p:cNvPr id="28" name="Text 19"/>
          <p:cNvSpPr/>
          <p:nvPr/>
        </p:nvSpPr>
        <p:spPr>
          <a:xfrm>
            <a:off x="9511087" y="5824728"/>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01</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01  ·  ENROLL &amp; SET UP</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Program Introduction</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The offer, in one screen</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 patient arrives from their practice already inside their own record. The first screen says what the program is and what it includes — nothing to configure, nothing to read twice.</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Six promises and no price yet; the price comes after the patient has seen their own data</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“Enroll Now” is the only action — “Learn more” catches the undecided without competing</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Physician review sits in the feature list, because that is what separates this from a consumer app</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01.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02</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01  ·  ENROLL &amp; SET UP</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Select Your Goals</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Goals first, not a questionnaire</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Ten goals, multi-select. The patient tells us what they want before we tell them anything about themselves.</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Three selected here: lose weight / reduce body fat, improve metabolic health, gain or preserve muscle</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Multi-select means one plan serves several goals rather than forcing a single named program</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Step 1 of 5 — the whole set-up is five screens, and the progress bar says so from the start</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02.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2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03</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01  ·  ENROLL &amp; SET UP</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Your Data Insights</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The record says the goal is right</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Each goal the patient chose is checked against their own longitudinal record. This confirms a decision they have already made rather than selling them one — and it is the screen a consumer application cannot build.</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A1C up from 5.6 to 5.9 in six months confirms the metabolic goal; triglycerides at 142 mg/dL and blood pressure at 134/82 confirm the weight goal</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Every card cites where the evidence came from and when, so the patient can see it is their own data and not a generic profile</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No DEXA result is claimed. Most patients have not had one at enrollment — which is exactly why it is the first required test on the next screen</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03.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3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04</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01  ·  ENROLL &amp; SET UP</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Health &amp; Lifestyle</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Confirm, don’t fill in</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Fifteen fields pre-filled from the Inlay record. The patient confirms or edits. They do not type their history into a blank form.</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Age 77 · 166 lb · 35.0 in waist · 3 medications — all of it already known</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An Edit link on each block keeps the record the patient’s rather than ours</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This is the step at which a form-based competitor loses the patient</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04.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4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05</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01  ·  ENROLL &amp; SET UP</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Required Baseline Testing</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Two tests you don’t have</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 screen does not open with a list of tests to buy. It opens with the gap between what the record already holds and what the plan needs, which is a different and far more persuasive thing.</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DEXA body composition and resting metabolic rate are not on record — both are required before a plan can be built</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comprehensive blood panel is on record from May 21, 2026 and is refreshed rather than repeated, so nobody is asked to redo work already done</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Stating the gap one screen before the price makes the $99 read as measurement rather than as a subscription</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05.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5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06</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01  ·  ENROLL &amp; SET UP</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Payment &amp; Enrollment</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$99 a month, once the value is visible</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 price appears on screen six, after the patient has seen their own data and the testing their plan will be built on.</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Seven inclusions restated at the moment of payment, where objections actually happen</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Credit card, Apple Pay and Google Pay; monthly, cancel any time, no contract</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Step 5 of 5 — enrollment closes the set-up sequence rather than opening a new one</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06.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6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07</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01  ·  ENROLL &amp; SET UP</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Enrollment Confirmed</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Four steps, then the plan</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 patient leaves the purchase knowing exactly what happens next, in what order, and who does it.</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physician review is named here, before it happens, so it is never a surprise</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“View My Testing” moves straight to the next action instead of ending the session</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tab bar appears for the first time — the patient is now inside the product</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07.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7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E6459"/>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E6459"/>
          </a:solidFill>
          <a:ln/>
        </p:spPr>
        <p:txBody>
          <a:bodyPr/>
          <a:lstStyle/>
          <a:p>
            <a:endParaRPr lang="en-US"/>
          </a:p>
        </p:txBody>
      </p:sp>
      <p:sp>
        <p:nvSpPr>
          <p:cNvPr id="3" name="Shape 1"/>
          <p:cNvSpPr/>
          <p:nvPr/>
        </p:nvSpPr>
        <p:spPr>
          <a:xfrm>
            <a:off x="0" y="0"/>
            <a:ext cx="237744" cy="6858000"/>
          </a:xfrm>
          <a:prstGeom prst="rect">
            <a:avLst/>
          </a:prstGeom>
          <a:solidFill>
            <a:srgbClr val="0E8C7C"/>
          </a:solidFill>
          <a:ln w="12700">
            <a:solidFill>
              <a:srgbClr val="333333"/>
            </a:solidFill>
            <a:prstDash val="solid"/>
          </a:ln>
        </p:spPr>
        <p:txBody>
          <a:bodyPr/>
          <a:lstStyle/>
          <a:p>
            <a:endParaRPr lang="en-US"/>
          </a:p>
        </p:txBody>
      </p:sp>
      <p:sp>
        <p:nvSpPr>
          <p:cNvPr id="4" name="Text 2"/>
          <p:cNvSpPr/>
          <p:nvPr/>
        </p:nvSpPr>
        <p:spPr>
          <a:xfrm>
            <a:off x="1005840" y="2066544"/>
            <a:ext cx="5486400" cy="292608"/>
          </a:xfrm>
          <a:prstGeom prst="rect">
            <a:avLst/>
          </a:prstGeom>
          <a:noFill/>
          <a:ln/>
        </p:spPr>
        <p:txBody>
          <a:bodyPr wrap="square" rtlCol="0" anchor="ctr"/>
          <a:lstStyle/>
          <a:p>
            <a:pPr marL="0" indent="0">
              <a:buNone/>
            </a:pPr>
            <a:r>
              <a:rPr lang="en-US" sz="1100" b="1" kern="0" spc="340" dirty="0">
                <a:solidFill>
                  <a:srgbClr val="A9C4BA"/>
                </a:solidFill>
                <a:latin typeface="Arial" pitchFamily="34" charset="0"/>
                <a:ea typeface="Arial" pitchFamily="34" charset="-122"/>
                <a:cs typeface="Arial" pitchFamily="34" charset="-120"/>
              </a:rPr>
              <a:t>STAGE 02</a:t>
            </a:r>
            <a:endParaRPr lang="en-US" sz="1100" dirty="0"/>
          </a:p>
        </p:txBody>
      </p:sp>
      <p:sp>
        <p:nvSpPr>
          <p:cNvPr id="5" name="Text 3"/>
          <p:cNvSpPr/>
          <p:nvPr/>
        </p:nvSpPr>
        <p:spPr>
          <a:xfrm>
            <a:off x="969264" y="2340864"/>
            <a:ext cx="5120640" cy="1371600"/>
          </a:xfrm>
          <a:prstGeom prst="rect">
            <a:avLst/>
          </a:prstGeom>
          <a:noFill/>
          <a:ln/>
        </p:spPr>
        <p:txBody>
          <a:bodyPr wrap="square" rtlCol="0" anchor="ctr"/>
          <a:lstStyle/>
          <a:p>
            <a:pPr marL="0" indent="0">
              <a:buNone/>
            </a:pPr>
            <a:r>
              <a:rPr lang="en-US" sz="4000" b="1" kern="0" spc="-100" dirty="0">
                <a:solidFill>
                  <a:srgbClr val="FFFFFF"/>
                </a:solidFill>
                <a:latin typeface="Arial" pitchFamily="34" charset="0"/>
                <a:ea typeface="Arial" pitchFamily="34" charset="-122"/>
                <a:cs typeface="Arial" pitchFamily="34" charset="-120"/>
              </a:rPr>
              <a:t>Baseline Testing</a:t>
            </a:r>
            <a:endParaRPr lang="en-US" sz="4000" dirty="0"/>
          </a:p>
        </p:txBody>
      </p:sp>
      <p:sp>
        <p:nvSpPr>
          <p:cNvPr id="6" name="Text 4"/>
          <p:cNvSpPr/>
          <p:nvPr/>
        </p:nvSpPr>
        <p:spPr>
          <a:xfrm>
            <a:off x="1005840" y="3822192"/>
            <a:ext cx="4846320" cy="1097280"/>
          </a:xfrm>
          <a:prstGeom prst="rect">
            <a:avLst/>
          </a:prstGeom>
          <a:noFill/>
          <a:ln/>
        </p:spPr>
        <p:txBody>
          <a:bodyPr wrap="square" rtlCol="0" anchor="ctr"/>
          <a:lstStyle/>
          <a:p>
            <a:pPr marL="0" indent="0">
              <a:lnSpc>
                <a:spcPts val="2100"/>
              </a:lnSpc>
              <a:buNone/>
            </a:pPr>
            <a:r>
              <a:rPr lang="en-US" sz="1350" dirty="0">
                <a:solidFill>
                  <a:srgbClr val="D5E2DC"/>
                </a:solidFill>
                <a:latin typeface="Arial" pitchFamily="34" charset="0"/>
                <a:ea typeface="Arial" pitchFamily="34" charset="-122"/>
                <a:cs typeface="Arial" pitchFamily="34" charset="-120"/>
              </a:rPr>
              <a:t>Inlay places the orders, takes the payment and books the appointments, then tracks the results. The patient buys the test inside the app and never chases a laboratory.</a:t>
            </a:r>
            <a:endParaRPr lang="en-US" sz="1350" dirty="0"/>
          </a:p>
        </p:txBody>
      </p:sp>
      <p:sp>
        <p:nvSpPr>
          <p:cNvPr id="7" name="Text 5"/>
          <p:cNvSpPr/>
          <p:nvPr/>
        </p:nvSpPr>
        <p:spPr>
          <a:xfrm>
            <a:off x="1005840" y="5047488"/>
            <a:ext cx="3657600" cy="274320"/>
          </a:xfrm>
          <a:prstGeom prst="rect">
            <a:avLst/>
          </a:prstGeom>
          <a:noFill/>
          <a:ln/>
        </p:spPr>
        <p:txBody>
          <a:bodyPr wrap="square" rtlCol="0" anchor="ctr"/>
          <a:lstStyle/>
          <a:p>
            <a:pPr marL="0" indent="0">
              <a:buNone/>
            </a:pPr>
            <a:r>
              <a:rPr lang="en-US" sz="1050" b="1" kern="0" spc="220" dirty="0">
                <a:solidFill>
                  <a:srgbClr val="A9C4BA"/>
                </a:solidFill>
                <a:latin typeface="Arial" pitchFamily="34" charset="0"/>
                <a:ea typeface="Arial" pitchFamily="34" charset="-122"/>
                <a:cs typeface="Arial" pitchFamily="34" charset="-120"/>
              </a:rPr>
              <a:t>Screens 8–9</a:t>
            </a:r>
            <a:endParaRPr lang="en-US" sz="1050" dirty="0"/>
          </a:p>
        </p:txBody>
      </p:sp>
      <p:sp>
        <p:nvSpPr>
          <p:cNvPr id="8" name="Shape 6"/>
          <p:cNvSpPr/>
          <p:nvPr/>
        </p:nvSpPr>
        <p:spPr>
          <a:xfrm>
            <a:off x="7358285" y="1894637"/>
            <a:ext cx="1445558" cy="3068726"/>
          </a:xfrm>
          <a:prstGeom prst="roundRect">
            <a:avLst>
              <a:gd name="adj" fmla="val 5060"/>
            </a:avLst>
          </a:prstGeom>
          <a:solidFill>
            <a:srgbClr val="1E2B28"/>
          </a:solidFill>
          <a:ln w="12700">
            <a:solidFill>
              <a:srgbClr val="333333"/>
            </a:solidFill>
            <a:prstDash val="solid"/>
          </a:ln>
        </p:spPr>
        <p:txBody>
          <a:bodyPr/>
          <a:lstStyle/>
          <a:p>
            <a:endParaRPr lang="en-US"/>
          </a:p>
        </p:txBody>
      </p:sp>
      <p:pic>
        <p:nvPicPr>
          <p:cNvPr id="9" name="Image 0" descr="deck/tn08.png"/>
          <p:cNvPicPr>
            <a:picLocks noChangeAspect="1"/>
          </p:cNvPicPr>
          <p:nvPr/>
        </p:nvPicPr>
        <p:blipFill>
          <a:blip r:embed="rId3"/>
          <a:stretch>
            <a:fillRect/>
          </a:stretch>
        </p:blipFill>
        <p:spPr>
          <a:xfrm>
            <a:off x="7383888" y="1920240"/>
            <a:ext cx="1394352" cy="3017520"/>
          </a:xfrm>
          <a:prstGeom prst="rect">
            <a:avLst/>
          </a:prstGeom>
        </p:spPr>
      </p:pic>
      <p:sp>
        <p:nvSpPr>
          <p:cNvPr id="10" name="Text 7"/>
          <p:cNvSpPr/>
          <p:nvPr/>
        </p:nvSpPr>
        <p:spPr>
          <a:xfrm>
            <a:off x="7383888" y="4983480"/>
            <a:ext cx="1394352"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8</a:t>
            </a:r>
            <a:endParaRPr lang="en-US" sz="800" dirty="0"/>
          </a:p>
        </p:txBody>
      </p:sp>
      <p:sp>
        <p:nvSpPr>
          <p:cNvPr id="11" name="Shape 8"/>
          <p:cNvSpPr/>
          <p:nvPr/>
        </p:nvSpPr>
        <p:spPr>
          <a:xfrm>
            <a:off x="8889797" y="1894637"/>
            <a:ext cx="1445558" cy="3068726"/>
          </a:xfrm>
          <a:prstGeom prst="roundRect">
            <a:avLst>
              <a:gd name="adj" fmla="val 5060"/>
            </a:avLst>
          </a:prstGeom>
          <a:solidFill>
            <a:srgbClr val="1E2B28"/>
          </a:solidFill>
          <a:ln w="12700">
            <a:solidFill>
              <a:srgbClr val="333333"/>
            </a:solidFill>
            <a:prstDash val="solid"/>
          </a:ln>
        </p:spPr>
        <p:txBody>
          <a:bodyPr/>
          <a:lstStyle/>
          <a:p>
            <a:endParaRPr lang="en-US"/>
          </a:p>
        </p:txBody>
      </p:sp>
      <p:pic>
        <p:nvPicPr>
          <p:cNvPr id="12" name="Image 1" descr="deck/tn09.png"/>
          <p:cNvPicPr>
            <a:picLocks noChangeAspect="1"/>
          </p:cNvPicPr>
          <p:nvPr/>
        </p:nvPicPr>
        <p:blipFill>
          <a:blip r:embed="rId4"/>
          <a:stretch>
            <a:fillRect/>
          </a:stretch>
        </p:blipFill>
        <p:spPr>
          <a:xfrm>
            <a:off x="8915400" y="1920240"/>
            <a:ext cx="1394352" cy="3017520"/>
          </a:xfrm>
          <a:prstGeom prst="rect">
            <a:avLst/>
          </a:prstGeom>
        </p:spPr>
      </p:pic>
      <p:sp>
        <p:nvSpPr>
          <p:cNvPr id="13" name="Text 9"/>
          <p:cNvSpPr/>
          <p:nvPr/>
        </p:nvSpPr>
        <p:spPr>
          <a:xfrm>
            <a:off x="8915400" y="4983480"/>
            <a:ext cx="1394352"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08</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02  ·  BASELINE TESTING</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Order &amp; Schedule Your Tests</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The tests are bought here</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DEXA and RMR are ordered, paid for and booked inside the app. Inlay buys from the supplier and sells to the patient, so there is no insurance claim to file and nothing for the practice to collect.</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$149 DEXA, $129 RMR, $189 comprehensive panel — $467 of testing, bundled at $399 for the member</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Michigan Longevity Center for DEXA and RMR, Quest Diagnostics for the panel; Inlay places all three orders</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Cash only, with no claim filed — the condition that keeps the testing line clear of federal referral exposure</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08.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8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09</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02  ·  BASELINE TESTING</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Testing in Progress</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Two of three complete</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 status screen answers the only question a patient has between booking and results.</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DEXA and RMR completed; blood panel results expected in 1–2 days</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A progress bar plus per-test state — no chasing, no calling the practice</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A notification is promised, so the patient has no page to keep re-checking</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09.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9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E6459"/>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E6459"/>
          </a:solidFill>
          <a:ln/>
        </p:spPr>
        <p:txBody>
          <a:bodyPr/>
          <a:lstStyle/>
          <a:p>
            <a:endParaRPr lang="en-US"/>
          </a:p>
        </p:txBody>
      </p:sp>
      <p:sp>
        <p:nvSpPr>
          <p:cNvPr id="3" name="Shape 1"/>
          <p:cNvSpPr/>
          <p:nvPr/>
        </p:nvSpPr>
        <p:spPr>
          <a:xfrm>
            <a:off x="0" y="0"/>
            <a:ext cx="237744" cy="6858000"/>
          </a:xfrm>
          <a:prstGeom prst="rect">
            <a:avLst/>
          </a:prstGeom>
          <a:solidFill>
            <a:srgbClr val="0E8C7C"/>
          </a:solidFill>
          <a:ln w="12700">
            <a:solidFill>
              <a:srgbClr val="333333"/>
            </a:solidFill>
            <a:prstDash val="solid"/>
          </a:ln>
        </p:spPr>
        <p:txBody>
          <a:bodyPr/>
          <a:lstStyle/>
          <a:p>
            <a:endParaRPr lang="en-US"/>
          </a:p>
        </p:txBody>
      </p:sp>
      <p:sp>
        <p:nvSpPr>
          <p:cNvPr id="4" name="Text 2"/>
          <p:cNvSpPr/>
          <p:nvPr/>
        </p:nvSpPr>
        <p:spPr>
          <a:xfrm>
            <a:off x="1005840" y="2066544"/>
            <a:ext cx="5486400" cy="292608"/>
          </a:xfrm>
          <a:prstGeom prst="rect">
            <a:avLst/>
          </a:prstGeom>
          <a:noFill/>
          <a:ln/>
        </p:spPr>
        <p:txBody>
          <a:bodyPr wrap="square" rtlCol="0" anchor="ctr"/>
          <a:lstStyle/>
          <a:p>
            <a:pPr marL="0" indent="0">
              <a:buNone/>
            </a:pPr>
            <a:r>
              <a:rPr lang="en-US" sz="1100" b="1" kern="0" spc="340" dirty="0">
                <a:solidFill>
                  <a:srgbClr val="A9C4BA"/>
                </a:solidFill>
                <a:latin typeface="Arial" pitchFamily="34" charset="0"/>
                <a:ea typeface="Arial" pitchFamily="34" charset="-122"/>
                <a:cs typeface="Arial" pitchFamily="34" charset="-120"/>
              </a:rPr>
              <a:t>STAGE 03</a:t>
            </a:r>
            <a:endParaRPr lang="en-US" sz="1100" dirty="0"/>
          </a:p>
        </p:txBody>
      </p:sp>
      <p:sp>
        <p:nvSpPr>
          <p:cNvPr id="5" name="Text 3"/>
          <p:cNvSpPr/>
          <p:nvPr/>
        </p:nvSpPr>
        <p:spPr>
          <a:xfrm>
            <a:off x="969264" y="2340864"/>
            <a:ext cx="5120640" cy="1371600"/>
          </a:xfrm>
          <a:prstGeom prst="rect">
            <a:avLst/>
          </a:prstGeom>
          <a:noFill/>
          <a:ln/>
        </p:spPr>
        <p:txBody>
          <a:bodyPr wrap="square" rtlCol="0" anchor="ctr"/>
          <a:lstStyle/>
          <a:p>
            <a:pPr marL="0" indent="0">
              <a:buNone/>
            </a:pPr>
            <a:r>
              <a:rPr lang="en-US" sz="4000" b="1" kern="0" spc="-100" dirty="0">
                <a:solidFill>
                  <a:srgbClr val="FFFFFF"/>
                </a:solidFill>
                <a:latin typeface="Arial" pitchFamily="34" charset="0"/>
                <a:ea typeface="Arial" pitchFamily="34" charset="-122"/>
                <a:cs typeface="Arial" pitchFamily="34" charset="-120"/>
              </a:rPr>
              <a:t>Plan Creation &amp; Approval</a:t>
            </a:r>
            <a:endParaRPr lang="en-US" sz="4000" dirty="0"/>
          </a:p>
        </p:txBody>
      </p:sp>
      <p:sp>
        <p:nvSpPr>
          <p:cNvPr id="6" name="Text 4"/>
          <p:cNvSpPr/>
          <p:nvPr/>
        </p:nvSpPr>
        <p:spPr>
          <a:xfrm>
            <a:off x="1005840" y="3822192"/>
            <a:ext cx="4846320" cy="1097280"/>
          </a:xfrm>
          <a:prstGeom prst="rect">
            <a:avLst/>
          </a:prstGeom>
          <a:noFill/>
          <a:ln/>
        </p:spPr>
        <p:txBody>
          <a:bodyPr wrap="square" rtlCol="0" anchor="ctr"/>
          <a:lstStyle/>
          <a:p>
            <a:pPr marL="0" indent="0">
              <a:lnSpc>
                <a:spcPts val="2100"/>
              </a:lnSpc>
              <a:buNone/>
            </a:pPr>
            <a:r>
              <a:rPr lang="en-US" sz="1350" dirty="0">
                <a:solidFill>
                  <a:srgbClr val="D5E2DC"/>
                </a:solidFill>
                <a:latin typeface="Arial" pitchFamily="34" charset="0"/>
                <a:ea typeface="Arial" pitchFamily="34" charset="-122"/>
                <a:cs typeface="Arial" pitchFamily="34" charset="-120"/>
              </a:rPr>
              <a:t>The plan is generated from complete results and approved by the patient's own physician — asynchronously, with no appointment required.</a:t>
            </a:r>
            <a:endParaRPr lang="en-US" sz="1350" dirty="0"/>
          </a:p>
        </p:txBody>
      </p:sp>
      <p:sp>
        <p:nvSpPr>
          <p:cNvPr id="7" name="Text 5"/>
          <p:cNvSpPr/>
          <p:nvPr/>
        </p:nvSpPr>
        <p:spPr>
          <a:xfrm>
            <a:off x="1005840" y="5047488"/>
            <a:ext cx="3657600" cy="274320"/>
          </a:xfrm>
          <a:prstGeom prst="rect">
            <a:avLst/>
          </a:prstGeom>
          <a:noFill/>
          <a:ln/>
        </p:spPr>
        <p:txBody>
          <a:bodyPr wrap="square" rtlCol="0" anchor="ctr"/>
          <a:lstStyle/>
          <a:p>
            <a:pPr marL="0" indent="0">
              <a:buNone/>
            </a:pPr>
            <a:r>
              <a:rPr lang="en-US" sz="1050" b="1" kern="0" spc="220" dirty="0">
                <a:solidFill>
                  <a:srgbClr val="A9C4BA"/>
                </a:solidFill>
                <a:latin typeface="Arial" pitchFamily="34" charset="0"/>
                <a:ea typeface="Arial" pitchFamily="34" charset="-122"/>
                <a:cs typeface="Arial" pitchFamily="34" charset="-120"/>
              </a:rPr>
              <a:t>Screens 10–11</a:t>
            </a:r>
            <a:endParaRPr lang="en-US" sz="1050" dirty="0"/>
          </a:p>
        </p:txBody>
      </p:sp>
      <p:sp>
        <p:nvSpPr>
          <p:cNvPr id="8" name="Shape 6"/>
          <p:cNvSpPr/>
          <p:nvPr/>
        </p:nvSpPr>
        <p:spPr>
          <a:xfrm>
            <a:off x="7358285" y="1894637"/>
            <a:ext cx="1445558" cy="3068726"/>
          </a:xfrm>
          <a:prstGeom prst="roundRect">
            <a:avLst>
              <a:gd name="adj" fmla="val 5060"/>
            </a:avLst>
          </a:prstGeom>
          <a:solidFill>
            <a:srgbClr val="1E2B28"/>
          </a:solidFill>
          <a:ln w="12700">
            <a:solidFill>
              <a:srgbClr val="333333"/>
            </a:solidFill>
            <a:prstDash val="solid"/>
          </a:ln>
        </p:spPr>
        <p:txBody>
          <a:bodyPr/>
          <a:lstStyle/>
          <a:p>
            <a:endParaRPr lang="en-US"/>
          </a:p>
        </p:txBody>
      </p:sp>
      <p:pic>
        <p:nvPicPr>
          <p:cNvPr id="9" name="Image 0" descr="deck/tn10.png"/>
          <p:cNvPicPr>
            <a:picLocks noChangeAspect="1"/>
          </p:cNvPicPr>
          <p:nvPr/>
        </p:nvPicPr>
        <p:blipFill>
          <a:blip r:embed="rId3"/>
          <a:stretch>
            <a:fillRect/>
          </a:stretch>
        </p:blipFill>
        <p:spPr>
          <a:xfrm>
            <a:off x="7383888" y="1920240"/>
            <a:ext cx="1394352" cy="3017520"/>
          </a:xfrm>
          <a:prstGeom prst="rect">
            <a:avLst/>
          </a:prstGeom>
        </p:spPr>
      </p:pic>
      <p:sp>
        <p:nvSpPr>
          <p:cNvPr id="10" name="Text 7"/>
          <p:cNvSpPr/>
          <p:nvPr/>
        </p:nvSpPr>
        <p:spPr>
          <a:xfrm>
            <a:off x="7383888" y="4983480"/>
            <a:ext cx="1394352"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10</a:t>
            </a:r>
            <a:endParaRPr lang="en-US" sz="800" dirty="0"/>
          </a:p>
        </p:txBody>
      </p:sp>
      <p:sp>
        <p:nvSpPr>
          <p:cNvPr id="11" name="Shape 8"/>
          <p:cNvSpPr/>
          <p:nvPr/>
        </p:nvSpPr>
        <p:spPr>
          <a:xfrm>
            <a:off x="8889797" y="1894637"/>
            <a:ext cx="1445558" cy="3068726"/>
          </a:xfrm>
          <a:prstGeom prst="roundRect">
            <a:avLst>
              <a:gd name="adj" fmla="val 5060"/>
            </a:avLst>
          </a:prstGeom>
          <a:solidFill>
            <a:srgbClr val="1E2B28"/>
          </a:solidFill>
          <a:ln w="12700">
            <a:solidFill>
              <a:srgbClr val="333333"/>
            </a:solidFill>
            <a:prstDash val="solid"/>
          </a:ln>
        </p:spPr>
        <p:txBody>
          <a:bodyPr/>
          <a:lstStyle/>
          <a:p>
            <a:endParaRPr lang="en-US"/>
          </a:p>
        </p:txBody>
      </p:sp>
      <p:pic>
        <p:nvPicPr>
          <p:cNvPr id="12" name="Image 1" descr="deck/tn11.png"/>
          <p:cNvPicPr>
            <a:picLocks noChangeAspect="1"/>
          </p:cNvPicPr>
          <p:nvPr/>
        </p:nvPicPr>
        <p:blipFill>
          <a:blip r:embed="rId4"/>
          <a:stretch>
            <a:fillRect/>
          </a:stretch>
        </p:blipFill>
        <p:spPr>
          <a:xfrm>
            <a:off x="8915400" y="1920240"/>
            <a:ext cx="1394352" cy="3017520"/>
          </a:xfrm>
          <a:prstGeom prst="rect">
            <a:avLst/>
          </a:prstGeom>
        </p:spPr>
      </p:pic>
      <p:sp>
        <p:nvSpPr>
          <p:cNvPr id="13" name="Text 9"/>
          <p:cNvSpPr/>
          <p:nvPr/>
        </p:nvSpPr>
        <p:spPr>
          <a:xfrm>
            <a:off x="8915400" y="4983480"/>
            <a:ext cx="1394352"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10</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03  ·  PLAN CREATION &amp; APPROVAL</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Physician Review</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The physician is in the loop, asynchronously</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Four stages, all visible. The review requires no appointment and no further effort from the patient.</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Tests completed → plan generated Oct 12, 2026 → physician review → plan ready</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asynchronous nature of the review is stated plainly, so nobody waits for a visit</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This is the screen that separates Inlay from an unsupervised wellness app</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0.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10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11</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03  ·  PLAN CREATION &amp; APPROVAL</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Your Plan Is Ready</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Approved, and attributed</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 plan arrives with the physician’s name attached to it.</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Built on the goals the patient chose and the complete set of test results</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Reviewed and approved by the patient’s own physician, not by a platform clinician</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One action on the screen: View My Plan</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1.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11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E6459"/>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E6459"/>
          </a:solidFill>
          <a:ln/>
        </p:spPr>
        <p:txBody>
          <a:bodyPr/>
          <a:lstStyle/>
          <a:p>
            <a:endParaRPr lang="en-US"/>
          </a:p>
        </p:txBody>
      </p:sp>
      <p:sp>
        <p:nvSpPr>
          <p:cNvPr id="3" name="Shape 1"/>
          <p:cNvSpPr/>
          <p:nvPr/>
        </p:nvSpPr>
        <p:spPr>
          <a:xfrm>
            <a:off x="0" y="0"/>
            <a:ext cx="237744" cy="6858000"/>
          </a:xfrm>
          <a:prstGeom prst="rect">
            <a:avLst/>
          </a:prstGeom>
          <a:solidFill>
            <a:srgbClr val="0E8C7C"/>
          </a:solidFill>
          <a:ln w="12700">
            <a:solidFill>
              <a:srgbClr val="333333"/>
            </a:solidFill>
            <a:prstDash val="solid"/>
          </a:ln>
        </p:spPr>
        <p:txBody>
          <a:bodyPr/>
          <a:lstStyle/>
          <a:p>
            <a:endParaRPr lang="en-US"/>
          </a:p>
        </p:txBody>
      </p:sp>
      <p:sp>
        <p:nvSpPr>
          <p:cNvPr id="4" name="Text 2"/>
          <p:cNvSpPr/>
          <p:nvPr/>
        </p:nvSpPr>
        <p:spPr>
          <a:xfrm>
            <a:off x="1005840" y="2066544"/>
            <a:ext cx="5486400" cy="292608"/>
          </a:xfrm>
          <a:prstGeom prst="rect">
            <a:avLst/>
          </a:prstGeom>
          <a:noFill/>
          <a:ln/>
        </p:spPr>
        <p:txBody>
          <a:bodyPr wrap="square" rtlCol="0" anchor="ctr"/>
          <a:lstStyle/>
          <a:p>
            <a:pPr marL="0" indent="0">
              <a:buNone/>
            </a:pPr>
            <a:r>
              <a:rPr lang="en-US" sz="1100" b="1" kern="0" spc="340" dirty="0">
                <a:solidFill>
                  <a:srgbClr val="A9C4BA"/>
                </a:solidFill>
                <a:latin typeface="Arial" pitchFamily="34" charset="0"/>
                <a:ea typeface="Arial" pitchFamily="34" charset="-122"/>
                <a:cs typeface="Arial" pitchFamily="34" charset="-120"/>
              </a:rPr>
              <a:t>STAGE 04</a:t>
            </a:r>
            <a:endParaRPr lang="en-US" sz="1100" dirty="0"/>
          </a:p>
        </p:txBody>
      </p:sp>
      <p:sp>
        <p:nvSpPr>
          <p:cNvPr id="5" name="Text 3"/>
          <p:cNvSpPr/>
          <p:nvPr/>
        </p:nvSpPr>
        <p:spPr>
          <a:xfrm>
            <a:off x="969264" y="2340864"/>
            <a:ext cx="5120640" cy="1371600"/>
          </a:xfrm>
          <a:prstGeom prst="rect">
            <a:avLst/>
          </a:prstGeom>
          <a:noFill/>
          <a:ln/>
        </p:spPr>
        <p:txBody>
          <a:bodyPr wrap="square" rtlCol="0" anchor="ctr"/>
          <a:lstStyle/>
          <a:p>
            <a:pPr marL="0" indent="0">
              <a:buNone/>
            </a:pPr>
            <a:r>
              <a:rPr lang="en-US" sz="4000" b="1" kern="0" spc="-100" dirty="0">
                <a:solidFill>
                  <a:srgbClr val="FFFFFF"/>
                </a:solidFill>
                <a:latin typeface="Arial" pitchFamily="34" charset="0"/>
                <a:ea typeface="Arial" pitchFamily="34" charset="-122"/>
                <a:cs typeface="Arial" pitchFamily="34" charset="-120"/>
              </a:rPr>
              <a:t>Daily Use</a:t>
            </a:r>
            <a:endParaRPr lang="en-US" sz="4000" dirty="0"/>
          </a:p>
        </p:txBody>
      </p:sp>
      <p:sp>
        <p:nvSpPr>
          <p:cNvPr id="6" name="Text 4"/>
          <p:cNvSpPr/>
          <p:nvPr/>
        </p:nvSpPr>
        <p:spPr>
          <a:xfrm>
            <a:off x="1005840" y="3822192"/>
            <a:ext cx="4846320" cy="1097280"/>
          </a:xfrm>
          <a:prstGeom prst="rect">
            <a:avLst/>
          </a:prstGeom>
          <a:noFill/>
          <a:ln/>
        </p:spPr>
        <p:txBody>
          <a:bodyPr wrap="square" rtlCol="0" anchor="ctr"/>
          <a:lstStyle/>
          <a:p>
            <a:pPr marL="0" indent="0">
              <a:lnSpc>
                <a:spcPts val="2100"/>
              </a:lnSpc>
              <a:buNone/>
            </a:pPr>
            <a:r>
              <a:rPr lang="en-US" sz="1350" dirty="0">
                <a:solidFill>
                  <a:srgbClr val="D5E2DC"/>
                </a:solidFill>
                <a:latin typeface="Arial" pitchFamily="34" charset="0"/>
                <a:ea typeface="Arial" pitchFamily="34" charset="-122"/>
                <a:cs typeface="Arial" pitchFamily="34" charset="-120"/>
              </a:rPr>
              <a:t>Six screens that run every day: yesterday's score, today's plan, measured progress, photographic evidence and the projection that renews the subscription.</a:t>
            </a:r>
            <a:endParaRPr lang="en-US" sz="1350" dirty="0"/>
          </a:p>
        </p:txBody>
      </p:sp>
      <p:sp>
        <p:nvSpPr>
          <p:cNvPr id="7" name="Text 5"/>
          <p:cNvSpPr/>
          <p:nvPr/>
        </p:nvSpPr>
        <p:spPr>
          <a:xfrm>
            <a:off x="1005840" y="5047488"/>
            <a:ext cx="3657600" cy="274320"/>
          </a:xfrm>
          <a:prstGeom prst="rect">
            <a:avLst/>
          </a:prstGeom>
          <a:noFill/>
          <a:ln/>
        </p:spPr>
        <p:txBody>
          <a:bodyPr wrap="square" rtlCol="0" anchor="ctr"/>
          <a:lstStyle/>
          <a:p>
            <a:pPr marL="0" indent="0">
              <a:buNone/>
            </a:pPr>
            <a:r>
              <a:rPr lang="en-US" sz="1050" b="1" kern="0" spc="220" dirty="0">
                <a:solidFill>
                  <a:srgbClr val="A9C4BA"/>
                </a:solidFill>
                <a:latin typeface="Arial" pitchFamily="34" charset="0"/>
                <a:ea typeface="Arial" pitchFamily="34" charset="-122"/>
                <a:cs typeface="Arial" pitchFamily="34" charset="-120"/>
              </a:rPr>
              <a:t>Screens 12–17</a:t>
            </a:r>
            <a:endParaRPr lang="en-US" sz="1050" dirty="0"/>
          </a:p>
        </p:txBody>
      </p:sp>
      <p:sp>
        <p:nvSpPr>
          <p:cNvPr id="8" name="Shape 6"/>
          <p:cNvSpPr/>
          <p:nvPr/>
        </p:nvSpPr>
        <p:spPr>
          <a:xfrm>
            <a:off x="7102735"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9" name="Image 0" descr="deck/tn12.png"/>
          <p:cNvPicPr>
            <a:picLocks noChangeAspect="1"/>
          </p:cNvPicPr>
          <p:nvPr/>
        </p:nvPicPr>
        <p:blipFill>
          <a:blip r:embed="rId3"/>
          <a:stretch>
            <a:fillRect/>
          </a:stretch>
        </p:blipFill>
        <p:spPr>
          <a:xfrm>
            <a:off x="7128338" y="1078992"/>
            <a:ext cx="1054214" cy="2281428"/>
          </a:xfrm>
          <a:prstGeom prst="rect">
            <a:avLst/>
          </a:prstGeom>
        </p:spPr>
      </p:pic>
      <p:sp>
        <p:nvSpPr>
          <p:cNvPr id="10" name="Text 7"/>
          <p:cNvSpPr/>
          <p:nvPr/>
        </p:nvSpPr>
        <p:spPr>
          <a:xfrm>
            <a:off x="7128338"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12</a:t>
            </a:r>
            <a:endParaRPr lang="en-US" sz="800" dirty="0"/>
          </a:p>
        </p:txBody>
      </p:sp>
      <p:sp>
        <p:nvSpPr>
          <p:cNvPr id="11" name="Shape 8"/>
          <p:cNvSpPr/>
          <p:nvPr/>
        </p:nvSpPr>
        <p:spPr>
          <a:xfrm>
            <a:off x="8294110"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12" name="Image 1" descr="deck/tn13.png"/>
          <p:cNvPicPr>
            <a:picLocks noChangeAspect="1"/>
          </p:cNvPicPr>
          <p:nvPr/>
        </p:nvPicPr>
        <p:blipFill>
          <a:blip r:embed="rId4"/>
          <a:stretch>
            <a:fillRect/>
          </a:stretch>
        </p:blipFill>
        <p:spPr>
          <a:xfrm>
            <a:off x="8319713" y="1078992"/>
            <a:ext cx="1054214" cy="2281428"/>
          </a:xfrm>
          <a:prstGeom prst="rect">
            <a:avLst/>
          </a:prstGeom>
        </p:spPr>
      </p:pic>
      <p:sp>
        <p:nvSpPr>
          <p:cNvPr id="13" name="Text 9"/>
          <p:cNvSpPr/>
          <p:nvPr/>
        </p:nvSpPr>
        <p:spPr>
          <a:xfrm>
            <a:off x="8319713"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13</a:t>
            </a:r>
            <a:endParaRPr lang="en-US" sz="800" dirty="0"/>
          </a:p>
        </p:txBody>
      </p:sp>
      <p:sp>
        <p:nvSpPr>
          <p:cNvPr id="14" name="Shape 10"/>
          <p:cNvSpPr/>
          <p:nvPr/>
        </p:nvSpPr>
        <p:spPr>
          <a:xfrm>
            <a:off x="9485484"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15" name="Image 2" descr="deck/tn14.png"/>
          <p:cNvPicPr>
            <a:picLocks noChangeAspect="1"/>
          </p:cNvPicPr>
          <p:nvPr/>
        </p:nvPicPr>
        <p:blipFill>
          <a:blip r:embed="rId5"/>
          <a:stretch>
            <a:fillRect/>
          </a:stretch>
        </p:blipFill>
        <p:spPr>
          <a:xfrm>
            <a:off x="9511087" y="1078992"/>
            <a:ext cx="1054214" cy="2281428"/>
          </a:xfrm>
          <a:prstGeom prst="rect">
            <a:avLst/>
          </a:prstGeom>
        </p:spPr>
      </p:pic>
      <p:sp>
        <p:nvSpPr>
          <p:cNvPr id="16" name="Text 11"/>
          <p:cNvSpPr/>
          <p:nvPr/>
        </p:nvSpPr>
        <p:spPr>
          <a:xfrm>
            <a:off x="9511087"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14</a:t>
            </a:r>
            <a:endParaRPr lang="en-US" sz="800" dirty="0"/>
          </a:p>
        </p:txBody>
      </p:sp>
      <p:sp>
        <p:nvSpPr>
          <p:cNvPr id="17" name="Shape 12"/>
          <p:cNvSpPr/>
          <p:nvPr/>
        </p:nvSpPr>
        <p:spPr>
          <a:xfrm>
            <a:off x="7102735" y="3471977"/>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18" name="Image 3" descr="deck/tn15.png"/>
          <p:cNvPicPr>
            <a:picLocks noChangeAspect="1"/>
          </p:cNvPicPr>
          <p:nvPr/>
        </p:nvPicPr>
        <p:blipFill>
          <a:blip r:embed="rId6"/>
          <a:stretch>
            <a:fillRect/>
          </a:stretch>
        </p:blipFill>
        <p:spPr>
          <a:xfrm>
            <a:off x="7128338" y="3497580"/>
            <a:ext cx="1054214" cy="2281428"/>
          </a:xfrm>
          <a:prstGeom prst="rect">
            <a:avLst/>
          </a:prstGeom>
        </p:spPr>
      </p:pic>
      <p:sp>
        <p:nvSpPr>
          <p:cNvPr id="19" name="Text 13"/>
          <p:cNvSpPr/>
          <p:nvPr/>
        </p:nvSpPr>
        <p:spPr>
          <a:xfrm>
            <a:off x="7128338" y="5824728"/>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15</a:t>
            </a:r>
            <a:endParaRPr lang="en-US" sz="800" dirty="0"/>
          </a:p>
        </p:txBody>
      </p:sp>
      <p:sp>
        <p:nvSpPr>
          <p:cNvPr id="20" name="Shape 14"/>
          <p:cNvSpPr/>
          <p:nvPr/>
        </p:nvSpPr>
        <p:spPr>
          <a:xfrm>
            <a:off x="8294110" y="3471977"/>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21" name="Image 4" descr="deck/tn16.png"/>
          <p:cNvPicPr>
            <a:picLocks noChangeAspect="1"/>
          </p:cNvPicPr>
          <p:nvPr/>
        </p:nvPicPr>
        <p:blipFill>
          <a:blip r:embed="rId7"/>
          <a:stretch>
            <a:fillRect/>
          </a:stretch>
        </p:blipFill>
        <p:spPr>
          <a:xfrm>
            <a:off x="8319713" y="3497580"/>
            <a:ext cx="1054214" cy="2281428"/>
          </a:xfrm>
          <a:prstGeom prst="rect">
            <a:avLst/>
          </a:prstGeom>
        </p:spPr>
      </p:pic>
      <p:sp>
        <p:nvSpPr>
          <p:cNvPr id="22" name="Text 15"/>
          <p:cNvSpPr/>
          <p:nvPr/>
        </p:nvSpPr>
        <p:spPr>
          <a:xfrm>
            <a:off x="8319713" y="5824728"/>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16</a:t>
            </a:r>
            <a:endParaRPr lang="en-US" sz="800" dirty="0"/>
          </a:p>
        </p:txBody>
      </p:sp>
      <p:sp>
        <p:nvSpPr>
          <p:cNvPr id="23" name="Shape 16"/>
          <p:cNvSpPr/>
          <p:nvPr/>
        </p:nvSpPr>
        <p:spPr>
          <a:xfrm>
            <a:off x="9485484" y="3471977"/>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24" name="Image 5" descr="deck/tn17.png"/>
          <p:cNvPicPr>
            <a:picLocks noChangeAspect="1"/>
          </p:cNvPicPr>
          <p:nvPr/>
        </p:nvPicPr>
        <p:blipFill>
          <a:blip r:embed="rId8"/>
          <a:stretch>
            <a:fillRect/>
          </a:stretch>
        </p:blipFill>
        <p:spPr>
          <a:xfrm>
            <a:off x="9511087" y="3497580"/>
            <a:ext cx="1054214" cy="2281428"/>
          </a:xfrm>
          <a:prstGeom prst="rect">
            <a:avLst/>
          </a:prstGeom>
        </p:spPr>
      </p:pic>
      <p:sp>
        <p:nvSpPr>
          <p:cNvPr id="25" name="Text 17"/>
          <p:cNvSpPr/>
          <p:nvPr/>
        </p:nvSpPr>
        <p:spPr>
          <a:xfrm>
            <a:off x="9511087" y="5824728"/>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12</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04  ·  DAILY USE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Log In</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The returning patient</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From here on the app is a daily habit rather than an onboarding flow.</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Face ID carries the daily open; email and password remain for first set-up and recovery</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Everything after this screen is what the $99 a month actually buys</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same account holds the free record layer and the paid optimization program</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2.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12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13</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04  ·  DAILY USE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Yesterday: How Did I Do?</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The first screen every morning</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One score, one insight and four goals — the whole of yesterday in a single screen, with no scrolling required.</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87% daily goal score, 3 of 4 goals achieved</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Energy balance reconciles on screen: 2,240 kcal out, 1,690 in, a 550 deficit against a 500 goal</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insight names the one miss — 8 g of protein — and what would have closed it</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3.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13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14</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04  ·  DAILY USE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Today: Personalized Plan</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Four ways to eat the plan</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A fixed menu is the fastest way to lose a patient. The day’s targets stay fixed — 500 cal deficit, 150 g protein, 1,000 mg calcium, 45 min exercise — but the food itself can come from four different places.</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Meal database and today’s plan both add in one tap, already costed in calories, protein and calcium</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Photograph It covers the meal that was never in anyone’s plan; Import takes the patient who already tracks elsewhere</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built plan stays visible but optional: breakfast 420 cal, lunch 510, dinner 620, with any meal swappable</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4.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14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15</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04  ·  DAILY USE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Progress</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Day 97</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 screen the patient shows other people — and the one that renews the subscription.</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−12.4 lb, −2.5 in at the waist, −3.1% body fat since starting</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Biomarkers moved: A1C 5.9→5.6, triglycerides 142→96, HDL 40→48, BP 134/82→122/76</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RMR up 170 kcal (+10%) — measured proof that lean mass was preserved through the loss</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5.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15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16</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04  ·  DAILY USE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Photo Check-In</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Evidence they can see</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Front and side, three dates, with weight and waist under each frame.</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Jul 1 — 178 lb · Jul 31 — 168.3 lb · Oct 5 — 165.6 lb</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Photographs stored securely; the comparison slider is the moment patients share</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Visible change is what holds a subscription together when the scale stalls</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6.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16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17</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04  ·  DAILY USE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Ask Inlay — Predictive Insights</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Where this goes if they stay</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 retention screen. It answers the question every patient asks at month three.</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30 days 162.8 lb · 60 days 160.9 lb · 120 days 157.5 lb · 1 year maintain 156–158 lb</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Every projection carries a likelihood: 85%, 80%, 75% and 70%</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Framed as estimates drawn from similar patients, never as a promise</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7.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17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E6459"/>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E6459"/>
          </a:solidFill>
          <a:ln/>
        </p:spPr>
        <p:txBody>
          <a:bodyPr/>
          <a:lstStyle/>
          <a:p>
            <a:endParaRPr lang="en-US"/>
          </a:p>
        </p:txBody>
      </p:sp>
      <p:sp>
        <p:nvSpPr>
          <p:cNvPr id="3" name="Shape 1"/>
          <p:cNvSpPr/>
          <p:nvPr/>
        </p:nvSpPr>
        <p:spPr>
          <a:xfrm>
            <a:off x="0" y="0"/>
            <a:ext cx="237744" cy="6858000"/>
          </a:xfrm>
          <a:prstGeom prst="rect">
            <a:avLst/>
          </a:prstGeom>
          <a:solidFill>
            <a:srgbClr val="0E8C7C"/>
          </a:solidFill>
          <a:ln w="12700">
            <a:solidFill>
              <a:srgbClr val="333333"/>
            </a:solidFill>
            <a:prstDash val="solid"/>
          </a:ln>
        </p:spPr>
        <p:txBody>
          <a:bodyPr/>
          <a:lstStyle/>
          <a:p>
            <a:endParaRPr lang="en-US"/>
          </a:p>
        </p:txBody>
      </p:sp>
      <p:sp>
        <p:nvSpPr>
          <p:cNvPr id="4" name="Text 2"/>
          <p:cNvSpPr/>
          <p:nvPr/>
        </p:nvSpPr>
        <p:spPr>
          <a:xfrm>
            <a:off x="1005840" y="2066544"/>
            <a:ext cx="5486400" cy="292608"/>
          </a:xfrm>
          <a:prstGeom prst="rect">
            <a:avLst/>
          </a:prstGeom>
          <a:noFill/>
          <a:ln/>
        </p:spPr>
        <p:txBody>
          <a:bodyPr wrap="square" rtlCol="0" anchor="ctr"/>
          <a:lstStyle/>
          <a:p>
            <a:pPr marL="0" indent="0">
              <a:buNone/>
            </a:pPr>
            <a:r>
              <a:rPr lang="en-US" sz="1100" b="1" kern="0" spc="340" dirty="0">
                <a:solidFill>
                  <a:srgbClr val="A9C4BA"/>
                </a:solidFill>
                <a:latin typeface="Arial" pitchFamily="34" charset="0"/>
                <a:ea typeface="Arial" pitchFamily="34" charset="-122"/>
                <a:cs typeface="Arial" pitchFamily="34" charset="-120"/>
              </a:rPr>
              <a:t>STAGE 05</a:t>
            </a:r>
            <a:endParaRPr lang="en-US" sz="1100" dirty="0"/>
          </a:p>
        </p:txBody>
      </p:sp>
      <p:sp>
        <p:nvSpPr>
          <p:cNvPr id="5" name="Text 3"/>
          <p:cNvSpPr/>
          <p:nvPr/>
        </p:nvSpPr>
        <p:spPr>
          <a:xfrm>
            <a:off x="969264" y="2340864"/>
            <a:ext cx="5120640" cy="1371600"/>
          </a:xfrm>
          <a:prstGeom prst="rect">
            <a:avLst/>
          </a:prstGeom>
          <a:noFill/>
          <a:ln/>
        </p:spPr>
        <p:txBody>
          <a:bodyPr wrap="square" rtlCol="0" anchor="ctr"/>
          <a:lstStyle/>
          <a:p>
            <a:pPr marL="0" indent="0">
              <a:buNone/>
            </a:pPr>
            <a:r>
              <a:rPr lang="en-US" sz="4000" b="1" kern="0" spc="-100" dirty="0">
                <a:solidFill>
                  <a:srgbClr val="FFFFFF"/>
                </a:solidFill>
                <a:latin typeface="Arial" pitchFamily="34" charset="0"/>
                <a:ea typeface="Arial" pitchFamily="34" charset="-122"/>
                <a:cs typeface="Arial" pitchFamily="34" charset="-120"/>
              </a:rPr>
              <a:t>Inlay Care</a:t>
            </a:r>
            <a:endParaRPr lang="en-US" sz="4000" dirty="0"/>
          </a:p>
        </p:txBody>
      </p:sp>
      <p:sp>
        <p:nvSpPr>
          <p:cNvPr id="6" name="Text 4"/>
          <p:cNvSpPr/>
          <p:nvPr/>
        </p:nvSpPr>
        <p:spPr>
          <a:xfrm>
            <a:off x="1005840" y="3822192"/>
            <a:ext cx="4846320" cy="1097280"/>
          </a:xfrm>
          <a:prstGeom prst="rect">
            <a:avLst/>
          </a:prstGeom>
          <a:noFill/>
          <a:ln/>
        </p:spPr>
        <p:txBody>
          <a:bodyPr wrap="square" rtlCol="0" anchor="ctr"/>
          <a:lstStyle/>
          <a:p>
            <a:pPr marL="0" indent="0">
              <a:lnSpc>
                <a:spcPts val="2100"/>
              </a:lnSpc>
              <a:buNone/>
            </a:pPr>
            <a:r>
              <a:rPr lang="en-US" sz="1350" dirty="0">
                <a:solidFill>
                  <a:srgbClr val="D5E2DC"/>
                </a:solidFill>
                <a:latin typeface="Arial" pitchFamily="34" charset="0"/>
                <a:ea typeface="Arial" pitchFamily="34" charset="-122"/>
                <a:cs typeface="Arial" pitchFamily="34" charset="-120"/>
              </a:rPr>
              <a:t>The app sees the surgery in the record and hands the patient a checklist drawn from their own surgical team’s instructions, with a directory of who is nearby. None of that is sold. Longevity Care, the elective screening catalogue, remains a paid Inlay product.</a:t>
            </a:r>
            <a:endParaRPr lang="en-US" sz="1350" dirty="0"/>
          </a:p>
        </p:txBody>
      </p:sp>
      <p:sp>
        <p:nvSpPr>
          <p:cNvPr id="7" name="Text 5"/>
          <p:cNvSpPr/>
          <p:nvPr/>
        </p:nvSpPr>
        <p:spPr>
          <a:xfrm>
            <a:off x="1005840" y="5047488"/>
            <a:ext cx="3657600" cy="274320"/>
          </a:xfrm>
          <a:prstGeom prst="rect">
            <a:avLst/>
          </a:prstGeom>
          <a:noFill/>
          <a:ln/>
        </p:spPr>
        <p:txBody>
          <a:bodyPr wrap="square" rtlCol="0" anchor="ctr"/>
          <a:lstStyle/>
          <a:p>
            <a:pPr marL="0" indent="0">
              <a:buNone/>
            </a:pPr>
            <a:r>
              <a:rPr lang="en-US" sz="1050" b="1" kern="0" spc="220" dirty="0">
                <a:solidFill>
                  <a:srgbClr val="A9C4BA"/>
                </a:solidFill>
                <a:latin typeface="Arial" pitchFamily="34" charset="0"/>
                <a:ea typeface="Arial" pitchFamily="34" charset="-122"/>
                <a:cs typeface="Arial" pitchFamily="34" charset="-120"/>
              </a:rPr>
              <a:t>Screens 18–23</a:t>
            </a:r>
            <a:endParaRPr lang="en-US" sz="1050" dirty="0"/>
          </a:p>
        </p:txBody>
      </p:sp>
      <p:sp>
        <p:nvSpPr>
          <p:cNvPr id="8" name="Shape 6"/>
          <p:cNvSpPr/>
          <p:nvPr/>
        </p:nvSpPr>
        <p:spPr>
          <a:xfrm>
            <a:off x="7102735"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9" name="Image 0" descr="deck/tn18.png"/>
          <p:cNvPicPr>
            <a:picLocks noChangeAspect="1"/>
          </p:cNvPicPr>
          <p:nvPr/>
        </p:nvPicPr>
        <p:blipFill>
          <a:blip r:embed="rId3"/>
          <a:stretch>
            <a:fillRect/>
          </a:stretch>
        </p:blipFill>
        <p:spPr>
          <a:xfrm>
            <a:off x="7128338" y="1078992"/>
            <a:ext cx="1054214" cy="2281428"/>
          </a:xfrm>
          <a:prstGeom prst="rect">
            <a:avLst/>
          </a:prstGeom>
        </p:spPr>
      </p:pic>
      <p:sp>
        <p:nvSpPr>
          <p:cNvPr id="10" name="Text 7"/>
          <p:cNvSpPr/>
          <p:nvPr/>
        </p:nvSpPr>
        <p:spPr>
          <a:xfrm>
            <a:off x="7128338"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18</a:t>
            </a:r>
            <a:endParaRPr lang="en-US" sz="800" dirty="0"/>
          </a:p>
        </p:txBody>
      </p:sp>
      <p:sp>
        <p:nvSpPr>
          <p:cNvPr id="11" name="Shape 8"/>
          <p:cNvSpPr/>
          <p:nvPr/>
        </p:nvSpPr>
        <p:spPr>
          <a:xfrm>
            <a:off x="8294110"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12" name="Image 1" descr="deck/tn19.png"/>
          <p:cNvPicPr>
            <a:picLocks noChangeAspect="1"/>
          </p:cNvPicPr>
          <p:nvPr/>
        </p:nvPicPr>
        <p:blipFill>
          <a:blip r:embed="rId4"/>
          <a:stretch>
            <a:fillRect/>
          </a:stretch>
        </p:blipFill>
        <p:spPr>
          <a:xfrm>
            <a:off x="8319713" y="1078992"/>
            <a:ext cx="1054214" cy="2281428"/>
          </a:xfrm>
          <a:prstGeom prst="rect">
            <a:avLst/>
          </a:prstGeom>
        </p:spPr>
      </p:pic>
      <p:sp>
        <p:nvSpPr>
          <p:cNvPr id="13" name="Text 9"/>
          <p:cNvSpPr/>
          <p:nvPr/>
        </p:nvSpPr>
        <p:spPr>
          <a:xfrm>
            <a:off x="8319713"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19</a:t>
            </a:r>
            <a:endParaRPr lang="en-US" sz="800" dirty="0"/>
          </a:p>
        </p:txBody>
      </p:sp>
      <p:sp>
        <p:nvSpPr>
          <p:cNvPr id="14" name="Shape 10"/>
          <p:cNvSpPr/>
          <p:nvPr/>
        </p:nvSpPr>
        <p:spPr>
          <a:xfrm>
            <a:off x="9485484" y="1053389"/>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15" name="Image 2" descr="deck/tn20.png"/>
          <p:cNvPicPr>
            <a:picLocks noChangeAspect="1"/>
          </p:cNvPicPr>
          <p:nvPr/>
        </p:nvPicPr>
        <p:blipFill>
          <a:blip r:embed="rId5"/>
          <a:stretch>
            <a:fillRect/>
          </a:stretch>
        </p:blipFill>
        <p:spPr>
          <a:xfrm>
            <a:off x="9511087" y="1078992"/>
            <a:ext cx="1054214" cy="2281428"/>
          </a:xfrm>
          <a:prstGeom prst="rect">
            <a:avLst/>
          </a:prstGeom>
        </p:spPr>
      </p:pic>
      <p:sp>
        <p:nvSpPr>
          <p:cNvPr id="16" name="Text 11"/>
          <p:cNvSpPr/>
          <p:nvPr/>
        </p:nvSpPr>
        <p:spPr>
          <a:xfrm>
            <a:off x="9511087" y="3406140"/>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20</a:t>
            </a:r>
            <a:endParaRPr lang="en-US" sz="800" dirty="0"/>
          </a:p>
        </p:txBody>
      </p:sp>
      <p:sp>
        <p:nvSpPr>
          <p:cNvPr id="17" name="Shape 12"/>
          <p:cNvSpPr/>
          <p:nvPr/>
        </p:nvSpPr>
        <p:spPr>
          <a:xfrm>
            <a:off x="7102735" y="3471977"/>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18" name="Image 3" descr="deck/tn21.png"/>
          <p:cNvPicPr>
            <a:picLocks noChangeAspect="1"/>
          </p:cNvPicPr>
          <p:nvPr/>
        </p:nvPicPr>
        <p:blipFill>
          <a:blip r:embed="rId6"/>
          <a:stretch>
            <a:fillRect/>
          </a:stretch>
        </p:blipFill>
        <p:spPr>
          <a:xfrm>
            <a:off x="7128338" y="3497580"/>
            <a:ext cx="1054214" cy="2281428"/>
          </a:xfrm>
          <a:prstGeom prst="rect">
            <a:avLst/>
          </a:prstGeom>
        </p:spPr>
      </p:pic>
      <p:sp>
        <p:nvSpPr>
          <p:cNvPr id="19" name="Text 13"/>
          <p:cNvSpPr/>
          <p:nvPr/>
        </p:nvSpPr>
        <p:spPr>
          <a:xfrm>
            <a:off x="7128338" y="5824728"/>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21</a:t>
            </a:r>
            <a:endParaRPr lang="en-US" sz="800" dirty="0"/>
          </a:p>
        </p:txBody>
      </p:sp>
      <p:sp>
        <p:nvSpPr>
          <p:cNvPr id="20" name="Shape 14"/>
          <p:cNvSpPr/>
          <p:nvPr/>
        </p:nvSpPr>
        <p:spPr>
          <a:xfrm>
            <a:off x="8294110" y="3471977"/>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21" name="Image 4" descr="deck/tn22.png"/>
          <p:cNvPicPr>
            <a:picLocks noChangeAspect="1"/>
          </p:cNvPicPr>
          <p:nvPr/>
        </p:nvPicPr>
        <p:blipFill>
          <a:blip r:embed="rId7"/>
          <a:stretch>
            <a:fillRect/>
          </a:stretch>
        </p:blipFill>
        <p:spPr>
          <a:xfrm>
            <a:off x="8319713" y="3497580"/>
            <a:ext cx="1054214" cy="2281428"/>
          </a:xfrm>
          <a:prstGeom prst="rect">
            <a:avLst/>
          </a:prstGeom>
        </p:spPr>
      </p:pic>
      <p:sp>
        <p:nvSpPr>
          <p:cNvPr id="22" name="Text 15"/>
          <p:cNvSpPr/>
          <p:nvPr/>
        </p:nvSpPr>
        <p:spPr>
          <a:xfrm>
            <a:off x="8319713" y="5824728"/>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22</a:t>
            </a:r>
            <a:endParaRPr lang="en-US" sz="800" dirty="0"/>
          </a:p>
        </p:txBody>
      </p:sp>
      <p:sp>
        <p:nvSpPr>
          <p:cNvPr id="23" name="Shape 16"/>
          <p:cNvSpPr/>
          <p:nvPr/>
        </p:nvSpPr>
        <p:spPr>
          <a:xfrm>
            <a:off x="9485484" y="3471977"/>
            <a:ext cx="1105421" cy="2332634"/>
          </a:xfrm>
          <a:prstGeom prst="roundRect">
            <a:avLst>
              <a:gd name="adj" fmla="val 6618"/>
            </a:avLst>
          </a:prstGeom>
          <a:solidFill>
            <a:srgbClr val="1E2B28"/>
          </a:solidFill>
          <a:ln w="12700">
            <a:solidFill>
              <a:srgbClr val="333333"/>
            </a:solidFill>
            <a:prstDash val="solid"/>
          </a:ln>
        </p:spPr>
        <p:txBody>
          <a:bodyPr/>
          <a:lstStyle/>
          <a:p>
            <a:endParaRPr lang="en-US"/>
          </a:p>
        </p:txBody>
      </p:sp>
      <p:pic>
        <p:nvPicPr>
          <p:cNvPr id="24" name="Image 5" descr="deck/tn23.png"/>
          <p:cNvPicPr>
            <a:picLocks noChangeAspect="1"/>
          </p:cNvPicPr>
          <p:nvPr/>
        </p:nvPicPr>
        <p:blipFill>
          <a:blip r:embed="rId8"/>
          <a:stretch>
            <a:fillRect/>
          </a:stretch>
        </p:blipFill>
        <p:spPr>
          <a:xfrm>
            <a:off x="9511087" y="3497580"/>
            <a:ext cx="1054214" cy="2281428"/>
          </a:xfrm>
          <a:prstGeom prst="rect">
            <a:avLst/>
          </a:prstGeom>
        </p:spPr>
      </p:pic>
      <p:sp>
        <p:nvSpPr>
          <p:cNvPr id="25" name="Text 17"/>
          <p:cNvSpPr/>
          <p:nvPr/>
        </p:nvSpPr>
        <p:spPr>
          <a:xfrm>
            <a:off x="9511087" y="5824728"/>
            <a:ext cx="1054214" cy="182880"/>
          </a:xfrm>
          <a:prstGeom prst="rect">
            <a:avLst/>
          </a:prstGeom>
          <a:noFill/>
          <a:ln/>
        </p:spPr>
        <p:txBody>
          <a:bodyPr wrap="square" rtlCol="0" anchor="ctr"/>
          <a:lstStyle/>
          <a:p>
            <a:pPr marL="0" indent="0" algn="ctr">
              <a:buNone/>
            </a:pPr>
            <a:r>
              <a:rPr lang="en-US" sz="800" dirty="0">
                <a:solidFill>
                  <a:srgbClr val="A9C4BA"/>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18</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05  ·  INLAY CARE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First Screen — Surgery Detected</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Proof that we know them</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When Inlay sees the surgery in the record, this takes the screen before Home. It says one thing, and that one thing is the whole argument for the free record.</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“You have surgery coming up on Thursday, November 12” — named, dated, five weeks ahead</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Ordered by Dr. Smith on Sep 28, and the screen says so, because the source is what makes it credible</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Nothing is sold here. The line under the button says the checklist comes from the surgical team, not from us</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8.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18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19</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05  ·  INLAY CARE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Preparation Checklist</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Fourteen things, in the right order</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Grouped by when each one matters rather than listed flat, so the patient sees the three things to do now instead of a wall of instructions five weeks early.</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3 of 14 done, with the current group open and the rest collapsed until their time comes</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content is Henry Ford’s own pre-operative instructions and Dr. Smith’s notes — Inlay carries it, Inlay did not write it</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One box at the foot for local providers, worded as help rather than as a storefront</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19.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19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20</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05  ·  INLAY CARE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Local Providers</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Who is nearby, and nothing else</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Therapy, equipment, transport and home help near Clarkston. The patient arranges and pays directly; Inlay takes no fee and never touches the transaction.</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Two of the three clinics already accept Dr. Smith’s order — the one thing only we would know</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Call and Map. No price, no booking, no checkout</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“Inlay has no financial relationship with any provider listed here” sits at the foot of the screen</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20.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20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21</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05  ·  INLAY CARE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Checklist Item</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Why, not just what</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Opening an item gives the reason behind it, which is what turns a list of instructions into something a patient actually follows.</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Why it matters, what to do, and what else is worth arranging while they are at it</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Dated and specific: collected from Henry Ford West Bloomfield on the afternoon of November 12</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transport box appears here too, because this is the moment the patient needs it</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21.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21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22</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05  ·  INLAY CARE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Longevity Care</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For the patient who comes looking</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The elective side, and the one part of Inlay Care that is still sold. Nothing here is triggered by an event — it is for the well patient who wants to find something early.</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“You are well today” is the opening line, which is what makes the rest of the page credible</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Suggested for you sits above the catalogue, drawn from age, record and family history</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Suggested is worded as options to consider, never as recommendations</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22.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22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7699248" y="475488"/>
            <a:ext cx="0" cy="5596128"/>
          </a:xfrm>
          <a:prstGeom prst="line">
            <a:avLst/>
          </a:prstGeom>
          <a:noFill/>
          <a:ln w="9525">
            <a:solidFill>
              <a:srgbClr val="D8D2C8"/>
            </a:solidFill>
            <a:prstDash val="solid"/>
          </a:ln>
        </p:spPr>
        <p:txBody>
          <a:bodyPr/>
          <a:lstStyle/>
          <a:p>
            <a:endParaRPr lang="en-US"/>
          </a:p>
        </p:txBody>
      </p:sp>
      <p:sp>
        <p:nvSpPr>
          <p:cNvPr id="3" name="Text 1"/>
          <p:cNvSpPr/>
          <p:nvPr/>
        </p:nvSpPr>
        <p:spPr>
          <a:xfrm>
            <a:off x="5852160" y="274320"/>
            <a:ext cx="1700784" cy="1097280"/>
          </a:xfrm>
          <a:prstGeom prst="rect">
            <a:avLst/>
          </a:prstGeom>
          <a:noFill/>
          <a:ln/>
        </p:spPr>
        <p:txBody>
          <a:bodyPr wrap="square" rtlCol="0" anchor="t"/>
          <a:lstStyle/>
          <a:p>
            <a:pPr marL="0" indent="0" algn="r">
              <a:buNone/>
            </a:pPr>
            <a:r>
              <a:rPr lang="en-US" sz="7800" b="1" kern="0" spc="-200" dirty="0">
                <a:solidFill>
                  <a:srgbClr val="E8E3D8"/>
                </a:solidFill>
                <a:latin typeface="Arial" pitchFamily="34" charset="0"/>
                <a:ea typeface="Arial" pitchFamily="34" charset="-122"/>
                <a:cs typeface="Arial" pitchFamily="34" charset="-120"/>
              </a:rPr>
              <a:t>23</a:t>
            </a:r>
            <a:endParaRPr lang="en-US" sz="7800" dirty="0"/>
          </a:p>
        </p:txBody>
      </p:sp>
      <p:pic>
        <p:nvPicPr>
          <p:cNvPr id="4" name="Image 0" descr="deck/logo_dark.png"/>
          <p:cNvPicPr>
            <a:picLocks noChangeAspect="1"/>
          </p:cNvPicPr>
          <p:nvPr/>
        </p:nvPicPr>
        <p:blipFill>
          <a:blip r:embed="rId3"/>
          <a:stretch>
            <a:fillRect/>
          </a:stretch>
        </p:blipFill>
        <p:spPr>
          <a:xfrm>
            <a:off x="777240" y="420624"/>
            <a:ext cx="1444752" cy="338328"/>
          </a:xfrm>
          <a:prstGeom prst="rect">
            <a:avLst/>
          </a:prstGeom>
        </p:spPr>
      </p:pic>
      <p:sp>
        <p:nvSpPr>
          <p:cNvPr id="5" name="Shape 2"/>
          <p:cNvSpPr/>
          <p:nvPr/>
        </p:nvSpPr>
        <p:spPr>
          <a:xfrm>
            <a:off x="777240" y="1042416"/>
            <a:ext cx="2395728" cy="274320"/>
          </a:xfrm>
          <a:prstGeom prst="roundRect">
            <a:avLst>
              <a:gd name="adj" fmla="val 50000"/>
            </a:avLst>
          </a:prstGeom>
          <a:solidFill>
            <a:srgbClr val="EDF1EE"/>
          </a:solidFill>
          <a:ln w="12700">
            <a:solidFill>
              <a:srgbClr val="333333"/>
            </a:solidFill>
            <a:prstDash val="solid"/>
          </a:ln>
        </p:spPr>
        <p:txBody>
          <a:bodyPr/>
          <a:lstStyle/>
          <a:p>
            <a:endParaRPr lang="en-US"/>
          </a:p>
        </p:txBody>
      </p:sp>
      <p:sp>
        <p:nvSpPr>
          <p:cNvPr id="6" name="Text 3"/>
          <p:cNvSpPr/>
          <p:nvPr/>
        </p:nvSpPr>
        <p:spPr>
          <a:xfrm>
            <a:off x="777240" y="1042416"/>
            <a:ext cx="2395728" cy="274320"/>
          </a:xfrm>
          <a:prstGeom prst="rect">
            <a:avLst/>
          </a:prstGeom>
          <a:noFill/>
          <a:ln/>
        </p:spPr>
        <p:txBody>
          <a:bodyPr wrap="square" rtlCol="0" anchor="ctr"/>
          <a:lstStyle/>
          <a:p>
            <a:pPr marL="0" indent="0" algn="ctr">
              <a:buNone/>
            </a:pPr>
            <a:r>
              <a:rPr lang="en-US" sz="760" b="1" kern="0" spc="90" dirty="0">
                <a:solidFill>
                  <a:srgbClr val="3E6459"/>
                </a:solidFill>
                <a:latin typeface="Arial" pitchFamily="34" charset="0"/>
                <a:ea typeface="Arial" pitchFamily="34" charset="-122"/>
                <a:cs typeface="Arial" pitchFamily="34" charset="-120"/>
              </a:rPr>
              <a:t>STAGE 05  ·  INLAY CARE</a:t>
            </a:r>
            <a:endParaRPr lang="en-US" sz="760" dirty="0"/>
          </a:p>
        </p:txBody>
      </p:sp>
      <p:sp>
        <p:nvSpPr>
          <p:cNvPr id="7" name="Text 4"/>
          <p:cNvSpPr/>
          <p:nvPr/>
        </p:nvSpPr>
        <p:spPr>
          <a:xfrm>
            <a:off x="777240" y="1481328"/>
            <a:ext cx="6400800" cy="237744"/>
          </a:xfrm>
          <a:prstGeom prst="rect">
            <a:avLst/>
          </a:prstGeom>
          <a:noFill/>
          <a:ln/>
        </p:spPr>
        <p:txBody>
          <a:bodyPr wrap="square" rtlCol="0" anchor="t"/>
          <a:lstStyle/>
          <a:p>
            <a:pPr marL="0" indent="0">
              <a:buNone/>
            </a:pPr>
            <a:r>
              <a:rPr lang="en-US" sz="1100" b="1" kern="0" spc="110" dirty="0">
                <a:solidFill>
                  <a:srgbClr val="0E8C7C"/>
                </a:solidFill>
                <a:latin typeface="Arial" pitchFamily="34" charset="0"/>
                <a:ea typeface="Arial" pitchFamily="34" charset="-122"/>
                <a:cs typeface="Arial" pitchFamily="34" charset="-120"/>
              </a:rPr>
              <a:t>Longevity Care — Test Detail</a:t>
            </a:r>
            <a:endParaRPr lang="en-US" sz="1100" dirty="0"/>
          </a:p>
        </p:txBody>
      </p:sp>
      <p:sp>
        <p:nvSpPr>
          <p:cNvPr id="8" name="Text 5"/>
          <p:cNvSpPr/>
          <p:nvPr/>
        </p:nvSpPr>
        <p:spPr>
          <a:xfrm>
            <a:off x="749808" y="1773936"/>
            <a:ext cx="6492240" cy="950976"/>
          </a:xfrm>
          <a:prstGeom prst="rect">
            <a:avLst/>
          </a:prstGeom>
          <a:noFill/>
          <a:ln/>
        </p:spPr>
        <p:txBody>
          <a:bodyPr wrap="square" rtlCol="0" anchor="t"/>
          <a:lstStyle/>
          <a:p>
            <a:pPr marL="0" indent="0">
              <a:lnSpc>
                <a:spcPts val="3600"/>
              </a:lnSpc>
              <a:buNone/>
            </a:pPr>
            <a:r>
              <a:rPr lang="en-US" sz="3100" b="1" kern="0" spc="-80" dirty="0">
                <a:solidFill>
                  <a:srgbClr val="20302C"/>
                </a:solidFill>
                <a:latin typeface="Arial" pitchFamily="34" charset="0"/>
                <a:ea typeface="Arial" pitchFamily="34" charset="-122"/>
                <a:cs typeface="Arial" pitchFamily="34" charset="-120"/>
              </a:rPr>
              <a:t>What it cannot tell you</a:t>
            </a:r>
            <a:endParaRPr lang="en-US" sz="3100" dirty="0"/>
          </a:p>
        </p:txBody>
      </p:sp>
      <p:sp>
        <p:nvSpPr>
          <p:cNvPr id="9" name="Shape 6"/>
          <p:cNvSpPr/>
          <p:nvPr/>
        </p:nvSpPr>
        <p:spPr>
          <a:xfrm>
            <a:off x="777240" y="2852928"/>
            <a:ext cx="1051560" cy="0"/>
          </a:xfrm>
          <a:prstGeom prst="line">
            <a:avLst/>
          </a:prstGeom>
          <a:noFill/>
          <a:ln w="26670">
            <a:solidFill>
              <a:srgbClr val="3E6459"/>
            </a:solidFill>
            <a:prstDash val="solid"/>
          </a:ln>
        </p:spPr>
        <p:txBody>
          <a:bodyPr/>
          <a:lstStyle/>
          <a:p>
            <a:endParaRPr lang="en-US"/>
          </a:p>
        </p:txBody>
      </p:sp>
      <p:sp>
        <p:nvSpPr>
          <p:cNvPr id="10" name="Text 7"/>
          <p:cNvSpPr/>
          <p:nvPr/>
        </p:nvSpPr>
        <p:spPr>
          <a:xfrm>
            <a:off x="777240" y="3035808"/>
            <a:ext cx="6309360" cy="868680"/>
          </a:xfrm>
          <a:prstGeom prst="rect">
            <a:avLst/>
          </a:prstGeom>
          <a:noFill/>
          <a:ln/>
        </p:spPr>
        <p:txBody>
          <a:bodyPr wrap="square" rtlCol="0" anchor="t"/>
          <a:lstStyle/>
          <a:p>
            <a:pPr marL="0" indent="0">
              <a:lnSpc>
                <a:spcPts val="2100"/>
              </a:lnSpc>
              <a:buNone/>
            </a:pPr>
            <a:r>
              <a:rPr lang="en-US" sz="1320" dirty="0">
                <a:solidFill>
                  <a:srgbClr val="45564F"/>
                </a:solidFill>
                <a:latin typeface="Arial" pitchFamily="34" charset="0"/>
                <a:ea typeface="Arial" pitchFamily="34" charset="-122"/>
                <a:cs typeface="Arial" pitchFamily="34" charset="-120"/>
              </a:rPr>
              <a:t>Every elective test carries the same six disclosures, the limits included. This is the page that protects the brand when a screening result turns out to be nothing.</a:t>
            </a:r>
            <a:endParaRPr lang="en-US" sz="1320" dirty="0"/>
          </a:p>
        </p:txBody>
      </p:sp>
      <p:sp>
        <p:nvSpPr>
          <p:cNvPr id="11" name="Shape 8"/>
          <p:cNvSpPr/>
          <p:nvPr/>
        </p:nvSpPr>
        <p:spPr>
          <a:xfrm>
            <a:off x="804672" y="4055364"/>
            <a:ext cx="65837" cy="65837"/>
          </a:xfrm>
          <a:prstGeom prst="rect">
            <a:avLst/>
          </a:prstGeom>
          <a:solidFill>
            <a:srgbClr val="0E8C7C"/>
          </a:solidFill>
          <a:ln w="12700">
            <a:solidFill>
              <a:srgbClr val="333333"/>
            </a:solidFill>
            <a:prstDash val="solid"/>
          </a:ln>
        </p:spPr>
        <p:txBody>
          <a:bodyPr/>
          <a:lstStyle/>
          <a:p>
            <a:endParaRPr lang="en-US"/>
          </a:p>
        </p:txBody>
      </p:sp>
      <p:sp>
        <p:nvSpPr>
          <p:cNvPr id="12" name="Text 9"/>
          <p:cNvSpPr/>
          <p:nvPr/>
        </p:nvSpPr>
        <p:spPr>
          <a:xfrm>
            <a:off x="1042416" y="3968496"/>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$949 standard, $854 for members, with the request routed to the physician rather than left to the patient</a:t>
            </a:r>
            <a:endParaRPr lang="en-US" sz="1120" dirty="0"/>
          </a:p>
        </p:txBody>
      </p:sp>
      <p:sp>
        <p:nvSpPr>
          <p:cNvPr id="13" name="Shape 10"/>
          <p:cNvSpPr/>
          <p:nvPr/>
        </p:nvSpPr>
        <p:spPr>
          <a:xfrm>
            <a:off x="804672" y="4677156"/>
            <a:ext cx="65837" cy="65837"/>
          </a:xfrm>
          <a:prstGeom prst="rect">
            <a:avLst/>
          </a:prstGeom>
          <a:solidFill>
            <a:srgbClr val="0E8C7C"/>
          </a:solidFill>
          <a:ln w="12700">
            <a:solidFill>
              <a:srgbClr val="333333"/>
            </a:solidFill>
            <a:prstDash val="solid"/>
          </a:ln>
        </p:spPr>
        <p:txBody>
          <a:bodyPr/>
          <a:lstStyle/>
          <a:p>
            <a:endParaRPr lang="en-US"/>
          </a:p>
        </p:txBody>
      </p:sp>
      <p:sp>
        <p:nvSpPr>
          <p:cNvPr id="14" name="Text 11"/>
          <p:cNvSpPr/>
          <p:nvPr/>
        </p:nvSpPr>
        <p:spPr>
          <a:xfrm>
            <a:off x="1042416" y="4590288"/>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The physician writes and holds the order; Inlay only connects the patient to the provider</a:t>
            </a:r>
            <a:endParaRPr lang="en-US" sz="1120" dirty="0"/>
          </a:p>
        </p:txBody>
      </p:sp>
      <p:sp>
        <p:nvSpPr>
          <p:cNvPr id="15" name="Shape 12"/>
          <p:cNvSpPr/>
          <p:nvPr/>
        </p:nvSpPr>
        <p:spPr>
          <a:xfrm>
            <a:off x="804672" y="5298948"/>
            <a:ext cx="65837" cy="65837"/>
          </a:xfrm>
          <a:prstGeom prst="rect">
            <a:avLst/>
          </a:prstGeom>
          <a:solidFill>
            <a:srgbClr val="0E8C7C"/>
          </a:solidFill>
          <a:ln w="12700">
            <a:solidFill>
              <a:srgbClr val="333333"/>
            </a:solidFill>
            <a:prstDash val="solid"/>
          </a:ln>
        </p:spPr>
        <p:txBody>
          <a:bodyPr/>
          <a:lstStyle/>
          <a:p>
            <a:endParaRPr lang="en-US"/>
          </a:p>
        </p:txBody>
      </p:sp>
      <p:sp>
        <p:nvSpPr>
          <p:cNvPr id="16" name="Text 13"/>
          <p:cNvSpPr/>
          <p:nvPr/>
        </p:nvSpPr>
        <p:spPr>
          <a:xfrm>
            <a:off x="1042416" y="5212080"/>
            <a:ext cx="5943600" cy="548640"/>
          </a:xfrm>
          <a:prstGeom prst="rect">
            <a:avLst/>
          </a:prstGeom>
          <a:noFill/>
          <a:ln/>
        </p:spPr>
        <p:txBody>
          <a:bodyPr wrap="square" rtlCol="0" anchor="t"/>
          <a:lstStyle/>
          <a:p>
            <a:pPr marL="0" indent="0">
              <a:lnSpc>
                <a:spcPts val="1600"/>
              </a:lnSpc>
              <a:buNone/>
            </a:pPr>
            <a:r>
              <a:rPr lang="en-US" sz="1120" dirty="0">
                <a:solidFill>
                  <a:srgbClr val="5E716C"/>
                </a:solidFill>
                <a:latin typeface="Arial" pitchFamily="34" charset="0"/>
                <a:ea typeface="Arial" pitchFamily="34" charset="-122"/>
                <a:cs typeface="Arial" pitchFamily="34" charset="-120"/>
              </a:rPr>
              <a:t>“It does not rule cancer out, and a positive signal is not a diagnosis” sits on the page, not in the terms</a:t>
            </a:r>
            <a:endParaRPr lang="en-US" sz="1120" dirty="0"/>
          </a:p>
        </p:txBody>
      </p:sp>
      <p:sp>
        <p:nvSpPr>
          <p:cNvPr id="17" name="Shape 14"/>
          <p:cNvSpPr/>
          <p:nvPr/>
        </p:nvSpPr>
        <p:spPr>
          <a:xfrm>
            <a:off x="8581644" y="461772"/>
            <a:ext cx="2720275" cy="5769864"/>
          </a:xfrm>
          <a:prstGeom prst="roundRect">
            <a:avLst>
              <a:gd name="adj" fmla="val 6387"/>
            </a:avLst>
          </a:prstGeom>
          <a:solidFill>
            <a:srgbClr val="1E2B28"/>
          </a:solidFill>
          <a:ln w="12700">
            <a:solidFill>
              <a:srgbClr val="1E2B28"/>
            </a:solidFill>
            <a:prstDash val="solid"/>
          </a:ln>
          <a:effectLst>
            <a:outerShdw blurRad="279400" dist="88900" dir="5400000" algn="bl" rotWithShape="0">
              <a:srgbClr val="1E2B28">
                <a:alpha val="26000"/>
              </a:srgbClr>
            </a:outerShdw>
          </a:effectLst>
        </p:spPr>
        <p:txBody>
          <a:bodyPr/>
          <a:lstStyle/>
          <a:p>
            <a:endParaRPr lang="en-US"/>
          </a:p>
        </p:txBody>
      </p:sp>
      <p:pic>
        <p:nvPicPr>
          <p:cNvPr id="18" name="Image 1" descr="deck/ph23.png"/>
          <p:cNvPicPr>
            <a:picLocks noChangeAspect="1"/>
          </p:cNvPicPr>
          <p:nvPr/>
        </p:nvPicPr>
        <p:blipFill>
          <a:blip r:embed="rId4"/>
          <a:stretch>
            <a:fillRect/>
          </a:stretch>
        </p:blipFill>
        <p:spPr>
          <a:xfrm>
            <a:off x="8631936" y="512064"/>
            <a:ext cx="2619691" cy="5669280"/>
          </a:xfrm>
          <a:prstGeom prst="rect">
            <a:avLst/>
          </a:prstGeom>
        </p:spPr>
      </p:pic>
      <p:sp>
        <p:nvSpPr>
          <p:cNvPr id="19" name="Shape 15"/>
          <p:cNvSpPr/>
          <p:nvPr/>
        </p:nvSpPr>
        <p:spPr>
          <a:xfrm>
            <a:off x="566928" y="6327648"/>
            <a:ext cx="11057839" cy="0"/>
          </a:xfrm>
          <a:prstGeom prst="line">
            <a:avLst/>
          </a:prstGeom>
          <a:noFill/>
          <a:ln w="9525">
            <a:solidFill>
              <a:srgbClr val="D8D2C8"/>
            </a:solidFill>
            <a:prstDash val="solid"/>
          </a:ln>
        </p:spPr>
        <p:txBody>
          <a:bodyPr/>
          <a:lstStyle/>
          <a:p>
            <a:endParaRPr lang="en-US"/>
          </a:p>
        </p:txBody>
      </p:sp>
      <p:sp>
        <p:nvSpPr>
          <p:cNvPr id="20" name="Text 16"/>
          <p:cNvSpPr/>
          <p:nvPr/>
        </p:nvSpPr>
        <p:spPr>
          <a:xfrm>
            <a:off x="777240" y="6400800"/>
            <a:ext cx="6400800" cy="274320"/>
          </a:xfrm>
          <a:prstGeom prst="rect">
            <a:avLst/>
          </a:prstGeom>
          <a:noFill/>
          <a:ln/>
        </p:spPr>
        <p:txBody>
          <a:bodyPr wrap="square" rtlCol="0" anchor="ctr"/>
          <a:lstStyle/>
          <a:p>
            <a:pPr marL="0" indent="0">
              <a:buNone/>
            </a:pPr>
            <a:r>
              <a:rPr lang="en-US" sz="800" kern="0" spc="140" dirty="0">
                <a:solidFill>
                  <a:srgbClr val="5E716C"/>
                </a:solidFill>
                <a:latin typeface="Arial" pitchFamily="34" charset="0"/>
                <a:ea typeface="Arial" pitchFamily="34" charset="-122"/>
                <a:cs typeface="Arial" pitchFamily="34" charset="-120"/>
              </a:rPr>
              <a:t>INLAY HEALTH  ·  OPTIMIZATION PATIENT JOURNEY</a:t>
            </a:r>
            <a:endParaRPr lang="en-US" sz="800" dirty="0"/>
          </a:p>
        </p:txBody>
      </p:sp>
      <p:sp>
        <p:nvSpPr>
          <p:cNvPr id="21" name="Text 17"/>
          <p:cNvSpPr/>
          <p:nvPr/>
        </p:nvSpPr>
        <p:spPr>
          <a:xfrm>
            <a:off x="6858000" y="6400800"/>
            <a:ext cx="3749040" cy="274320"/>
          </a:xfrm>
          <a:prstGeom prst="rect">
            <a:avLst/>
          </a:prstGeom>
          <a:noFill/>
          <a:ln/>
        </p:spPr>
        <p:txBody>
          <a:bodyPr wrap="square" rtlCol="0" anchor="ctr"/>
          <a:lstStyle/>
          <a:p>
            <a:pPr marL="0" indent="0" algn="r">
              <a:buNone/>
            </a:pPr>
            <a:r>
              <a:rPr lang="en-US" sz="800" kern="0" spc="140" dirty="0">
                <a:solidFill>
                  <a:srgbClr val="5E716C"/>
                </a:solidFill>
                <a:latin typeface="Arial" pitchFamily="34" charset="0"/>
                <a:ea typeface="Arial" pitchFamily="34" charset="-122"/>
                <a:cs typeface="Arial" pitchFamily="34" charset="-120"/>
              </a:rPr>
              <a:t>SCREEN 23 OF 23</a:t>
            </a:r>
            <a:endParaRPr lang="en-US" sz="800" dirty="0"/>
          </a:p>
        </p:txBody>
      </p:sp>
      <p:sp>
        <p:nvSpPr>
          <p:cNvPr id="22" name="Text 18"/>
          <p:cNvSpPr/>
          <p:nvPr/>
        </p:nvSpPr>
        <p:spPr>
          <a:xfrm>
            <a:off x="10789920" y="6400800"/>
            <a:ext cx="621792" cy="274320"/>
          </a:xfrm>
          <a:prstGeom prst="rect">
            <a:avLst/>
          </a:prstGeom>
          <a:noFill/>
          <a:ln/>
        </p:spPr>
        <p:txBody>
          <a:bodyPr wrap="square" rtlCol="0" anchor="ctr"/>
          <a:lstStyle/>
          <a:p>
            <a:pPr marL="0" indent="0" algn="r">
              <a:buNone/>
            </a:pPr>
            <a:r>
              <a:rPr lang="en-US" sz="900" b="1" dirty="0">
                <a:solidFill>
                  <a:srgbClr val="3E6459"/>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2913</Words>
  <Application>Microsoft Macintosh PowerPoint</Application>
  <PresentationFormat>Widescreen</PresentationFormat>
  <Paragraphs>384</Paragraphs>
  <Slides>30</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Inlay Health — Optimization Patient Journey</dc:title>
  <dc:subject>PptxGenJS Presentation</dc:subject>
  <dc:creator>Inlay Health</dc:creator>
  <cp:lastModifiedBy>edward santangelo</cp:lastModifiedBy>
  <cp:revision>2</cp:revision>
  <dcterms:created xsi:type="dcterms:W3CDTF">2026-10-08T16:00:19Z</dcterms:created>
  <dcterms:modified xsi:type="dcterms:W3CDTF">2026-10-08T16:04:56Z</dcterms:modified>
</cp:coreProperties>
</file>