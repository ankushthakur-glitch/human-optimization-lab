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slideLayout" Target="../slideLayouts/slideLayout1.xml"/><Relationship Id="rId5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image" Target="../media/image-4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105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0" descr="/private/tmp/claude-501/-Users-thinkitive-Human-Optimization-Lab/20402885-ea6a-4b63-a00a-f3674f041e66/scratchpad/dec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13232"/>
            <a:ext cx="214884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PROGRAM  ·  VERSION 16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103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Journey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2724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screens, from activating the account to the member's daily plan.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25196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Activate &amp; Sign In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Consent &amp; Connect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Onboarding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Dashboard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Optimization Plan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Daily Use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Inlay Care</a:t>
            </a:r>
            <a:endParaRPr lang="en-US" sz="1150" dirty="0"/>
          </a:p>
        </p:txBody>
      </p:sp>
      <p:pic>
        <p:nvPicPr>
          <p:cNvPr id="11" name="Image 1" descr="/private/tmp/claude-501/-Users-thinkitive-Human-Optimization-Lab/20402885-ea6a-4b63-a00a-f3674f041e66/scratchpad/deck/sh/01-activ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3611880"/>
            <a:ext cx="274320" cy="593657"/>
          </a:xfrm>
          <a:prstGeom prst="rect">
            <a:avLst/>
          </a:prstGeom>
        </p:spPr>
      </p:pic>
      <p:pic>
        <p:nvPicPr>
          <p:cNvPr id="12" name="Image 2" descr="/private/tmp/claude-501/-Users-thinkitive-Human-Optimization-Lab/20402885-ea6a-4b63-a00a-f3674f041e66/scratchpad/deck/sh/02-set-passwo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3611880"/>
            <a:ext cx="274320" cy="593657"/>
          </a:xfrm>
          <a:prstGeom prst="rect">
            <a:avLst/>
          </a:prstGeom>
        </p:spPr>
      </p:pic>
      <p:pic>
        <p:nvPicPr>
          <p:cNvPr id="13" name="Image 3" descr="/private/tmp/claude-501/-Users-thinkitive-Human-Optimization-Lab/20402885-ea6a-4b63-a00a-f3674f041e66/scratchpad/deck/sh/03-sign-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611880"/>
            <a:ext cx="274320" cy="593657"/>
          </a:xfrm>
          <a:prstGeom prst="rect">
            <a:avLst/>
          </a:prstGeom>
        </p:spPr>
      </p:pic>
      <p:pic>
        <p:nvPicPr>
          <p:cNvPr id="14" name="Image 4" descr="/private/tmp/claude-501/-Users-thinkitive-Human-Optimization-Lab/20402885-ea6a-4b63-a00a-f3674f041e66/scratchpad/deck/sh/04-about-yo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204" y="3611880"/>
            <a:ext cx="274320" cy="593657"/>
          </a:xfrm>
          <a:prstGeom prst="rect">
            <a:avLst/>
          </a:prstGeom>
        </p:spPr>
      </p:pic>
      <p:pic>
        <p:nvPicPr>
          <p:cNvPr id="15" name="Image 5" descr="/private/tmp/claude-501/-Users-thinkitive-Human-Optimization-Lab/20402885-ea6a-4b63-a00a-f3674f041e66/scratchpad/deck/sh/05-consent-tick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611880"/>
            <a:ext cx="274320" cy="593657"/>
          </a:xfrm>
          <a:prstGeom prst="rect">
            <a:avLst/>
          </a:prstGeom>
        </p:spPr>
      </p:pic>
      <p:pic>
        <p:nvPicPr>
          <p:cNvPr id="16" name="Image 6" descr="/private/tmp/claude-501/-Users-thinkitive-Human-Optimization-Lab/20402885-ea6a-4b63-a00a-f3674f041e66/scratchpad/deck/sh/06-connect-record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3428" y="3611880"/>
            <a:ext cx="274320" cy="593657"/>
          </a:xfrm>
          <a:prstGeom prst="rect">
            <a:avLst/>
          </a:prstGeom>
        </p:spPr>
      </p:pic>
      <p:pic>
        <p:nvPicPr>
          <p:cNvPr id="17" name="Image 7" descr="/private/tmp/claude-501/-Users-thinkitive-Human-Optimization-Lab/20402885-ea6a-4b63-a00a-f3674f041e66/scratchpad/deck/sh/10-consent-tex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611880"/>
            <a:ext cx="274320" cy="593657"/>
          </a:xfrm>
          <a:prstGeom prst="rect">
            <a:avLst/>
          </a:prstGeom>
        </p:spPr>
      </p:pic>
      <p:pic>
        <p:nvPicPr>
          <p:cNvPr id="18" name="Image 8" descr="/private/tmp/claude-501/-Users-thinkitive-Human-Optimization-Lab/20402885-ea6a-4b63-a00a-f3674f041e66/scratchpad/deck/sh/11-your-wh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2652" y="3611880"/>
            <a:ext cx="274320" cy="593657"/>
          </a:xfrm>
          <a:prstGeom prst="rect">
            <a:avLst/>
          </a:prstGeom>
        </p:spPr>
      </p:pic>
      <p:pic>
        <p:nvPicPr>
          <p:cNvPr id="19" name="Image 9" descr="/private/tmp/claude-501/-Users-thinkitive-Human-Optimization-Lab/20402885-ea6a-4b63-a00a-f3674f041e66/scratchpad/deck/sh/12-building-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264" y="3611880"/>
            <a:ext cx="274320" cy="593657"/>
          </a:xfrm>
          <a:prstGeom prst="rect">
            <a:avLst/>
          </a:prstGeom>
        </p:spPr>
      </p:pic>
      <p:pic>
        <p:nvPicPr>
          <p:cNvPr id="20" name="Image 10" descr="/private/tmp/claude-501/-Users-thinkitive-Human-Optimization-Lab/20402885-ea6a-4b63-a00a-f3674f041e66/scratchpad/deck/sh/14-life-ra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1876" y="3611880"/>
            <a:ext cx="274320" cy="593657"/>
          </a:xfrm>
          <a:prstGeom prst="rect">
            <a:avLst/>
          </a:prstGeom>
        </p:spPr>
      </p:pic>
      <p:pic>
        <p:nvPicPr>
          <p:cNvPr id="21" name="Image 11" descr="/private/tmp/claude-501/-Users-thinkitive-Human-Optimization-Lab/20402885-ea6a-4b63-a00a-f3674f041e66/scratchpad/deck/sa/20-after-looks-r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6488" y="3611880"/>
            <a:ext cx="274320" cy="593657"/>
          </a:xfrm>
          <a:prstGeom prst="rect">
            <a:avLst/>
          </a:prstGeom>
        </p:spPr>
      </p:pic>
      <p:pic>
        <p:nvPicPr>
          <p:cNvPr id="22" name="Image 12" descr="/private/tmp/claude-501/-Users-thinkitive-Human-Optimization-Lab/20402885-ea6a-4b63-a00a-f3674f041e66/scratchpad/deck/sa/22-home-age-shee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1100" y="3611880"/>
            <a:ext cx="274320" cy="593657"/>
          </a:xfrm>
          <a:prstGeom prst="rect">
            <a:avLst/>
          </a:prstGeom>
        </p:spPr>
      </p:pic>
      <p:pic>
        <p:nvPicPr>
          <p:cNvPr id="23" name="Image 13" descr="/private/tmp/claude-501/-Users-thinkitive-Human-Optimization-Lab/20402885-ea6a-4b63-a00a-f3674f041e66/scratchpad/deck/sa/24-tour-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5712" y="3611880"/>
            <a:ext cx="274320" cy="593657"/>
          </a:xfrm>
          <a:prstGeom prst="rect">
            <a:avLst/>
          </a:prstGeom>
        </p:spPr>
      </p:pic>
      <p:pic>
        <p:nvPicPr>
          <p:cNvPr id="24" name="Image 14" descr="/private/tmp/claude-501/-Users-thinkitive-Human-Optimization-Lab/20402885-ea6a-4b63-a00a-f3674f041e66/scratchpad/deck/sa/27-home-to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50324" y="3611880"/>
            <a:ext cx="274320" cy="593657"/>
          </a:xfrm>
          <a:prstGeom prst="rect">
            <a:avLst/>
          </a:prstGeom>
        </p:spPr>
      </p:pic>
      <p:pic>
        <p:nvPicPr>
          <p:cNvPr id="25" name="Image 15" descr="/private/tmp/claude-501/-Users-thinkitive-Human-Optimization-Lab/20402885-ea6a-4b63-a00a-f3674f041e66/scratchpad/deck/sa/28-home-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4936" y="3611880"/>
            <a:ext cx="274320" cy="593657"/>
          </a:xfrm>
          <a:prstGeom prst="rect">
            <a:avLst/>
          </a:prstGeom>
        </p:spPr>
      </p:pic>
      <p:pic>
        <p:nvPicPr>
          <p:cNvPr id="26" name="Image 16" descr="/private/tmp/claude-501/-Users-thinkitive-Human-Optimization-Lab/20402885-ea6a-4b63-a00a-f3674f041e66/scratchpad/deck/sa/40-recor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9548" y="3611880"/>
            <a:ext cx="274320" cy="593657"/>
          </a:xfrm>
          <a:prstGeom prst="rect">
            <a:avLst/>
          </a:prstGeom>
        </p:spPr>
      </p:pic>
      <p:pic>
        <p:nvPicPr>
          <p:cNvPr id="27" name="Image 17" descr="/private/tmp/claude-501/-Users-thinkitive-Human-Optimization-Lab/20402885-ea6a-4b63-a00a-f3674f041e66/scratchpad/deck/sa/42-ldl-detai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24160" y="3611880"/>
            <a:ext cx="274320" cy="593657"/>
          </a:xfrm>
          <a:prstGeom prst="rect">
            <a:avLst/>
          </a:prstGeom>
        </p:spPr>
      </p:pic>
      <p:pic>
        <p:nvPicPr>
          <p:cNvPr id="28" name="Image 18" descr="/private/tmp/claude-501/-Users-thinkitive-Human-Optimization-Lab/20402885-ea6a-4b63-a00a-f3674f041e66/scratchpad/deck/sa/50-todo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48772" y="3611880"/>
            <a:ext cx="274320" cy="593657"/>
          </a:xfrm>
          <a:prstGeom prst="rect">
            <a:avLst/>
          </a:prstGeom>
        </p:spPr>
      </p:pic>
      <p:pic>
        <p:nvPicPr>
          <p:cNvPr id="29" name="Image 19" descr="/private/tmp/claude-501/-Users-thinkitive-Human-Optimization-Lab/20402885-ea6a-4b63-a00a-f3674f041e66/scratchpad/deck/sa/80-assistan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0368" y="4261104"/>
            <a:ext cx="274320" cy="593657"/>
          </a:xfrm>
          <a:prstGeom prst="rect">
            <a:avLst/>
          </a:prstGeom>
        </p:spPr>
      </p:pic>
      <p:pic>
        <p:nvPicPr>
          <p:cNvPr id="30" name="Image 20" descr="/private/tmp/claude-501/-Users-thinkitive-Human-Optimization-Lab/20402885-ea6a-4b63-a00a-f3674f041e66/scratchpad/deck/sb/30-plans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54980" y="4261104"/>
            <a:ext cx="274320" cy="593657"/>
          </a:xfrm>
          <a:prstGeom prst="rect">
            <a:avLst/>
          </a:prstGeom>
        </p:spPr>
      </p:pic>
      <p:pic>
        <p:nvPicPr>
          <p:cNvPr id="31" name="Image 21" descr="/private/tmp/claude-501/-Users-thinkitive-Human-Optimization-Lab/20402885-ea6a-4b63-a00a-f3674f041e66/scratchpad/deck/sb/31-goal-plans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79592" y="4261104"/>
            <a:ext cx="274320" cy="593657"/>
          </a:xfrm>
          <a:prstGeom prst="rect">
            <a:avLst/>
          </a:prstGeom>
        </p:spPr>
      </p:pic>
      <p:pic>
        <p:nvPicPr>
          <p:cNvPr id="32" name="Image 22" descr="/private/tmp/claude-501/-Users-thinkitive-Human-Optimization-Lab/20402885-ea6a-4b63-a00a-f3674f041e66/scratchpad/deck/sb/32-baselin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04204" y="4261104"/>
            <a:ext cx="274320" cy="593657"/>
          </a:xfrm>
          <a:prstGeom prst="rect">
            <a:avLst/>
          </a:prstGeom>
        </p:spPr>
      </p:pic>
      <p:pic>
        <p:nvPicPr>
          <p:cNvPr id="33" name="Image 23" descr="/private/tmp/claude-501/-Users-thinkitive-Human-Optimization-Lab/20402885-ea6a-4b63-a00a-f3674f041e66/scratchpad/deck/sb/34-enrollment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28816" y="4261104"/>
            <a:ext cx="274320" cy="593657"/>
          </a:xfrm>
          <a:prstGeom prst="rect">
            <a:avLst/>
          </a:prstGeom>
        </p:spPr>
      </p:pic>
      <p:pic>
        <p:nvPicPr>
          <p:cNvPr id="34" name="Image 24" descr="/private/tmp/claude-501/-Users-thinkitive-Human-Optimization-Lab/20402885-ea6a-4b63-a00a-f3674f041e66/scratchpad/deck/sb/37-payment-hsa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3428" y="4261104"/>
            <a:ext cx="274320" cy="593657"/>
          </a:xfrm>
          <a:prstGeom prst="rect">
            <a:avLst/>
          </a:prstGeom>
        </p:spPr>
      </p:pic>
      <p:pic>
        <p:nvPicPr>
          <p:cNvPr id="35" name="Image 25" descr="/private/tmp/claude-501/-Users-thinkitive-Human-Optimization-Lab/20402885-ea6a-4b63-a00a-f3674f041e66/scratchpad/deck/sb/40-paid-popup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8040" y="4261104"/>
            <a:ext cx="274320" cy="593657"/>
          </a:xfrm>
          <a:prstGeom prst="rect">
            <a:avLst/>
          </a:prstGeom>
        </p:spPr>
      </p:pic>
      <p:pic>
        <p:nvPicPr>
          <p:cNvPr id="36" name="Image 26" descr="/private/tmp/claude-501/-Users-thinkitive-Human-Optimization-Lab/20402885-ea6a-4b63-a00a-f3674f041e66/scratchpad/deck/sb/41-enroll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02652" y="4261104"/>
            <a:ext cx="274320" cy="593657"/>
          </a:xfrm>
          <a:prstGeom prst="rect">
            <a:avLst/>
          </a:prstGeom>
        </p:spPr>
      </p:pic>
      <p:pic>
        <p:nvPicPr>
          <p:cNvPr id="37" name="Image 27" descr="/private/tmp/claude-501/-Users-thinkitive-Human-Optimization-Lab/20402885-ea6a-4b63-a00a-f3674f041e66/scratchpad/deck/sb/42-schedule-tests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27264" y="4261104"/>
            <a:ext cx="274320" cy="593657"/>
          </a:xfrm>
          <a:prstGeom prst="rect">
            <a:avLst/>
          </a:prstGeom>
        </p:spPr>
      </p:pic>
      <p:pic>
        <p:nvPicPr>
          <p:cNvPr id="38" name="Image 28" descr="/private/tmp/claude-501/-Users-thinkitive-Human-Optimization-Lab/20402885-ea6a-4b63-a00a-f3674f041e66/scratchpad/deck/sb/46-schedule-confirm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51876" y="4261104"/>
            <a:ext cx="274320" cy="593657"/>
          </a:xfrm>
          <a:prstGeom prst="rect">
            <a:avLst/>
          </a:prstGeom>
        </p:spPr>
      </p:pic>
      <p:pic>
        <p:nvPicPr>
          <p:cNvPr id="39" name="Image 29" descr="/private/tmp/claude-501/-Users-thinkitive-Human-Optimization-Lab/20402885-ea6a-4b63-a00a-f3674f041e66/scratchpad/deck/sb/47-health-profil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76488" y="4261104"/>
            <a:ext cx="274320" cy="593657"/>
          </a:xfrm>
          <a:prstGeom prst="rect">
            <a:avLst/>
          </a:prstGeom>
        </p:spPr>
      </p:pic>
      <p:pic>
        <p:nvPicPr>
          <p:cNvPr id="40" name="Image 30" descr="/private/tmp/claude-501/-Users-thinkitive-Human-Optimization-Lab/20402885-ea6a-4b63-a00a-f3674f041e66/scratchpad/deck/sb/49-flourishing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01100" y="4261104"/>
            <a:ext cx="274320" cy="593657"/>
          </a:xfrm>
          <a:prstGeom prst="rect">
            <a:avLst/>
          </a:prstGeom>
        </p:spPr>
      </p:pic>
      <p:pic>
        <p:nvPicPr>
          <p:cNvPr id="41" name="Image 31" descr="/private/tmp/claude-501/-Users-thinkitive-Human-Optimization-Lab/20402885-ea6a-4b63-a00a-f3674f041e66/scratchpad/deck/sb/52-flourishing-q01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25712" y="4261104"/>
            <a:ext cx="274320" cy="593657"/>
          </a:xfrm>
          <a:prstGeom prst="rect">
            <a:avLst/>
          </a:prstGeom>
        </p:spPr>
      </p:pic>
      <p:pic>
        <p:nvPicPr>
          <p:cNvPr id="42" name="Image 32" descr="/private/tmp/claude-501/-Users-thinkitive-Human-Optimization-Lab/20402885-ea6a-4b63-a00a-f3674f041e66/scratchpad/deck/sb/55-flourishing-result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50324" y="4261104"/>
            <a:ext cx="274320" cy="593657"/>
          </a:xfrm>
          <a:prstGeom prst="rect">
            <a:avLst/>
          </a:prstGeom>
        </p:spPr>
      </p:pic>
      <p:pic>
        <p:nvPicPr>
          <p:cNvPr id="43" name="Image 33" descr="/private/tmp/claude-501/-Users-thinkitive-Human-Optimization-Lab/20402885-ea6a-4b63-a00a-f3674f041e66/scratchpad/deck/sb/56-plan-ready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74936" y="4261104"/>
            <a:ext cx="274320" cy="593657"/>
          </a:xfrm>
          <a:prstGeom prst="rect">
            <a:avLst/>
          </a:prstGeom>
        </p:spPr>
      </p:pic>
      <p:pic>
        <p:nvPicPr>
          <p:cNvPr id="44" name="Image 34" descr="/private/tmp/claude-501/-Users-thinkitive-Human-Optimization-Lab/20402885-ea6a-4b63-a00a-f3674f041e66/scratchpad/deck/sb/57-plan-rea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099548" y="4261104"/>
            <a:ext cx="274320" cy="593657"/>
          </a:xfrm>
          <a:prstGeom prst="rect">
            <a:avLst/>
          </a:prstGeom>
        </p:spPr>
      </p:pic>
      <p:pic>
        <p:nvPicPr>
          <p:cNvPr id="45" name="Image 35" descr="/private/tmp/claude-501/-Users-thinkitive-Human-Optimization-Lab/20402885-ea6a-4b63-a00a-f3674f041e66/scratchpad/deck/sb/58-plan-request-chang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24160" y="4261104"/>
            <a:ext cx="274320" cy="593657"/>
          </a:xfrm>
          <a:prstGeom prst="rect">
            <a:avLst/>
          </a:prstGeom>
        </p:spPr>
      </p:pic>
      <p:pic>
        <p:nvPicPr>
          <p:cNvPr id="46" name="Image 36" descr="/private/tmp/claude-501/-Users-thinkitive-Human-Optimization-Lab/20402885-ea6a-4b63-a00a-f3674f041e66/scratchpad/deck/sc/60-yesterday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748772" y="4261104"/>
            <a:ext cx="274320" cy="593657"/>
          </a:xfrm>
          <a:prstGeom prst="rect">
            <a:avLst/>
          </a:prstGeom>
        </p:spPr>
      </p:pic>
      <p:pic>
        <p:nvPicPr>
          <p:cNvPr id="47" name="Image 37" descr="/private/tmp/claude-501/-Users-thinkitive-Human-Optimization-Lab/20402885-ea6a-4b63-a00a-f3674f041e66/scratchpad/deck/sc/63-today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230368" y="4910328"/>
            <a:ext cx="274320" cy="593657"/>
          </a:xfrm>
          <a:prstGeom prst="rect">
            <a:avLst/>
          </a:prstGeom>
        </p:spPr>
      </p:pic>
      <p:pic>
        <p:nvPicPr>
          <p:cNvPr id="48" name="Image 38" descr="/private/tmp/claude-501/-Users-thinkitive-Human-Optimization-Lab/20402885-ea6a-4b63-a00a-f3674f041e66/scratchpad/deck/sc/62-plan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554980" y="4910328"/>
            <a:ext cx="274320" cy="593657"/>
          </a:xfrm>
          <a:prstGeom prst="rect">
            <a:avLst/>
          </a:prstGeom>
        </p:spPr>
      </p:pic>
      <p:pic>
        <p:nvPicPr>
          <p:cNvPr id="49" name="Image 39" descr="/private/tmp/claude-501/-Users-thinkitive-Human-Optimization-Lab/20402885-ea6a-4b63-a00a-f3674f041e66/scratchpad/deck/sc/67-progress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79592" y="4910328"/>
            <a:ext cx="274320" cy="593657"/>
          </a:xfrm>
          <a:prstGeom prst="rect">
            <a:avLst/>
          </a:prstGeom>
        </p:spPr>
      </p:pic>
      <p:pic>
        <p:nvPicPr>
          <p:cNvPr id="50" name="Image 40" descr="/private/tmp/claude-501/-Users-thinkitive-Human-Optimization-Lab/20402885-ea6a-4b63-a00a-f3674f041e66/scratchpad/deck/sc/71-ask-a1c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04204" y="4910328"/>
            <a:ext cx="274320" cy="593657"/>
          </a:xfrm>
          <a:prstGeom prst="rect">
            <a:avLst/>
          </a:prstGeom>
        </p:spPr>
      </p:pic>
      <p:pic>
        <p:nvPicPr>
          <p:cNvPr id="51" name="Image 41" descr="/private/tmp/claude-501/-Users-thinkitive-Human-Optimization-Lab/20402885-ea6a-4b63-a00a-f3674f041e66/scratchpad/deck/d14/ppt/media/ph38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28816" y="4910328"/>
            <a:ext cx="274320" cy="593657"/>
          </a:xfrm>
          <a:prstGeom prst="rect">
            <a:avLst/>
          </a:prstGeom>
        </p:spPr>
      </p:pic>
      <p:pic>
        <p:nvPicPr>
          <p:cNvPr id="52" name="Image 42" descr="/private/tmp/claude-501/-Users-thinkitive-Human-Optimization-Lab/20402885-ea6a-4b63-a00a-f3674f041e66/scratchpad/deck/d14/ppt/media/ph39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853428" y="4910328"/>
            <a:ext cx="274320" cy="593657"/>
          </a:xfrm>
          <a:prstGeom prst="rect">
            <a:avLst/>
          </a:prstGeom>
        </p:spPr>
      </p:pic>
      <p:pic>
        <p:nvPicPr>
          <p:cNvPr id="53" name="Image 43" descr="/private/tmp/claude-501/-Users-thinkitive-Human-Optimization-Lab/20402885-ea6a-4b63-a00a-f3674f041e66/scratchpad/deck/d14/ppt/media/ph40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78040" y="4910328"/>
            <a:ext cx="274320" cy="593657"/>
          </a:xfrm>
          <a:prstGeom prst="rect">
            <a:avLst/>
          </a:prstGeom>
        </p:spPr>
      </p:pic>
      <p:pic>
        <p:nvPicPr>
          <p:cNvPr id="54" name="Image 44" descr="/private/tmp/claude-501/-Users-thinkitive-Human-Optimization-Lab/20402885-ea6a-4b63-a00a-f3674f041e66/scratchpad/deck/d14/ppt/media/ph41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502652" y="4910328"/>
            <a:ext cx="274320" cy="593657"/>
          </a:xfrm>
          <a:prstGeom prst="rect">
            <a:avLst/>
          </a:prstGeom>
        </p:spPr>
      </p:pic>
      <p:pic>
        <p:nvPicPr>
          <p:cNvPr id="55" name="Image 45" descr="/private/tmp/claude-501/-Users-thinkitive-Human-Optimization-Lab/20402885-ea6a-4b63-a00a-f3674f041e66/scratchpad/deck/d14/ppt/media/ph42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27264" y="4910328"/>
            <a:ext cx="274320" cy="593657"/>
          </a:xfrm>
          <a:prstGeom prst="rect">
            <a:avLst/>
          </a:prstGeom>
        </p:spPr>
      </p:pic>
      <p:pic>
        <p:nvPicPr>
          <p:cNvPr id="56" name="Image 46" descr="/private/tmp/claude-501/-Users-thinkitive-Human-Optimization-Lab/20402885-ea6a-4b63-a00a-f3674f041e66/scratchpad/deck/d14/ppt/media/ph43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151876" y="4910328"/>
            <a:ext cx="274320" cy="593657"/>
          </a:xfrm>
          <a:prstGeom prst="rect">
            <a:avLst/>
          </a:prstGeom>
        </p:spPr>
      </p:pic>
      <p:pic>
        <p:nvPicPr>
          <p:cNvPr id="57" name="Image 47" descr="/private/tmp/claude-501/-Users-thinkitive-Human-Optimization-Lab/20402885-ea6a-4b63-a00a-f3674f041e66/scratchpad/deck/d14/ppt/media/ph44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476488" y="4910328"/>
            <a:ext cx="274320" cy="593657"/>
          </a:xfrm>
          <a:prstGeom prst="rect">
            <a:avLst/>
          </a:prstGeom>
        </p:spPr>
      </p:pic>
      <p:pic>
        <p:nvPicPr>
          <p:cNvPr id="58" name="Image 48" descr="/private/tmp/claude-501/-Users-thinkitive-Human-Optimization-Lab/20402885-ea6a-4b63-a00a-f3674f041e66/scratchpad/deck/d14/ppt/media/ph45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801100" y="4910328"/>
            <a:ext cx="274320" cy="593657"/>
          </a:xfrm>
          <a:prstGeom prst="rect">
            <a:avLst/>
          </a:prstGeom>
        </p:spPr>
      </p:pic>
      <p:sp>
        <p:nvSpPr>
          <p:cNvPr id="59" name="Text 8"/>
          <p:cNvSpPr txBox="1"/>
          <p:nvPr/>
        </p:nvSpPr>
        <p:spPr>
          <a:xfrm>
            <a:off x="5230368" y="5559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screens  ·  7 stages  ·  20 new or changed after 19 Oct</a:t>
            </a:r>
            <a:endParaRPr lang="en-US" sz="900" dirty="0"/>
          </a:p>
        </p:txBody>
      </p:sp>
      <p:sp>
        <p:nvSpPr>
          <p:cNvPr id="60" name="Shape 9"/>
          <p:cNvSpPr/>
          <p:nvPr/>
        </p:nvSpPr>
        <p:spPr>
          <a:xfrm>
            <a:off x="822960" y="5943600"/>
            <a:ext cx="10543032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1" name="Text 10"/>
          <p:cNvSpPr txBox="1"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 draft  ·  21 October 2026  ·  updated after the 19 Oct call</a:t>
            </a:r>
            <a:endParaRPr lang="en-US" sz="950" dirty="0"/>
          </a:p>
        </p:txBody>
      </p:sp>
      <p:sp>
        <p:nvSpPr>
          <p:cNvPr id="62" name="Text 11"/>
          <p:cNvSpPr txBox="1"/>
          <p:nvPr/>
        </p:nvSpPr>
        <p:spPr>
          <a:xfrm>
            <a:off x="5852160" y="605332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the current local build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version 15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now connects Epic or Oracle and asks for three symptoms, Home opens on biological age, the Plan tab replaces Upgrade, and the symptoms feed the plan picks.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240" y="2194560"/>
            <a:ext cx="1907438" cy="38862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953158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816352"/>
            <a:ext cx="15416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Your Record System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Most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Biological Age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Would Work on Five Things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58998" y="2194560"/>
            <a:ext cx="1907438" cy="38862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41878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41878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134917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141878" y="2816352"/>
            <a:ext cx="15416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Your Account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Health Records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Record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Look: App Tour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Tab: Welcome, Liv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Baseline Needs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Yesterday: How Did I Do?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Personalized Plan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8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 </a:t>
            </a:r>
            <a:pPr indent="0" marL="0">
              <a:lnSpc>
                <a:spcPts val="1150"/>
              </a:lnSpc>
              <a:spcAft>
                <a:spcPts val="150"/>
              </a:spcAft>
              <a:buNone/>
            </a:pPr>
            <a:r>
              <a:rPr lang="en-US" sz="88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Inlay: Your Results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140757" y="2194560"/>
            <a:ext cx="1907438" cy="38862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23637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23637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316675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323637" y="2816352"/>
            <a:ext cx="15416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About Your Care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22515" y="2194560"/>
            <a:ext cx="1907438" cy="38862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05395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05395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498434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505395" y="2816352"/>
            <a:ext cx="15416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Check-In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Inlay: Predictive Insights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Screen: Surgery Detected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Checklist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Providers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Item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Care: Test Detail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504274" y="2194560"/>
            <a:ext cx="1907438" cy="38862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87154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87154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0680192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687154" y="2816352"/>
            <a:ext cx="15416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v15 screen 1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v15 screens 8 to 10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life questions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v15 screens 13 to 15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tour pages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v15 screens 16 and 17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pages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v15 screens 27 and 28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improve?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v15 tab bar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and Upgrade tabs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&amp; Sign 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screens from activation in the app to a signed in patient. The patient never invents a username or waits for a call.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 to 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20402885-ea6a-4b63-a00a-f3674f041e66/scratchpad/deck/sh/01-activ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20402885-ea6a-4b63-a00a-f3674f041e66/scratchpad/deck/sh/02-set-passw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20402885-ea6a-4b63-a00a-f3674f041e66/scratchpad/deck/sh/03-sign-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Your Account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birth date, one code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starts in the app itself. The code is checked against the email and date of birth the clinic already holds, so a code on its own cannot open anyone's record.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fields and one button: Verify code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invitation email from the patient app any more; staff invite emails stay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set a password? Sign in sits under the button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activate in the app; the patient invitation email is removed (21 Oct)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h/01-activ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Password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thing the patient chooses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code is accepted the patient sets a password, with the same rules as the web portals. There is no username to invent and no second factor to set up.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password and confirmation, each with a show toggle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password goes straight to Sign in with the email filled in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rules as the clinic and admin portals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h/02-set-passw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back in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after the password is created the email is already filled in, so the new password is all there is to type.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patients land here too: email and password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 sits under the password field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 opens setup where the patient left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h/03-sign-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&amp; Connect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confirms who they are, gives one consent, links Epic or Oracle, agrees to care updates, and sees what the free account does.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 to 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20402885-ea6a-4b63-a00a-f3674f041e66/scratchpad/deck/sh/04-about-y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20402885-ea6a-4b63-a00a-f3674f041e66/scratchpad/deck/sh/05-consent-t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20402885-ea6a-4b63-a00a-f3674f041e66/scratchpad/deck/sh/06-connect-recor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20402885-ea6a-4b63-a00a-f3674f041e66/scratchpad/deck/sh/10-consent-tex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20402885-ea6a-4b63-a00a-f3674f041e66/scratchpad/deck/sh/11-your-w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CONSENT &amp; CONNECT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You?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Confirm, don't type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come from the clinic's record and are shown view only. They are what the record networks match the patient on, so they have to be the practice's own.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Olivia Bennett, goes by Liv, female, 45, from the clinic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birth, mobile, email and home address, read only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clinic: Harborview Longevity Clinic shares the record with them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h/04-about-yo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CONSENT &amp; CONNECT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Health Records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comes before any data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medical is read until the patient agrees. Who sees the records and what is collected sit in two lines, then two boxes to tick.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them: you and Harborview Longevity Clinic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collect: visits, labs and 7 more, with See all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box for the HIPAA authorization, one for privacy, terms and lab request terms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leads into connecting a record system; Updates about your care moved after 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h/05-consent-t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CONSENT &amp; CONNECT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Your Record System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or Oracle, one tap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after consent the patient links the record system their doctors use. Continue stays off until one is connected, and connecting opens as a centred popup.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systems only: Epic MyChart and Oracle Health, no devices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shows a short sign in, then Epic MyChart connected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step in setup (21 Oct): connect Epic or Oracle before going on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connecting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h/06-connect-reco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h/08-connect-su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6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CONSENT &amp; CONNECT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About Your Care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Inlay may reach them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consent page covers contact about care: texts, calls and email. Agreeing here signs the consent and moves on.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permissions, so a patient can take texts and decline calls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Texts cover new results and reminders, with the messaging terms linked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and continue opens Your why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comes after Connect your health records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h/10-consent-tex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7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CONSENT &amp; CONNECT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free account does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anything else is asked, five lines on what the account already does for the patient. It is free, and it stays free.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longitudinal record; medication and appointment management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status, a physical and emotional review, and Ask Inlay: five questions a week free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blue note: none of this asks you to buy anything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states the value of the free record before any question (21 Oct)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h/11-your-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8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builds while the patient names the three symptoms that bother them most and rates each one, then the finished record opens Home.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9 to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20402885-ea6a-4b63-a00a-f3674f041e66/scratchpad/deck/sh/12-building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20402885-ea6a-4b63-a00a-f3674f041e66/scratchpad/deck/sh/14-life-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20402885-ea6a-4b63-a00a-f3674f041e66/scratchpad/deck/sa/20-after-looks-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Record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builds while they go on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pull starts after consent, and the patient does not have to wait for it. A running count shows it arriving, then Continue while it builds.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records so far, then 113, from Harborview Longevity Clinic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providers answer over minutes, sometimes up to a day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records land on their own and show up in To do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runs before the questions; the patient continues while it builds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h/12-building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9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Most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symptoms, in their own words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life questions are gone. One conversation asks for the three physical or emotional symptoms that bother the patient most, typed or spoken.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the three symptoms that bother you most right now?"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rated 1 to 10 in one tap, thinking about the past two weeks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8 life questions and Pick three (19 Oct call)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each symptom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h/14-life-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back to confirm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h/16-life-d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records, then the dashboard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record is summarised by type. The button now finishes setup and opens Home with the biological age sheet already up.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 from 3 providers: lab results 86, vitals 32, visits 14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Medications 6, conditions 5, allergies 2, documents 11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my record does opens Home, not a separate tour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trends, biological age and what is driving it pages left setup; Home shows them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a/20-after-looks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11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record: biological age first, then trends, what is coming up, every result, what is open, and an assistant that knows the record.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12 to 19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20402885-ea6a-4b63-a00a-f3674f041e66/scratchpad/deck/sa/22-home-age-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20402885-ea6a-4b63-a00a-f3674f041e66/scratchpad/deck/sa/24-tour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20402885-ea6a-4b63-a00a-f3674f041e66/scratchpad/deck/sa/27-home-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20402885-ea6a-4b63-a00a-f3674f041e66/scratchpad/deck/sa/28-home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20402885-ea6a-4b63-a00a-f3674f041e66/scratchpad/deck/sa/40-reco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20402885-ea6a-4b63-a00a-f3674f041e66/scratchpad/deck/sa/42-ldl-det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20402885-ea6a-4b63-a00a-f3674f041e66/scratchpad/deck/sa/50-tod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848106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9" name="Image 7" descr="/private/tmp/claude-501/-Users-thinkitive-Human-Optimization-Lab/20402885-ea6a-4b63-a00a-f3674f041e66/scratchpad/deck/sa/80-assista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2654574"/>
            <a:ext cx="685800" cy="148414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50392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Biological 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 against a calendar age of 45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thing Home shows is the biological age, as a sheet over the dashboard, with the four results that drive it.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 eight years older: your body tests older than your 45 years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driving it: BMI 32.4, LDL 162, triglycerides 188, blood pressure 134/86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optimization plan opens the plan match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and what drives it now open on Home as one sheet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a/22-home-age-she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12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Look: App Tour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steps, shown once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sheet closes, a three step tour runs over the live dashboard and can be skipped.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way around: the tab bar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health assistant: the ring fills as the week's AI credit is used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copy still names Connect and Upgrade tabs; to fix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the tabs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a/24-tour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Ask Inlay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a/25-tour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13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first, then trends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home now opens with the Biological Age card, then how results are moving, then the upgrade banner.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card: 53, 8 years older, opens the sheet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trends: LDL 162, triglycerides 188, blood pressure 134/86 above target; peak flow in range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healthier you is possible: the upgrade banner after the trends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card added to the free home (21 Oct)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a/27-home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14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Further Down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Upcoming, new, and medicines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trends, Home shows what is booked, what has just arrived in the record, the medicines on file and the open to dos.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follow up Wed 21 with Dr. Lee at Pacific Heart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your record: urgent care at Scripps and a cardiology visit, outside your clinic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Atorvastatin 20 mg marked Records differ; book a mammogram, overdue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and new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9" name="Image 1" descr="/private/tmp/claude-501/-Users-thinkitive-Human-Optimization-Lab/20402885-ea6a-4b63-a00a-f3674f041e66/scratchpad/deck/sa/28-hom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and Ask Inlay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2" descr="/private/tmp/claude-501/-Users-thinkitive-Human-Optimization-Lab/20402885-ea6a-4b63-a00a-f3674f041e66/scratchpad/deck/sa/31-home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15 OF 48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result, with its trend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tab holds the whole record, with results grouped by body system.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pills on top, body system chips under them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162, triglycerides 188, BP 134/86, BMI 32.4 above target; vitamin D 21 below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your record for anything the networks missed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a/40-rec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16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Detail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162, and how it got there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result shows the latest value against its range, every past reading on one chart, and where each one came from.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 and trending up: 162 mg/dL, Aug 14 2026, Quest Diagnostics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128 in Apr 2022, across 4 results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at the foot of the page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a/42-ldl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17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open, in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gaps, bookings and checks in one list, split into overdue, upcoming and completed.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overdue: book a mammogram, due Apr 4, and a follow up visit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3 medicines; an echocardiogram and a repeat A1c and lipid panel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8 record review by Dr. Patel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a/50-to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18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that knows the record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opens on four plain starting points. Credit is shown as a share of the week used, never as a count of questions.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 result, prepare for a visit, a medicines question, something is bothering me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of this week's AI credit used, on the strip above the composer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upgrade banner offers more credit and a personalized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a/80-assist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19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Plan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Plan tab to an accepted plan: the 3 of 81 match plus what the patient's symptoms add, baseline tests, enrollment and HSA or FSA payment, test booking, flourishing, then the plan itself.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20 to 35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20402885-ea6a-4b63-a00a-f3674f041e66/scratchpad/deck/sb/30-pl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20402885-ea6a-4b63-a00a-f3674f041e66/scratchpad/deck/sb/31-goal-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20402885-ea6a-4b63-a00a-f3674f041e66/scratchpad/deck/sb/32-base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20402885-ea6a-4b63-a00a-f3674f041e66/scratchpad/deck/sb/34-enroll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20402885-ea6a-4b63-a00a-f3674f041e66/scratchpad/deck/sb/37-payment-hs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109499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20402885-ea6a-4b63-a00a-f3674f041e66/scratchpad/deck/sb/40-paid-pop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896112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9728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20402885-ea6a-4b63-a00a-f3674f041e66/scratchpad/deck/sb/41-enroll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9" name="Image 7" descr="/private/tmp/claude-501/-Users-thinkitive-Human-Optimization-Lab/20402885-ea6a-4b63-a00a-f3674f041e66/scratchpad/deck/sb/42-schedule-tes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848106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2" name="Image 8" descr="/private/tmp/claude-501/-Users-thinkitive-Human-Optimization-Lab/20402885-ea6a-4b63-a00a-f3674f041e66/scratchpad/deck/sb/46-schedule-confirm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2654574"/>
            <a:ext cx="685800" cy="148414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50392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930402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5" name="Image 9" descr="/private/tmp/claude-501/-Users-thinkitive-Human-Optimization-Lab/20402885-ea6a-4b63-a00a-f3674f041e66/scratchpad/deck/sb/47-health-profi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2654574"/>
            <a:ext cx="685800" cy="148414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32688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37" name="Shape 25"/>
          <p:cNvSpPr/>
          <p:nvPr/>
        </p:nvSpPr>
        <p:spPr>
          <a:xfrm>
            <a:off x="1012698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8" name="Image 10" descr="/private/tmp/claude-501/-Users-thinkitive-Human-Optimization-Lab/20402885-ea6a-4b63-a00a-f3674f041e66/scratchpad/deck/sb/49-flourish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9840" y="2654574"/>
            <a:ext cx="685800" cy="148414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014984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40" name="Shape 27"/>
          <p:cNvSpPr/>
          <p:nvPr/>
        </p:nvSpPr>
        <p:spPr>
          <a:xfrm>
            <a:off x="109499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41" name="Image 11" descr="/private/tmp/claude-501/-Users-thinkitive-Human-Optimization-Lab/20402885-ea6a-4b63-a00a-f3674f041e66/scratchpad/deck/sb/52-flourishing-q0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00" y="2654574"/>
            <a:ext cx="685800" cy="148414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9728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43" name="Shape 29"/>
          <p:cNvSpPr/>
          <p:nvPr/>
        </p:nvSpPr>
        <p:spPr>
          <a:xfrm>
            <a:off x="683514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44" name="Image 12" descr="/private/tmp/claude-501/-Users-thinkitive-Human-Optimization-Lab/20402885-ea6a-4b63-a00a-f3674f041e66/scratchpad/deck/sb/55-flourishing-resul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4413035"/>
            <a:ext cx="685800" cy="1484142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85800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46" name="Shape 31"/>
          <p:cNvSpPr/>
          <p:nvPr/>
        </p:nvSpPr>
        <p:spPr>
          <a:xfrm>
            <a:off x="765810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47" name="Image 13" descr="/private/tmp/claude-501/-Users-thinkitive-Human-Optimization-Lab/20402885-ea6a-4b63-a00a-f3674f041e66/scratchpad/deck/sb/56-plan-read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0960" y="4413035"/>
            <a:ext cx="685800" cy="1484142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768096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49" name="Shape 33"/>
          <p:cNvSpPr/>
          <p:nvPr/>
        </p:nvSpPr>
        <p:spPr>
          <a:xfrm>
            <a:off x="848106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50" name="Image 14" descr="/private/tmp/claude-501/-Users-thinkitive-Human-Optimization-Lab/20402885-ea6a-4b63-a00a-f3674f041e66/scratchpad/deck/sb/57-plan-rea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3920" y="4413035"/>
            <a:ext cx="685800" cy="148414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50392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52" name="Shape 35"/>
          <p:cNvSpPr/>
          <p:nvPr/>
        </p:nvSpPr>
        <p:spPr>
          <a:xfrm>
            <a:off x="9304020" y="4390175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53" name="Image 15" descr="/private/tmp/claude-501/-Users-thinkitive-Human-Optimization-Lab/20402885-ea6a-4b63-a00a-f3674f041e66/scratchpad/deck/sb/58-plan-request-chang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26880" y="4413035"/>
            <a:ext cx="685800" cy="1484142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9326880" y="5933753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Tab: Welcome, Liv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81 plans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tab takes the place of the Upgrade tab, and the biological age sheet's See optimization plan opens it. The record is compared with all 81 plans.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plans on file, 3 your record supports: lipid and cardiovascular, triglyceride and insulin, metabolic and weight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plan names the result behind it: LDL 162, up 34 since Apr 2022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are now Home, To do, Record, Plan, Care; the Upgrade and Connect tabs are gone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match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b/30-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81 plans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b/30-plans-all8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20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Would Work on Five Things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record, then their own words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4. The plans the record supports, then the ones the patient's own symptoms add, each saying where it came from.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record: the 3 biomarker matches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what you told us: sleep restoration and SMART stress and resiliency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added plan quotes the patient: "You said you wake at three"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goals list: the symptoms from setup now feed the plan picks (19 Oct)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b/31-goal-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21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Baseline Needs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tests, each with a Why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4. The tests that give the plan its starting point, each priced, each switchable, each with an info sheet.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DEXA $149, RMR $129, comprehensive blood panel $189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sleep study $299, added for the sleep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follow the five plans; the sleep study joins for sleep restoration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b/32-bas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DEXA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b/33-baseline-inf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22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or monthly, step 3 of 4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membership, its billing and the tests, all priced before payment.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$1,080 (save 10%), or $100 a month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included: multi goal plan, testing, nutrition and exercise, AI insights, physician approval, tracking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shown first; the total carries the sleep study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billing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b/34-enroll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b/35-enrollment-inclu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23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or FSA, like any card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4. Credit card, HSA or FSA, Apple Pay or Google Pay, with the full breakdown one tap away.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or FSA card number replaces the card label when it is picked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Breakdown: tests $467 less the 10% member discount, sleep study $299, membership $1,080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enrollment stays off until the agreement is ticked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or FSA picked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9" name="Image 1" descr="/private/tmp/claude-501/-Users-thinkitive-Human-Optimization-Lab/20402885-ea6a-4b63-a00a-f3674f041e66/scratchpad/deck/sb/37-payment-h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2" descr="/private/tmp/claude-501/-Users-thinkitive-Human-Optimization-Lab/20402885-ea6a-4b63-a00a-f3674f041e66/scratchpad/deck/sb/38-payment-break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24 OF 48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Paid, with a receipt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payment goes through, a popup confirms it before the enrolled page.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$1,799.30 paid to Inlay Health with the HSA or FSA card ending 4242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21, 2026, receipt INL-85172163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receipt or Continue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b/40-paid-pop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25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Enrolled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next, in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 has started. The screen lists each next step with the physician named.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membership, $1,080 a year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Enrolled, schedule your tests, Dr. Patel reviews your plan, your plan is ready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my tests, or Schedule later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b/41-enro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26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Tests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and a time for each test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paid test with its place, a date and a time. Confirm schedule books them all at once.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panel at Quest Diagnostics, DEXA at Coastal Imaging, RMR at Harborview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Weekdays from Oct 22 open; morning slots for the blood draw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schedule books all three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book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9" name="Image 1" descr="/private/tmp/claude-501/-Users-thinkitive-Human-Optimization-Lab/20402885-ea6a-4b63-a00a-f3674f041e66/scratchpad/deck/sb/42-schedule-tes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booked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2" descr="/private/tmp/claude-501/-Users-thinkitive-Human-Optimization-Lab/20402885-ea6a-4b63-a00a-f3674f041e66/scratchpad/deck/sb/45-schedule-fill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27 OF 48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Scheduled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Booked, then personalize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with its day, time and place, and a reminder before each one.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saved your 3 tests and will remind you before each one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test can be moved from To do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my care, or I'll do this later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b/46-schedule-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28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record, then confirmed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as the record has it, in three blocks. The patient confirms it, and Confirm opens Are you flourishing?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information: 45, 5 ft 8 in, 213 lb, BMI 32.4, waist 41 in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Lifestyle: low carb, 3 meals, exercise 5 to 6 days, 6 h sleep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Medical, from your record: prediabetes, hyperlipidemia, atorvastatin, penicillin allergy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b/47-health-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Flourishing?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video from Dr. Patel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first, then what: a 30 second video on why flourishing matters, then how the questions work.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health is more than your numbers: captions play over the video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video, answer 39 questions, see your result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shared with Dr. Patel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video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9" name="Image 1" descr="/private/tmp/claude-501/-Users-thinkitive-Human-Optimization-Lab/20402885-ea6a-4b63-a00a-f3674f041e66/scratchpad/deck/sb/49-flourish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playing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2" descr="/private/tmp/claude-501/-Users-thinkitive-Human-Optimization-Lab/20402885-ea6a-4b63-a00a-f3674f041e66/scratchpad/deck/sb/50-flourishing-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30 OF 48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ten buttons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a page, the part of life as a coloured chip, 1 of 39 and a thin bar.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rate your overall physical health?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 to 10 scale: 1 not at all to 10 completely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question turns the button into See my result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b/52-flourishing-q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31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Flourishing Result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per part of life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flourishing index out of 10, the strongest and weakest parts of life, then each part as its own bar.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index 6.0 out of 10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strength: relationships 7.8; room to grow: finances 4.0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with Dr. Patel to shape your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b/55-flourishing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32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Ready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594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Approved, and attributed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once, when Dr. Patel's version 1 is ready.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your results, reviewed by Dr. Patel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plan: accept it or request a change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8" name="Image 1" descr="/private/tmp/claude-501/-Users-thinkitive-Human-Optimization-Lab/20402885-ea6a-4b63-a00a-f3674f041e66/scratchpad/deck/sb/56-plan-rea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33 OF 48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Plan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starts until they accept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plan, with two actions pinned over the tab bar: Request a change and Accept plan.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1, approved by Dr. Patel: 3 plans, 13 items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sugar, weight and heart, each with its Why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tests, 3 approved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9" name="Image 1" descr="/private/tmp/claude-501/-Users-thinkitive-Human-Optimization-Lab/20402885-ea6a-4b63-a00a-f3674f041e66/scratchpad/deck/sb/57-plan-r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down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2" descr="/private/tmp/claude-501/-Users-thinkitive-Human-Optimization-Lab/20402885-ea6a-4b63-a00a-f3674f041e66/scratchpad/deck/sb/57-plan-read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34 OF 48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OPTIMIZATION PLAN</a:t>
            </a:r>
            <a:endParaRPr lang="en-US" sz="76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Request a Change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forward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 request sends the patient's own words to Dr. Patel. Accepting starts the plan at once.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change: what would you like changed? then Send to Dr. Patel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Accept: the plan goes live with weight, today's workout and the next test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5212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 of the way to 175 lb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19" name="Image 1" descr="/private/tmp/claude-501/-Users-thinkitive-Human-Optimization-Lab/20402885-ea6a-4b63-a00a-f3674f041e66/scratchpad/deck/sb/58-plan-request-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Accepted, now active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2" descr="/private/tmp/claude-501/-Users-thinkitive-Human-Optimization-Lab/20402885-ea6a-4b63-a00a-f3674f041e66/scratchpad/deck/sb/61-plan-accep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35 OF 48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member sees every day: yesterday's score, today's plan, the live plan, progress with its forecast, and answers from the record. Two screens are still concepts.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36 to 42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20402885-ea6a-4b63-a00a-f3674f041e66/scratchpad/deck/sc/60-yester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20402885-ea6a-4b63-a00a-f3674f041e66/scratchpad/deck/sc/63-to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20402885-ea6a-4b63-a00a-f3674f041e66/scratchpad/deck/sc/62-pl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20402885-ea6a-4b63-a00a-f3674f041e66/scratchpad/deck/sc/67-progr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20402885-ea6a-4b63-a00a-f3674f041e66/scratchpad/deck/sc/71-ask-a1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20402885-ea6a-4b63-a00a-f3674f041e66/scratchpad/deck/d14/ppt/media/ph3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20402885-ea6a-4b63-a00a-f3674f041e66/scratchpad/deck/d14/ppt/media/ph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Yesterday: How Did I Do?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screen every morning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score, one insight and the day's goals: the whole of yesterday in one place.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daily score, 3 of 5 goals met, 7 day average 94%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balance: 1,480 in, 1,810 out, a 330 deficit against a 300 goal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captured from the build; goals are protein, calcium, exercise and water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and energy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c/60-yester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goal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c/61-yesterday-go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36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Personalized Plan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day's to do, then the food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lists what is left to do, the day's goals, the workout and four ways to eat the plan.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4 done: log a meal, Strength A, a walk after dinner, check blood pressure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 1,700 kcal, 110 g protein, 28 g fiber, 40 min exercise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captured from the build: to do list and workout added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 do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c/63-to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and meals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c/64-today-exerci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37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2, approved by Dr. Patel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plan: the membership, where the patient stands against the goal, and the daily targets.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177.6 lb against a goal of 175: 81% of the way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blood sugar (A1c below 5.7), weight, heart (LDL below 100)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targets: up to 1,700 kcal, 110 g protein, 28 g fiber, 25 g added sugar at most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slide: the member Plan tab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c/62-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38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25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the patient shows other people, and the one that renews the subscription.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 lb down since May 3; 11 lb of body fat lost on DEXA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Forecast: may reach 175 lb by early December, an estimate, not a guarantee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now lives on Progress, not in Ask Inlay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and forecast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20402885-ea6a-4b63-a00a-f3674f041e66/scratchpad/deck/sc/67-pro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composition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20402885-ea6a-4b63-a00a-f3674f041e66/scratchpad/deck/sc/68-progress-forec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39 OF 48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Inlay: Your Results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 with its sources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member the assistant answers from the record, says what it cannot tell, and suggests what to ask the doctor.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losing body fat move my A1c?": A1c 5.9%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record shows, what it doesn't tell us, something to ask Dr. Patel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high, based on 6 Quest results from 2022 to 2026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predictive insights screen, which is not built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sc/71-ask-a1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40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Check-In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they can see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and side, three dates, with weight and waist under each frame.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1, 178 lb · Jul 31, 168.3 lb · Oct 5, 165.6 lb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 stored securely; the comparison slider is the moment patients share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change is what holds a subscription together when the scale stalls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build: the app logs meal photos, not body photos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41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Inlay: Predictive Insights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if they stay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retention screen. It answers the question every patient asks at month three.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162.8 lb · 60 days 160.9 lb · 120 days 157.5 lb · 1 year 156 to 158 lb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projection carries a likelihood: 85%, 80%, 75% and 70%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as estimates drawn from similar patients, never as a promise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build: only the weight forecast on Progress exists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42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Care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carried from version 15. None of these screens is in the build yet: surgery support from the record, and Longevity Care, the paid elective catalogue.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43 to 48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20402885-ea6a-4b63-a00a-f3674f041e66/scratchpad/deck/d14/ppt/media/ph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20402885-ea6a-4b63-a00a-f3674f041e66/scratchpad/deck/d14/ppt/media/ph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20402885-ea6a-4b63-a00a-f3674f041e66/scratchpad/deck/d14/ppt/media/ph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20402885-ea6a-4b63-a00a-f3674f041e66/scratchpad/deck/d14/ppt/media/ph4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20402885-ea6a-4b63-a00a-f3674f041e66/scratchpad/deck/d14/ppt/media/ph4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20402885-ea6a-4b63-a00a-f3674f041e66/scratchpad/deck/d14/ppt/media/ph4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Screen: Surgery Detected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that we know them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Inlay sees the surgery in the record, this takes the screen before Home. It says one thing, and that one thing is the whole argument for the free record.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have surgery coming up on Thursday, November 12": named, dated, five weeks ahead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Dr. Smith on Sep 28, and the screen says so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sold here: the checklist comes from the surgical team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 yet: carried from version 15 as a concept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43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Checklist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things, in the right order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 when each one matters, so the patient sees the three things to do now instead of a wall of instructions five weeks early.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14 done, with the current group open and the rest collapsed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is the hospital's own pre-operative instructions and Dr. Smith's notes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box at the foot for local providers, worded as help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 yet: carried from version 15 as a concept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44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Providers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nearby, and nothing else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Therapy, equipment, transport and home help nearby. The patient arranges and pays directly; Inlay takes no fee.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the three clinics already accept Dr. Smith's order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and Map. No price, no booking, no checkout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has no financial relationship with any provider listed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 yet: carried from version 15 as a concept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45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Item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Why, not just what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an item gives the reason behind it, which turns a list of instructions into something a patient follows.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matters, what to do, and what else to arrange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and specific: collected on the afternoon of November 12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transport box appears here too, when it is needed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 yet: carried from version 15 as a concept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46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patient who comes looking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elective side, and the one part of Inlay Care that is still sold. It is for the well patient who wants to find something early.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well today" is the opening line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for you sits above the catalogue, from age, record and family history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Worded as options to consider, never as recommendations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 yet: carried from version 15 as a concept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47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Care: Test Detail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cannot tell you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elective test carries the same six disclosures, the limits included.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$949 standard, $854 for members, with the request routed to the physician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physician writes and holds the order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positive signal is not a diagnosis" sits on the page, not in the terms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build yet: carried from version 15 as a concept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20402885-ea6a-4b63-a00a-f3674f041e66/scratchpad/deck/d14/ppt/media/ph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48 OF 48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hinkitive-Human-Optimization-Lab/20402885-ea6a-4b63-a00a-f3674f041e6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out of the journey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the 19 Oct call and the 21 Oct build, these screens left the journey.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240" y="2194560"/>
            <a:ext cx="3361944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2491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1752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v15 screen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64408"/>
            <a:ext cx="299618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now activate in the app; staff invite emails stay (21 Oct)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413504" y="2194560"/>
            <a:ext cx="3361944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6384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96384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596384" y="272491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life questions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96384" y="301752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v15 screens 8 to 10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96384" y="3264408"/>
            <a:ext cx="299618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your life, life question and pick three: replaced by three symptoms, each rated (19 Oct call)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8049768" y="2194560"/>
            <a:ext cx="3361944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32648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2648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232648" y="272491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tour pages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32648" y="301752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v15 screens 13 to 15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232648" y="3264408"/>
            <a:ext cx="299618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appointments, new medication and trending the wrong way: Home and To do show them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777240" y="4274820"/>
            <a:ext cx="3361944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0120" y="443941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" y="44394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480517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pages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60120" y="509778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v15 screens 16 and 17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5344668"/>
            <a:ext cx="299618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biological age and what is driving it are now one sheet over Home, plus a Home card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4413504" y="4274820"/>
            <a:ext cx="3361944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96384" y="443941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96384" y="44394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4596384" y="480517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improve?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596384" y="509778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v15 screens 27 and 28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596384" y="5344668"/>
            <a:ext cx="299618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goals list and we updated your plans: the symptoms from setup now add the plans (19 Oct call)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8049768" y="4274820"/>
            <a:ext cx="3361944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32648" y="443941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32648" y="44394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8232648" y="4805172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and Upgrade tabs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8232648" y="509778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v15 tab bar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8232648" y="5344668"/>
            <a:ext cx="299618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are now Home, To do, Record, Plan, Care; connecting happens in setup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31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10241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these screens wait 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access window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ended access until the patient cancels, in place of 15 days to 3 months: Ed to confirm with legal counsel.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eligibility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to confirm with an ERISA attorney before the HSA or FSA option and receipt ship.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every plan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patient declines all plans: a refund was suggested, nothing decided.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program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stress and resiliency as the base plan for everyone: licensing meeting 29 Oct.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questions and licence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questions under Dr. Blanchard's review; Harvard licence and benchmark data with HOL.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model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 shown is a labelled sample until the model and its inputs are approved.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31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10241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found while capturing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names old tabs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still says Connect and Upgrade; the tabs are Plan and Care.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read differs from the picks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plans are picked, but the plan to read lists blood sugar, weight and heart.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study not scheduled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$299 home sleep study is paid but missing from Schedule tests and the plan's baseline.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111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disagrees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41324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says 213 lb; the plan says 177.6 lb, 81% of the way to 175.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 not shown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returned version still reads Version 1 and keeps 6 workout days.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Health while building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record lists Apple Health, although devices were dropped on 16 Oct.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tab nearly empty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opens Membership with one card and no tab bar.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5111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screens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541324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check-in, predictive insights and all of Inlay Care are not built yet.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Thinkitive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Inlay Health: Optimization Patient Journey 16</dc:title>
  <dc:subject>PptxGenJS Presentation</dc:subject>
  <dc:creator>PptxGenJS</dc:creator>
  <cp:lastModifiedBy>PptxGenJS</cp:lastModifiedBy>
  <cp:revision>1</cp:revision>
  <dcterms:created xsi:type="dcterms:W3CDTF">2026-10-21T12:34:59Z</dcterms:created>
  <dcterms:modified xsi:type="dcterms:W3CDTF">2026-10-21T12:34:59Z</dcterms:modified>
</cp:coreProperties>
</file>