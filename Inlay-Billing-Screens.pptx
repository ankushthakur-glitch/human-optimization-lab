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9f790d43-dedf-fc33-69fc-364e06bd9ace}">
          <p14:sldIdLst>
            <p14:sldId id="256"/>
          </p14:sldIdLst>
        </p14:section>
        <p14:section name="Context" id="{43238ab0-6121-eb35-061b-ca4c0d485081}">
          <p14:sldIdLst>
            <p14:sldId id="257"/>
          </p14:sldIdLst>
        </p14:section>
        <p14:section name="Super Admin portal" id="{9f43fb3c-adde-90bf-03ba-79e673a39617}">
          <p14:sldIdLst>
            <p14:sldId id="258"/>
            <p14:sldId id="259"/>
            <p14:sldId id="260"/>
            <p14:sldId id="261"/>
            <p14:sldId id="262"/>
            <p14:sldId id="263"/>
            <p14:sldId id="264"/>
            <p14:sldId id="265"/>
            <p14:sldId id="266"/>
            <p14:sldId id="267"/>
          </p14:sldIdLst>
        </p14:section>
        <p14:section name="Provider portal" id="{3fba1753-1e5b-650f-6ca2-44d2991bf9b0}">
          <p14:sldIdLst>
            <p14:sldId id="268"/>
            <p14:sldId id="269"/>
            <p14:sldId id="270"/>
            <p14:sldId id="271"/>
            <p14:sldId id="272"/>
            <p14:sldId id="273"/>
            <p14:sldId id="274"/>
          </p14:sldIdLst>
        </p14:section>
        <p14:section name="Open points" id="{8f3a3533-a362-6a15-f6c1-26b03b5c2b05}">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Billing UI prototype for Inlay Health, prepared by Thinkitive. Admin and provider portals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Billing dashboard — Period-to-date money in one view: practice billings, patient payments, vendor cost, net margin and what is outstanding. Both revenue channels are reported side by side, so margin is never read off one channel alone. Needs attention lists only items that need a decision — a past-due invoice, a vendor invoice that differs from the orders performed, a refund to approve, a test left unpriced. Run invoices raises the period's invoices for every practice from orders already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Catalogue and pricing — Every test Inlay sells, per vendor and per state, with the contracted rate, the margin and the resulting Inlay price. The contracted rate never leaves this portal. Practices and patients see the Inlay price only. The same test can be carried by two vendors at two different rates and still sell at one price. Status flags any test left without a price in a state a practice can order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test to the catalogue — The admin picks a vendor and a test. Code, specimen, turnaround, states served and the tax rule arrive with them. Only the contracted rate and the margin are typed. The Inlay price is calculated from them, never entered. Preview shows exactly what the provider portal and the patient app will display, tax included, before publishing. A brand-new vendor is connected by the development team first; after that its catalogue is managed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Memberships and AI — Membership plan prices, monthly and annual, what each includes and the live member count. AI allowance per plan, with the price of questions asked beyond that allowance. Open point held on the screen: whether overage is charged per question in dollars or as token bundles. Packages are kept deliberately few — selling is by individual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Practices — Billing settings per practice: invoice period, payment terms, grace period, late fee and payment method. Every invoice a practice receives is built from these settings. Nothing is decided invoice by invoice. Weekly, monthly and per-order billing run side by side across different practices. Access fee is zero. Practices pay for testing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Invoices — Invoices are raised from the orders placed inside each practice's billing period. Status runs through paid, due, in grace and past due, with credit notes listed alongside. Filter by practice or status, open any invoice, or export the period for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Invoice detail — Every order on the invoice line by line: date, patient, test, vendor, ordering physician and price. The summary carries the credit note, tax and amount due, with terms, grace used and late fee applied. Vendor cost and margin against the same orders are shown here, to the admin only. Download the PDF, send a reminder or record a payment from the same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payouts — What Inlay owes each vendor at the contracted rate for the period's orders. The vendor's own invoice is checked against the orders actually performed; a difference is raised as a query rather than paid. Physician review fees for documented quarterly reviews sit on the same screen, paid under a separate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 Separate profit and loss for the provider channel and the patient channel, plus the consolidated position. Revenue, vendor cost, physician review fees, refunds and credits, down to net for each channel. Margin per test and tax collected per state. Open point: collection and remittance of tax moves to a third-party tax layer, vendor still being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Billing overview — Balance due, the current period's running total, the next invoice date and any credits held. A past-due invoice carries a plain notice with the late fee that applies from today. Access fee is shown as zero — Inlay is free to the practice, which pays for testing only. Recent activity shows each order and its status, including anything cancelled and credited.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a test — The test is chosen from the catalogue for that patient's state. The price shown is the Inlay price and is never typed. Inlay's vendor is the default facility. The patient's previous facility can be chosen for DEXA, bone density and mammogram so the reading is taken on the same equipment. The order summary names the payer explicitly: the practice. Nothing is collected at the time of ordering. The order joins the next invoice. The patient is never billed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 — Every order placed through Inlay for the period, with the price each will carry on the next invoice. Filter by period, ordering physician and status — awaiting booking, booked, result in, cancelled. A cancelled order shows as a credit, so the running total always matches what will be invoiced.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Invoices and statements — A single consolidated invoice per billing period covering every order in it. Credit notes and interim statements are listed alongside the invoices. Download a statement or pay the balance from the same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Invoice detail — The same lines the practice can check against its own records: date, patient, test, facility, physician and price. Summary shows subtotal, credits, amount due, terms, grace period, late fee and how to pay. A single line can be queried without holding up payment of the rest of the invoice. Contracted rates and margin are not shown. The invoice states that no patient is billed for anything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Physician fees — What each physician has earned for documented quarterly reviews, quarter by quarter. Paid by Inlay under a separate agreement, with the number of reviews and the fee for each. Pending rows show where documentation is still outstanding. Fees are for work performed and documented. They are not tied to how much testing the practice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034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105156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 </a:t>
            </a:r>
            <a:endParaRPr lang="en-US" sz="4400" dirty="0"/>
          </a:p>
        </p:txBody>
      </p:sp>
      <p:sp>
        <p:nvSpPr>
          <p:cNvPr id="3" name="Text 0"/>
          <p:cNvSpPr/>
          <p:nvPr>
            <p:ph idx="101" type="body" hasCustomPrompt="1"/>
          </p:nvPr>
        </p:nvSpPr>
        <p:spPr>
          <a:xfrm>
            <a:off x="822960" y="3749040"/>
            <a:ext cx="10515600" cy="822960"/>
          </a:xfrm>
          <a:prstGeom prst="rect">
            <a:avLst/>
          </a:prstGeom>
          <a:noFill/>
          <a:ln/>
        </p:spPr>
        <p:txBody>
          <a:bodyPr wrap="square" rtlCol="0"/>
          <a:lstStyle>
            <a:lvl1pPr indent="0" marL="0">
              <a:buNone/>
              <a:defRPr lang="en-US" sz="1700" dirty="0">
                <a:solidFill>
                  <a:srgbClr val="9FC4C8"/>
                </a:solidFill>
              </a:defRPr>
            </a:lvl1pPr>
          </a:lstStyle>
          <a:p>
            <a:pPr indent="0" marL="0">
              <a:buNone/>
            </a:pPr>
            <a:r>
              <a:rPr lang="en-US" sz="1700" dirty="0">
                <a:solidFill>
                  <a:srgbClr val="9FC4C8"/>
                </a:solidFill>
              </a:rPr>
              <a:t> </a:t>
            </a: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034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743200"/>
            <a:ext cx="105156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 </a:t>
            </a:r>
            <a:endParaRPr lang="en-US" sz="4000" dirty="0"/>
          </a:p>
        </p:txBody>
      </p:sp>
      <p:sp>
        <p:nvSpPr>
          <p:cNvPr id="3" name="Text 0"/>
          <p:cNvSpPr/>
          <p:nvPr>
            <p:ph idx="101" type="body" hasCustomPrompt="1"/>
          </p:nvPr>
        </p:nvSpPr>
        <p:spPr>
          <a:xfrm>
            <a:off x="822960" y="3749040"/>
            <a:ext cx="10515600" cy="1097280"/>
          </a:xfrm>
          <a:prstGeom prst="rect">
            <a:avLst/>
          </a:prstGeom>
          <a:noFill/>
          <a:ln/>
        </p:spPr>
        <p:txBody>
          <a:bodyPr wrap="square" rtlCol="0"/>
          <a:lstStyle>
            <a:lvl1pPr indent="0" marL="0">
              <a:buNone/>
              <a:defRPr lang="en-US" sz="1600" dirty="0">
                <a:solidFill>
                  <a:srgbClr val="B6D5D8"/>
                </a:solidFill>
              </a:defRPr>
            </a:lvl1pPr>
          </a:lstStyle>
          <a:p>
            <a:pPr indent="0" marL="0">
              <a:buNone/>
            </a:pPr>
            <a:r>
              <a:rPr lang="en-US" sz="1600" dirty="0">
                <a:solidFill>
                  <a:srgbClr val="B6D5D8"/>
                </a:solidFill>
              </a:rPr>
              <a:t> </a:t>
            </a:r>
            <a:endParaRPr lang="en-US" sz="1600" dirty="0"/>
          </a:p>
        </p:txBody>
      </p:sp>
      <p:sp>
        <p:nvSpPr>
          <p:cNvPr id="4" name="Text 0"/>
          <p:cNvSpPr txBox="1"/>
          <p:nvPr/>
        </p:nvSpPr>
        <p:spPr>
          <a:xfrm>
            <a:off x="457200" y="6400800"/>
            <a:ext cx="7315200" cy="274320"/>
          </a:xfrm>
          <a:prstGeom prst="rect">
            <a:avLst/>
          </a:prstGeom>
          <a:noFill/>
          <a:ln/>
        </p:spPr>
        <p:txBody>
          <a:bodyPr wrap="square" lIns="0" tIns="0" rIns="0" bIns="0" rtlCol="0" anchor="ctr"/>
          <a:lstStyle/>
          <a:p>
            <a:pPr indent="0" marL="0">
              <a:buNone/>
            </a:pPr>
            <a:r>
              <a:rPr lang="en-US" sz="1000" dirty="0">
                <a:solidFill>
                  <a:srgbClr val="8FB6BA"/>
                </a:solidFill>
              </a:rPr>
              <a:t>Thinkitive  ·  Inlay Health  ·  Billing prototype</a:t>
            </a:r>
            <a:endParaRPr lang="en-US" sz="10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6B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486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r>
              <a:rPr lang="en-US" sz="3000" b="1" dirty="0">
                <a:solidFill>
                  <a:schemeClr val="tx1"/>
                </a:solidFill>
              </a:rPr>
              <a:t> </a:t>
            </a:r>
            <a:endParaRPr lang="en-US" sz="3000" dirty="0"/>
          </a:p>
        </p:txBody>
      </p:sp>
      <p:sp>
        <p:nvSpPr>
          <p:cNvPr id="3" name="Text 0"/>
          <p:cNvSpPr/>
          <p:nvPr>
            <p:ph idx="101" type="body" hasCustomPrompt="1"/>
          </p:nvPr>
        </p:nvSpPr>
        <p:spPr>
          <a:xfrm>
            <a:off x="457200" y="941832"/>
            <a:ext cx="11247120" cy="365760"/>
          </a:xfrm>
          <a:prstGeom prst="rect">
            <a:avLst/>
          </a:prstGeom>
          <a:noFill/>
          <a:ln/>
        </p:spPr>
        <p:txBody>
          <a:bodyPr wrap="square" rtlCol="0"/>
          <a:lstStyle>
            <a:lvl1pPr indent="0" marL="0">
              <a:buNone/>
              <a:defRPr lang="en-US" sz="1400" dirty="0">
                <a:solidFill>
                  <a:srgbClr val="5E7B81"/>
                </a:solidFill>
              </a:defRPr>
            </a:lvl1pPr>
          </a:lstStyle>
          <a:p>
            <a:pPr indent="0" marL="0">
              <a:buNone/>
            </a:pPr>
            <a:r>
              <a:rPr lang="en-US" sz="1400" dirty="0">
                <a:solidFill>
                  <a:srgbClr val="5E7B81"/>
                </a:solidFill>
              </a:rPr>
              <a:t> </a:t>
            </a:r>
            <a:endParaRPr lang="en-US" sz="1400" dirty="0"/>
          </a:p>
        </p:txBody>
      </p:sp>
      <p:sp>
        <p:nvSpPr>
          <p:cNvPr id="4" name="Text 0"/>
          <p:cNvSpPr txBox="1"/>
          <p:nvPr/>
        </p:nvSpPr>
        <p:spPr>
          <a:xfrm>
            <a:off x="457200" y="6400800"/>
            <a:ext cx="7315200" cy="274320"/>
          </a:xfrm>
          <a:prstGeom prst="rect">
            <a:avLst/>
          </a:prstGeom>
          <a:noFill/>
          <a:ln/>
        </p:spPr>
        <p:txBody>
          <a:bodyPr wrap="square" lIns="0" tIns="0" rIns="0" bIns="0" rtlCol="0" anchor="ctr"/>
          <a:lstStyle/>
          <a:p>
            <a:pPr indent="0" marL="0">
              <a:buNone/>
            </a:pPr>
            <a:r>
              <a:rPr lang="en-US" sz="1000" dirty="0">
                <a:solidFill>
                  <a:srgbClr val="486A70"/>
                </a:solidFill>
              </a:rPr>
              <a:t>Thinkitive  ·  Inlay Health  ·  Billing prototype</a:t>
            </a:r>
            <a:endParaRPr lang="en-US" sz="10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CRE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 </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rtlCol="0"/>
          <a:lstStyle>
            <a:lvl1pPr indent="0" marL="0">
              <a:buNone/>
              <a:defRPr lang="en-US" sz="1400" dirty="0">
                <a:solidFill>
                  <a:srgbClr val="5E7B81"/>
                </a:solidFill>
              </a:defRPr>
            </a:lvl1pPr>
          </a:lstStyle>
          <a:p>
            <a:pPr indent="0" marL="0">
              <a:buNone/>
            </a:pPr>
            <a:r>
              <a:rPr lang="en-US" sz="1400" dirty="0">
                <a:solidFill>
                  <a:srgbClr val="5E7B81"/>
                </a:solidFill>
              </a:rPr>
              <a:t> </a:t>
            </a:r>
            <a:endParaRPr lang="en-US" sz="1400" dirty="0"/>
          </a:p>
        </p:txBody>
      </p:sp>
      <p:sp>
        <p:nvSpPr>
          <p:cNvPr id="4" name="Text 0"/>
          <p:cNvSpPr txBox="1"/>
          <p:nvPr/>
        </p:nvSpPr>
        <p:spPr>
          <a:xfrm>
            <a:off x="457200" y="6400800"/>
            <a:ext cx="7315200" cy="274320"/>
          </a:xfrm>
          <a:prstGeom prst="rect">
            <a:avLst/>
          </a:prstGeom>
          <a:noFill/>
          <a:ln/>
        </p:spPr>
        <p:txBody>
          <a:bodyPr wrap="square" lIns="0" tIns="0" rIns="0" bIns="0" rtlCol="0" anchor="ctr"/>
          <a:lstStyle/>
          <a:p>
            <a:pPr indent="0" marL="0">
              <a:buNone/>
            </a:pPr>
            <a:r>
              <a:rPr lang="en-US" sz="1000" dirty="0">
                <a:solidFill>
                  <a:srgbClr val="486A70"/>
                </a:solidFill>
              </a:rPr>
              <a:t>Thinkitive  ·  Inlay Health  ·  Billing prototype</a:t>
            </a:r>
            <a:endParaRPr lang="en-US" sz="10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6B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opEdge"/>
          <p:cNvSpPr/>
          <p:nvPr/>
        </p:nvSpPr>
        <p:spPr>
          <a:xfrm>
            <a:off x="0" y="0"/>
            <a:ext cx="12188952" cy="82296"/>
          </a:xfrm>
          <a:prstGeom prst="rect">
            <a:avLst/>
          </a:prstGeom>
          <a:solidFill>
            <a:srgbClr val="1FA1A8"/>
          </a:solidFill>
          <a:ln/>
        </p:spPr>
      </p:sp>
      <p:sp>
        <p:nvSpPr>
          <p:cNvPr id="3" name="Text 1"/>
          <p:cNvSpPr txBox="1"/>
          <p:nvPr/>
        </p:nvSpPr>
        <p:spPr>
          <a:xfrm>
            <a:off x="822960" y="1371600"/>
            <a:ext cx="7315200" cy="274320"/>
          </a:xfrm>
          <a:prstGeom prst="rect">
            <a:avLst/>
          </a:prstGeom>
          <a:noFill/>
          <a:ln/>
        </p:spPr>
        <p:txBody>
          <a:bodyPr wrap="square" lIns="0" tIns="0" rIns="0" bIns="0" rtlCol="0" anchor="ctr"/>
          <a:lstStyle/>
          <a:p>
            <a:pPr indent="0" marL="0">
              <a:buNone/>
            </a:pPr>
            <a:r>
              <a:rPr lang="en-US" sz="1300" b="1" spc="240" kern="0" dirty="0">
                <a:solidFill>
                  <a:srgbClr val="1FA1A8"/>
                </a:solidFill>
              </a:rPr>
              <a:t>THINKITIVE TECHNOLOGIES</a:t>
            </a:r>
            <a:endParaRPr lang="en-US" sz="1300" dirty="0"/>
          </a:p>
        </p:txBody>
      </p:sp>
      <p:sp>
        <p:nvSpPr>
          <p:cNvPr id="4" name="Text 0"/>
          <p:cNvSpPr/>
          <p:nvPr>
            <p:ph idx="100" type="title" hasCustomPrompt="1"/>
          </p:nvPr>
        </p:nvSpPr>
        <p:spPr>
          <a:xfrm>
            <a:off x="822960" y="2286000"/>
            <a:ext cx="10515600" cy="1371600"/>
          </a:xfrm>
          <a:prstGeom prst="rect">
            <a:avLst/>
          </a:prstGeom>
          <a:noFill/>
          <a:ln/>
        </p:spPr>
        <p:txBody>
          <a:bodyPr wrap="square" lIns="0" tIns="0" rIns="0" bIns="0" rtlCol="0" anchor="b"/>
          <a:lstStyle/>
          <a:p>
            <a:pPr algn="l" indent="0" marL="0">
              <a:buNone/>
            </a:pPr>
            <a:r>
              <a:rPr lang="en-US" sz="4400" b="1" dirty="0">
                <a:solidFill>
                  <a:schemeClr val="bg1"/>
                </a:solidFill>
              </a:rPr>
              <a:t>Inlay Health — Billing</a:t>
            </a:r>
            <a:endParaRPr lang="en-US" sz="4400" dirty="0"/>
          </a:p>
        </p:txBody>
      </p:sp>
      <p:sp>
        <p:nvSpPr>
          <p:cNvPr id="5" name="Text 0"/>
          <p:cNvSpPr/>
          <p:nvPr>
            <p:ph idx="101" type="body" hasCustomPrompt="1"/>
          </p:nvPr>
        </p:nvSpPr>
        <p:spPr>
          <a:xfrm>
            <a:off x="822960" y="3749040"/>
            <a:ext cx="10515600" cy="822960"/>
          </a:xfrm>
          <a:prstGeom prst="rect">
            <a:avLst/>
          </a:prstGeom>
          <a:noFill/>
          <a:ln/>
        </p:spPr>
        <p:txBody>
          <a:bodyPr wrap="square" lIns="0" tIns="0" rIns="0" bIns="0" rtlCol="0" anchor="t"/>
          <a:lstStyle/>
          <a:p>
            <a:pPr indent="0" marL="0">
              <a:buNone/>
            </a:pPr>
            <a:r>
              <a:rPr lang="en-US" sz="1700" dirty="0">
                <a:solidFill>
                  <a:srgbClr val="9FC4C8"/>
                </a:solidFill>
              </a:rPr>
              <a:t>Screen walkthrough for the Super Admin and Provider portals. Fifteen screens, what each one does, and the rules built into them.</a:t>
            </a:r>
            <a:endParaRPr lang="en-US" sz="1700" dirty="0"/>
          </a:p>
        </p:txBody>
      </p:sp>
      <p:sp>
        <p:nvSpPr>
          <p:cNvPr id="6" name="chipA"/>
          <p:cNvSpPr/>
          <p:nvPr/>
        </p:nvSpPr>
        <p:spPr>
          <a:xfrm>
            <a:off x="822960" y="4937760"/>
            <a:ext cx="2148840" cy="411480"/>
          </a:xfrm>
          <a:prstGeom prst="roundRect">
            <a:avLst>
              <a:gd name="adj" fmla="val 48889"/>
            </a:avLst>
          </a:prstGeom>
          <a:solidFill>
            <a:srgbClr val="15454F"/>
          </a:solidFill>
          <a:ln/>
        </p:spPr>
      </p:sp>
      <p:sp>
        <p:nvSpPr>
          <p:cNvPr id="7" name="Text 5"/>
          <p:cNvSpPr txBox="1"/>
          <p:nvPr/>
        </p:nvSpPr>
        <p:spPr>
          <a:xfrm>
            <a:off x="822960" y="4937760"/>
            <a:ext cx="2148840" cy="411480"/>
          </a:xfrm>
          <a:prstGeom prst="rect">
            <a:avLst/>
          </a:prstGeom>
          <a:noFill/>
          <a:ln/>
        </p:spPr>
        <p:txBody>
          <a:bodyPr wrap="square" lIns="0" tIns="0" rIns="0" bIns="0" rtlCol="0" anchor="ctr"/>
          <a:lstStyle/>
          <a:p>
            <a:pPr algn="ctr" indent="0" marL="0">
              <a:buNone/>
            </a:pPr>
            <a:r>
              <a:rPr lang="en-US" sz="1200" b="1" dirty="0">
                <a:solidFill>
                  <a:srgbClr val="BFE0E3"/>
                </a:solidFill>
              </a:rPr>
              <a:t>9  Super Admin screens</a:t>
            </a:r>
            <a:endParaRPr lang="en-US" sz="1200" dirty="0"/>
          </a:p>
        </p:txBody>
      </p:sp>
      <p:sp>
        <p:nvSpPr>
          <p:cNvPr id="8" name="chipB"/>
          <p:cNvSpPr/>
          <p:nvPr/>
        </p:nvSpPr>
        <p:spPr>
          <a:xfrm>
            <a:off x="3154680" y="4937760"/>
            <a:ext cx="1965960" cy="411480"/>
          </a:xfrm>
          <a:prstGeom prst="roundRect">
            <a:avLst>
              <a:gd name="adj" fmla="val 48889"/>
            </a:avLst>
          </a:prstGeom>
          <a:solidFill>
            <a:srgbClr val="15454F"/>
          </a:solidFill>
          <a:ln/>
        </p:spPr>
      </p:sp>
      <p:sp>
        <p:nvSpPr>
          <p:cNvPr id="9" name="Text 7"/>
          <p:cNvSpPr txBox="1"/>
          <p:nvPr/>
        </p:nvSpPr>
        <p:spPr>
          <a:xfrm>
            <a:off x="3154680" y="4937760"/>
            <a:ext cx="1965960" cy="411480"/>
          </a:xfrm>
          <a:prstGeom prst="rect">
            <a:avLst/>
          </a:prstGeom>
          <a:noFill/>
          <a:ln/>
        </p:spPr>
        <p:txBody>
          <a:bodyPr wrap="square" lIns="0" tIns="0" rIns="0" bIns="0" rtlCol="0" anchor="ctr"/>
          <a:lstStyle/>
          <a:p>
            <a:pPr algn="ctr" indent="0" marL="0">
              <a:buNone/>
            </a:pPr>
            <a:r>
              <a:rPr lang="en-US" sz="1200" b="1" dirty="0">
                <a:solidFill>
                  <a:srgbClr val="BFE0E3"/>
                </a:solidFill>
              </a:rPr>
              <a:t>6  Provider screens</a:t>
            </a:r>
            <a:endParaRPr lang="en-US" sz="1200" dirty="0"/>
          </a:p>
        </p:txBody>
      </p:sp>
      <p:sp>
        <p:nvSpPr>
          <p:cNvPr id="10" name="Text 8"/>
          <p:cNvSpPr txBox="1"/>
          <p:nvPr/>
        </p:nvSpPr>
        <p:spPr>
          <a:xfrm>
            <a:off x="822960" y="5943600"/>
            <a:ext cx="8229600" cy="274320"/>
          </a:xfrm>
          <a:prstGeom prst="rect">
            <a:avLst/>
          </a:prstGeom>
          <a:noFill/>
          <a:ln/>
        </p:spPr>
        <p:txBody>
          <a:bodyPr wrap="square" lIns="0" tIns="0" rIns="0" bIns="0" rtlCol="0" anchor="ctr"/>
          <a:lstStyle/>
          <a:p>
            <a:pPr indent="0" marL="0">
              <a:buNone/>
            </a:pPr>
            <a:r>
              <a:rPr lang="en-US" sz="1100" dirty="0">
                <a:solidFill>
                  <a:srgbClr val="7D9499"/>
                </a:solidFill>
              </a:rPr>
              <a:t>Prototype screens, sample data · 29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48640"/>
          </a:xfrm>
          <a:prstGeom prst="rect">
            <a:avLst/>
          </a:prstGeom>
          <a:noFill/>
          <a:ln/>
        </p:spPr>
        <p:txBody>
          <a:bodyPr wrap="square" lIns="0" tIns="0" rIns="0" bIns="0" rtlCol="0" anchor="ctr"/>
          <a:lstStyle/>
          <a:p>
            <a:pPr algn="l" indent="0" marL="0">
              <a:buNone/>
            </a:pPr>
            <a:r>
              <a:rPr lang="en-US" sz="3000" b="1" dirty="0">
                <a:solidFill>
                  <a:schemeClr val="tx1"/>
                </a:solidFill>
              </a:rPr>
              <a:t>How the money works</a:t>
            </a:r>
            <a:endParaRPr lang="en-US" sz="3000" dirty="0"/>
          </a:p>
        </p:txBody>
      </p:sp>
      <p:sp>
        <p:nvSpPr>
          <p:cNvPr id="3" name="Text 0"/>
          <p:cNvSpPr/>
          <p:nvPr>
            <p:ph idx="101" type="body" hasCustomPrompt="1"/>
          </p:nvPr>
        </p:nvSpPr>
        <p:spPr>
          <a:xfrm>
            <a:off x="457200" y="941832"/>
            <a:ext cx="11247120" cy="365760"/>
          </a:xfrm>
          <a:prstGeom prst="rect">
            <a:avLst/>
          </a:prstGeom>
          <a:noFill/>
          <a:ln/>
        </p:spPr>
        <p:txBody>
          <a:bodyPr wrap="square" lIns="0" tIns="0" rIns="0" bIns="0" rtlCol="0" anchor="t"/>
          <a:lstStyle/>
          <a:p>
            <a:pPr indent="0" marL="0">
              <a:buNone/>
            </a:pPr>
            <a:r>
              <a:rPr lang="en-US" sz="1400" dirty="0">
                <a:solidFill>
                  <a:srgbClr val="5E7B81"/>
                </a:solidFill>
              </a:rPr>
              <a:t>Two sources of income, one source of payment. Every screen that follows sits on one side of this picture.</a:t>
            </a:r>
            <a:endParaRPr lang="en-US" sz="1400" dirty="0"/>
          </a:p>
        </p:txBody>
      </p:sp>
      <p:sp>
        <p:nvSpPr>
          <p:cNvPr id="4" name="card0"/>
          <p:cNvSpPr/>
          <p:nvPr/>
        </p:nvSpPr>
        <p:spPr>
          <a:xfrm>
            <a:off x="457200" y="1508760"/>
            <a:ext cx="5486400" cy="2880360"/>
          </a:xfrm>
          <a:prstGeom prst="roundRect">
            <a:avLst>
              <a:gd name="adj" fmla="val 2540"/>
            </a:avLst>
          </a:prstGeom>
          <a:solidFill>
            <a:srgbClr val="F4F8F8"/>
          </a:solidFill>
          <a:ln w="12700">
            <a:solidFill>
              <a:srgbClr val="DCE8E8"/>
            </a:solidFill>
            <a:prstDash val="solid"/>
          </a:ln>
        </p:spPr>
      </p:sp>
      <p:sp>
        <p:nvSpPr>
          <p:cNvPr id="5" name="dot0"/>
          <p:cNvSpPr/>
          <p:nvPr/>
        </p:nvSpPr>
        <p:spPr>
          <a:xfrm>
            <a:off x="731520" y="1783080"/>
            <a:ext cx="310896" cy="310896"/>
          </a:xfrm>
          <a:prstGeom prst="ellipse">
            <a:avLst/>
          </a:prstGeom>
          <a:solidFill>
            <a:srgbClr val="0E7C86"/>
          </a:solidFill>
          <a:ln/>
        </p:spPr>
      </p:sp>
      <p:sp>
        <p:nvSpPr>
          <p:cNvPr id="6" name="Text 4"/>
          <p:cNvSpPr txBox="1"/>
          <p:nvPr/>
        </p:nvSpPr>
        <p:spPr>
          <a:xfrm>
            <a:off x="731520" y="17830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1170432" y="1764792"/>
            <a:ext cx="4526280" cy="347472"/>
          </a:xfrm>
          <a:prstGeom prst="rect">
            <a:avLst/>
          </a:prstGeom>
          <a:noFill/>
          <a:ln/>
        </p:spPr>
        <p:txBody>
          <a:bodyPr wrap="square" lIns="0" tIns="0" rIns="0" bIns="0" rtlCol="0" anchor="ctr"/>
          <a:lstStyle/>
          <a:p>
            <a:pPr indent="0" marL="0">
              <a:buNone/>
            </a:pPr>
            <a:r>
              <a:rPr lang="en-US" sz="1600" b="1" dirty="0">
                <a:solidFill>
                  <a:srgbClr val="0E7C86"/>
                </a:solidFill>
              </a:rPr>
              <a:t>Channel 1 — ordered by the provider</a:t>
            </a:r>
            <a:endParaRPr lang="en-US" sz="1600" dirty="0"/>
          </a:p>
        </p:txBody>
      </p:sp>
      <p:sp>
        <p:nvSpPr>
          <p:cNvPr id="8" name="Text 6"/>
          <p:cNvSpPr txBox="1"/>
          <p:nvPr/>
        </p:nvSpPr>
        <p:spPr>
          <a:xfrm>
            <a:off x="841248" y="2240280"/>
            <a:ext cx="4754880" cy="2011680"/>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234A51"/>
                </a:solidFill>
              </a:rPr>
              <a:t>A physician orders a test for a patient inside the provider portal.</a:t>
            </a:r>
            <a:endParaRPr lang="en-US" sz="1400" dirty="0"/>
          </a:p>
          <a:p>
            <a:pPr marL="342900" indent="-342900">
              <a:spcAft>
                <a:spcPts val="700"/>
              </a:spcAft>
              <a:buSzPct val="100000"/>
              <a:buChar char="•"/>
            </a:pPr>
            <a:r>
              <a:rPr lang="en-US" sz="1400" dirty="0">
                <a:solidFill>
                  <a:srgbClr val="234A51"/>
                </a:solidFill>
              </a:rPr>
              <a:t>The practice is invoiced for it on its own billing cycle.</a:t>
            </a:r>
            <a:endParaRPr lang="en-US" sz="1400" dirty="0"/>
          </a:p>
          <a:p>
            <a:pPr marL="342900" indent="-342900">
              <a:spcAft>
                <a:spcPts val="700"/>
              </a:spcAft>
              <a:buSzPct val="100000"/>
              <a:buChar char="•"/>
            </a:pPr>
            <a:r>
              <a:rPr lang="en-US" sz="1400" dirty="0">
                <a:solidFill>
                  <a:srgbClr val="234A51"/>
                </a:solidFill>
              </a:rPr>
              <a:t>The patient is never billed and pays nothing at any point.</a:t>
            </a:r>
            <a:endParaRPr lang="en-US" sz="1400" dirty="0"/>
          </a:p>
          <a:p>
            <a:pPr marL="342900" indent="-342900">
              <a:spcAft>
                <a:spcPts val="700"/>
              </a:spcAft>
              <a:buSzPct val="100000"/>
              <a:buChar char="•"/>
            </a:pPr>
            <a:r>
              <a:rPr lang="en-US" sz="1400" dirty="0">
                <a:solidFill>
                  <a:srgbClr val="234A51"/>
                </a:solidFill>
              </a:rPr>
              <a:t>The practice pays no access fee — testing only.</a:t>
            </a:r>
            <a:endParaRPr lang="en-US" sz="1400" dirty="0"/>
          </a:p>
        </p:txBody>
      </p:sp>
      <p:sp>
        <p:nvSpPr>
          <p:cNvPr id="9" name="card1"/>
          <p:cNvSpPr/>
          <p:nvPr/>
        </p:nvSpPr>
        <p:spPr>
          <a:xfrm>
            <a:off x="6245352" y="1508760"/>
            <a:ext cx="5486400" cy="2880360"/>
          </a:xfrm>
          <a:prstGeom prst="roundRect">
            <a:avLst>
              <a:gd name="adj" fmla="val 2540"/>
            </a:avLst>
          </a:prstGeom>
          <a:solidFill>
            <a:srgbClr val="F4F8F8"/>
          </a:solidFill>
          <a:ln w="12700">
            <a:solidFill>
              <a:srgbClr val="DCE8E8"/>
            </a:solidFill>
            <a:prstDash val="solid"/>
          </a:ln>
        </p:spPr>
      </p:sp>
      <p:sp>
        <p:nvSpPr>
          <p:cNvPr id="10" name="dot1"/>
          <p:cNvSpPr/>
          <p:nvPr/>
        </p:nvSpPr>
        <p:spPr>
          <a:xfrm>
            <a:off x="6519672" y="1783080"/>
            <a:ext cx="310896" cy="310896"/>
          </a:xfrm>
          <a:prstGeom prst="ellipse">
            <a:avLst/>
          </a:prstGeom>
          <a:solidFill>
            <a:srgbClr val="6B4E9E"/>
          </a:solidFill>
          <a:ln/>
        </p:spPr>
      </p:sp>
      <p:sp>
        <p:nvSpPr>
          <p:cNvPr id="11" name="Text 9"/>
          <p:cNvSpPr txBox="1"/>
          <p:nvPr/>
        </p:nvSpPr>
        <p:spPr>
          <a:xfrm>
            <a:off x="6519672" y="17830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958584" y="1764792"/>
            <a:ext cx="4526280" cy="347472"/>
          </a:xfrm>
          <a:prstGeom prst="rect">
            <a:avLst/>
          </a:prstGeom>
          <a:noFill/>
          <a:ln/>
        </p:spPr>
        <p:txBody>
          <a:bodyPr wrap="square" lIns="0" tIns="0" rIns="0" bIns="0" rtlCol="0" anchor="ctr"/>
          <a:lstStyle/>
          <a:p>
            <a:pPr indent="0" marL="0">
              <a:buNone/>
            </a:pPr>
            <a:r>
              <a:rPr lang="en-US" sz="1600" b="1" dirty="0">
                <a:solidFill>
                  <a:srgbClr val="6B4E9E"/>
                </a:solidFill>
              </a:rPr>
              <a:t>Channel 2 — bought by the patient</a:t>
            </a:r>
            <a:endParaRPr lang="en-US" sz="1600" dirty="0"/>
          </a:p>
        </p:txBody>
      </p:sp>
      <p:sp>
        <p:nvSpPr>
          <p:cNvPr id="13" name="Text 11"/>
          <p:cNvSpPr txBox="1"/>
          <p:nvPr/>
        </p:nvSpPr>
        <p:spPr>
          <a:xfrm>
            <a:off x="6629400" y="2240280"/>
            <a:ext cx="4754880" cy="2011680"/>
          </a:xfrm>
          <a:prstGeom prst="rect">
            <a:avLst/>
          </a:prstGeom>
          <a:noFill/>
          <a:ln/>
        </p:spPr>
        <p:txBody>
          <a:bodyPr wrap="square" lIns="0" tIns="0" rIns="0" bIns="0" rtlCol="0" anchor="ctr"/>
          <a:lstStyle/>
          <a:p>
            <a:pPr marL="342900" indent="-342900">
              <a:spcAft>
                <a:spcPts val="700"/>
              </a:spcAft>
              <a:buSzPct val="100000"/>
              <a:buChar char="•"/>
            </a:pPr>
            <a:r>
              <a:rPr lang="en-US" sz="1400" dirty="0">
                <a:solidFill>
                  <a:srgbClr val="234A51"/>
                </a:solidFill>
              </a:rPr>
              <a:t>The patient buys a test, a membership or AI questions in the patient app.</a:t>
            </a:r>
            <a:endParaRPr lang="en-US" sz="1400" dirty="0"/>
          </a:p>
          <a:p>
            <a:pPr marL="342900" indent="-342900">
              <a:spcAft>
                <a:spcPts val="700"/>
              </a:spcAft>
              <a:buSzPct val="100000"/>
              <a:buChar char="•"/>
            </a:pPr>
            <a:r>
              <a:rPr lang="en-US" sz="1400" dirty="0">
                <a:solidFill>
                  <a:srgbClr val="234A51"/>
                </a:solidFill>
              </a:rPr>
              <a:t>The patient pays at the moment of purchase.</a:t>
            </a:r>
            <a:endParaRPr lang="en-US" sz="1400" dirty="0"/>
          </a:p>
          <a:p>
            <a:pPr marL="342900" indent="-342900">
              <a:spcAft>
                <a:spcPts val="700"/>
              </a:spcAft>
              <a:buSzPct val="100000"/>
              <a:buChar char="•"/>
            </a:pPr>
            <a:r>
              <a:rPr lang="en-US" sz="1400" dirty="0">
                <a:solidFill>
                  <a:srgbClr val="234A51"/>
                </a:solidFill>
              </a:rPr>
              <a:t>The practice is not involved and is not invoiced.</a:t>
            </a:r>
            <a:endParaRPr lang="en-US" sz="1400" dirty="0"/>
          </a:p>
          <a:p>
            <a:pPr marL="342900" indent="-342900">
              <a:spcAft>
                <a:spcPts val="700"/>
              </a:spcAft>
              <a:buSzPct val="100000"/>
              <a:buChar char="•"/>
            </a:pPr>
            <a:r>
              <a:rPr lang="en-US" sz="1400" dirty="0">
                <a:solidFill>
                  <a:srgbClr val="234A51"/>
                </a:solidFill>
              </a:rPr>
              <a:t>Tax is added where the state requires it.</a:t>
            </a:r>
            <a:endParaRPr lang="en-US" sz="1400" dirty="0"/>
          </a:p>
        </p:txBody>
      </p:sp>
      <p:sp>
        <p:nvSpPr>
          <p:cNvPr id="14" name="cardBoth"/>
          <p:cNvSpPr/>
          <p:nvPr/>
        </p:nvSpPr>
        <p:spPr>
          <a:xfrm>
            <a:off x="457200" y="4709160"/>
            <a:ext cx="11274552" cy="1371600"/>
          </a:xfrm>
          <a:prstGeom prst="roundRect">
            <a:avLst>
              <a:gd name="adj" fmla="val 5333"/>
            </a:avLst>
          </a:prstGeom>
          <a:solidFill>
            <a:srgbClr val="10343C"/>
          </a:solidFill>
          <a:ln/>
        </p:spPr>
      </p:sp>
      <p:sp>
        <p:nvSpPr>
          <p:cNvPr id="15" name="Text 13"/>
          <p:cNvSpPr txBox="1"/>
          <p:nvPr/>
        </p:nvSpPr>
        <p:spPr>
          <a:xfrm>
            <a:off x="822960" y="4873752"/>
            <a:ext cx="3657600" cy="292608"/>
          </a:xfrm>
          <a:prstGeom prst="rect">
            <a:avLst/>
          </a:prstGeom>
          <a:noFill/>
          <a:ln/>
        </p:spPr>
        <p:txBody>
          <a:bodyPr wrap="square" lIns="0" tIns="0" rIns="0" bIns="0" rtlCol="0" anchor="ctr"/>
          <a:lstStyle/>
          <a:p>
            <a:pPr indent="0" marL="0">
              <a:buNone/>
            </a:pPr>
            <a:r>
              <a:rPr lang="en-US" sz="1500" b="1" dirty="0">
                <a:solidFill>
                  <a:srgbClr val="7FD3D8"/>
                </a:solidFill>
              </a:rPr>
              <a:t>Both channels</a:t>
            </a:r>
            <a:endParaRPr lang="en-US" sz="1500" dirty="0"/>
          </a:p>
        </p:txBody>
      </p:sp>
      <p:sp>
        <p:nvSpPr>
          <p:cNvPr id="16" name="Text 14"/>
          <p:cNvSpPr txBox="1"/>
          <p:nvPr/>
        </p:nvSpPr>
        <p:spPr>
          <a:xfrm>
            <a:off x="822960" y="5193792"/>
            <a:ext cx="10515600" cy="777240"/>
          </a:xfrm>
          <a:prstGeom prst="rect">
            <a:avLst/>
          </a:prstGeom>
          <a:noFill/>
          <a:ln/>
        </p:spPr>
        <p:txBody>
          <a:bodyPr wrap="square" lIns="0" tIns="0" rIns="0" bIns="0" rtlCol="0" anchor="ctr"/>
          <a:lstStyle/>
          <a:p>
            <a:pPr indent="0" marL="0">
              <a:buNone/>
            </a:pPr>
            <a:r>
              <a:rPr lang="en-US" sz="1400" dirty="0">
                <a:solidFill>
                  <a:srgbClr val="C7DEE0"/>
                </a:solidFill>
              </a:rPr>
              <a:t>Inlay pays the vendor the contracted rate. Everything above it is margin. </a:t>
            </a:r>
            <a:pPr indent="0" marL="0">
              <a:buNone/>
            </a:pPr>
            <a:r>
              <a:rPr lang="en-US" sz="1400" dirty="0">
                <a:solidFill>
                  <a:srgbClr val="C7DEE0"/>
                </a:solidFill>
              </a:rPr>
              <a:t>The contracted rate is never shown to a practice or a patient — both see the Inlay price only. </a:t>
            </a:r>
            <a:pPr indent="0" marL="0">
              <a:buNone/>
            </a:pPr>
            <a:r>
              <a:rPr lang="en-US" sz="1400" dirty="0">
                <a:solidFill>
                  <a:srgbClr val="C7DEE0"/>
                </a:solidFill>
              </a:rPr>
              <a:t>Admin reports the two channels separately and consolidated.</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dge"/>
          <p:cNvSpPr/>
          <p:nvPr/>
        </p:nvSpPr>
        <p:spPr>
          <a:xfrm>
            <a:off x="0" y="0"/>
            <a:ext cx="12188952" cy="82296"/>
          </a:xfrm>
          <a:prstGeom prst="rect">
            <a:avLst/>
          </a:prstGeom>
          <a:solidFill>
            <a:srgbClr val="1FA1A8"/>
          </a:solidFill>
          <a:ln/>
        </p:spPr>
      </p:sp>
      <p:sp>
        <p:nvSpPr>
          <p:cNvPr id="3" name="Text 1"/>
          <p:cNvSpPr txBox="1"/>
          <p:nvPr/>
        </p:nvSpPr>
        <p:spPr>
          <a:xfrm>
            <a:off x="822960" y="2286000"/>
            <a:ext cx="5486400" cy="274320"/>
          </a:xfrm>
          <a:prstGeom prst="rect">
            <a:avLst/>
          </a:prstGeom>
          <a:noFill/>
          <a:ln/>
        </p:spPr>
        <p:txBody>
          <a:bodyPr wrap="square" lIns="0" tIns="0" rIns="0" bIns="0" rtlCol="0" anchor="ctr"/>
          <a:lstStyle/>
          <a:p>
            <a:pPr indent="0" marL="0">
              <a:buNone/>
            </a:pPr>
            <a:r>
              <a:rPr lang="en-US" sz="1300" b="1" spc="240" kern="0" dirty="0">
                <a:solidFill>
                  <a:srgbClr val="7FD3D8"/>
                </a:solidFill>
              </a:rPr>
              <a:t>Part one</a:t>
            </a:r>
            <a:endParaRPr lang="en-US" sz="1300" dirty="0"/>
          </a:p>
        </p:txBody>
      </p:sp>
      <p:sp>
        <p:nvSpPr>
          <p:cNvPr id="4" name="Text 0"/>
          <p:cNvSpPr/>
          <p:nvPr>
            <p:ph idx="100" type="title" hasCustomPrompt="1"/>
          </p:nvPr>
        </p:nvSpPr>
        <p:spPr>
          <a:xfrm>
            <a:off x="822960" y="2743200"/>
            <a:ext cx="10515600" cy="914400"/>
          </a:xfrm>
          <a:prstGeom prst="rect">
            <a:avLst/>
          </a:prstGeom>
          <a:noFill/>
          <a:ln/>
        </p:spPr>
        <p:txBody>
          <a:bodyPr wrap="square" lIns="0" tIns="0" rIns="0" bIns="0" rtlCol="0" anchor="b"/>
          <a:lstStyle/>
          <a:p>
            <a:pPr algn="l" indent="0" marL="0">
              <a:buNone/>
            </a:pPr>
            <a:r>
              <a:rPr lang="en-US" sz="4000" b="1" dirty="0">
                <a:solidFill>
                  <a:schemeClr val="bg1"/>
                </a:solidFill>
              </a:rPr>
              <a:t>Super Admin portal</a:t>
            </a:r>
            <a:endParaRPr lang="en-US" sz="4000" dirty="0"/>
          </a:p>
        </p:txBody>
      </p:sp>
      <p:sp>
        <p:nvSpPr>
          <p:cNvPr id="5" name="Text 0"/>
          <p:cNvSpPr/>
          <p:nvPr>
            <p:ph idx="101" type="body" hasCustomPrompt="1"/>
          </p:nvPr>
        </p:nvSpPr>
        <p:spPr>
          <a:xfrm>
            <a:off x="822960" y="3749040"/>
            <a:ext cx="10515600" cy="1097280"/>
          </a:xfrm>
          <a:prstGeom prst="rect">
            <a:avLst/>
          </a:prstGeom>
          <a:noFill/>
          <a:ln/>
        </p:spPr>
        <p:txBody>
          <a:bodyPr wrap="square" lIns="0" tIns="0" rIns="0" bIns="0" rtlCol="0" anchor="t"/>
          <a:lstStyle/>
          <a:p>
            <a:pPr indent="0" marL="0">
              <a:buNone/>
            </a:pPr>
            <a:r>
              <a:rPr lang="en-US" sz="1600" dirty="0">
                <a:solidFill>
                  <a:srgbClr val="B6D5D8"/>
                </a:solidFill>
              </a:rPr>
              <a:t>9 screens — the billing dashboard, the catalogue and how a test is priced, memberships and AI, practice billing settings, invoices, vendor payouts and the reports.</a:t>
            </a:r>
            <a:endParaRPr lang="en-US" sz="16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6B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Billing dashboard</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Where the super admin starts each day</a:t>
            </a:r>
            <a:endParaRPr lang="en-US" sz="1400" dirty="0"/>
          </a:p>
        </p:txBody>
      </p:sp>
      <p:sp>
        <p:nvSpPr>
          <p:cNvPr id="4" name="chip"/>
          <p:cNvSpPr/>
          <p:nvPr/>
        </p:nvSpPr>
        <p:spPr>
          <a:xfrm>
            <a:off x="9281160" y="411480"/>
            <a:ext cx="2450592" cy="365760"/>
          </a:xfrm>
          <a:prstGeom prst="roundRect">
            <a:avLst>
              <a:gd name="adj" fmla="val 50000"/>
            </a:avLst>
          </a:prstGeom>
          <a:solidFill>
            <a:srgbClr val="E3F1F2"/>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0E7C86"/>
                </a:solidFill>
              </a:rPr>
              <a:t>SUPER ADMIN PORTAL  1/9</a:t>
            </a:r>
            <a:endParaRPr lang="en-US" sz="1000" dirty="0"/>
          </a:p>
        </p:txBody>
      </p:sp>
      <p:pic>
        <p:nvPicPr>
          <p:cNvPr id="6" name="screenshot" descr="/tmp/claude-0/-home-claude/6ea542df-dfbe-505f-8094-c585c5070fc5/scratchpad/shots/a-dash.png">    </p:cNvPr>
          <p:cNvPicPr>
            <a:picLocks noChangeAspect="1"/>
          </p:cNvPicPr>
          <p:nvPr/>
        </p:nvPicPr>
        <p:blipFill>
          <a:blip r:embed="rId1"/>
          <a:stretch>
            <a:fillRect/>
          </a:stretch>
        </p:blipFill>
        <p:spPr>
          <a:xfrm>
            <a:off x="457200" y="1417320"/>
            <a:ext cx="6949440" cy="2841424"/>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0E7C86"/>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Period-to-date money in one view: practice billings, patient payments, vendor cost, net margin and what is outstanding.</a:t>
            </a:r>
            <a:endParaRPr lang="en-US" sz="1400" dirty="0"/>
          </a:p>
          <a:p>
            <a:pPr marL="342900" indent="-342900">
              <a:spcAft>
                <a:spcPts val="900"/>
              </a:spcAft>
              <a:buSzPct val="100000"/>
              <a:buChar char="•"/>
            </a:pPr>
            <a:r>
              <a:rPr lang="en-US" sz="1400" dirty="0">
                <a:solidFill>
                  <a:srgbClr val="234A51"/>
                </a:solidFill>
              </a:rPr>
              <a:t>Both revenue channels are reported side by side, so margin is never read off one channel alone.</a:t>
            </a:r>
            <a:endParaRPr lang="en-US" sz="1400" dirty="0"/>
          </a:p>
          <a:p>
            <a:pPr marL="342900" indent="-342900">
              <a:spcAft>
                <a:spcPts val="900"/>
              </a:spcAft>
              <a:buSzPct val="100000"/>
              <a:buChar char="•"/>
            </a:pPr>
            <a:r>
              <a:rPr lang="en-US" sz="1400" dirty="0">
                <a:solidFill>
                  <a:srgbClr val="234A51"/>
                </a:solidFill>
              </a:rPr>
              <a:t>Needs attention lists only items that need a decision — a past-due invoice, a vendor invoice that differs from the orders performed, a refund to approve, a test left unpriced.</a:t>
            </a:r>
            <a:endParaRPr lang="en-US" sz="1400" dirty="0"/>
          </a:p>
          <a:p>
            <a:pPr marL="342900" indent="-342900">
              <a:spcAft>
                <a:spcPts val="900"/>
              </a:spcAft>
              <a:buSzPct val="100000"/>
              <a:buChar char="•"/>
            </a:pPr>
            <a:r>
              <a:rPr lang="en-US" sz="1400" dirty="0">
                <a:solidFill>
                  <a:srgbClr val="234A51"/>
                </a:solidFill>
              </a:rPr>
              <a:t>Run invoices raises the period's invoices for every practice from orders already recorded.</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Catalogue and pricing</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Contracted rate in, Inlay price out</a:t>
            </a:r>
            <a:endParaRPr lang="en-US" sz="1400" dirty="0"/>
          </a:p>
        </p:txBody>
      </p:sp>
      <p:sp>
        <p:nvSpPr>
          <p:cNvPr id="4" name="chip"/>
          <p:cNvSpPr/>
          <p:nvPr/>
        </p:nvSpPr>
        <p:spPr>
          <a:xfrm>
            <a:off x="9281160" y="411480"/>
            <a:ext cx="2450592" cy="365760"/>
          </a:xfrm>
          <a:prstGeom prst="roundRect">
            <a:avLst>
              <a:gd name="adj" fmla="val 50000"/>
            </a:avLst>
          </a:prstGeom>
          <a:solidFill>
            <a:srgbClr val="E3F1F2"/>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0E7C86"/>
                </a:solidFill>
              </a:rPr>
              <a:t>SUPER ADMIN PORTAL  2/9</a:t>
            </a:r>
            <a:endParaRPr lang="en-US" sz="1000" dirty="0"/>
          </a:p>
        </p:txBody>
      </p:sp>
      <p:pic>
        <p:nvPicPr>
          <p:cNvPr id="6" name="screenshot" descr="/tmp/claude-0/-home-claude/6ea542df-dfbe-505f-8094-c585c5070fc5/scratchpad/shots/a-cat.png">    </p:cNvPr>
          <p:cNvPicPr>
            <a:picLocks noChangeAspect="1"/>
          </p:cNvPicPr>
          <p:nvPr/>
        </p:nvPicPr>
        <p:blipFill>
          <a:blip r:embed="rId1"/>
          <a:stretch>
            <a:fillRect/>
          </a:stretch>
        </p:blipFill>
        <p:spPr>
          <a:xfrm>
            <a:off x="457200" y="1417320"/>
            <a:ext cx="6949440" cy="3659665"/>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0E7C86"/>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Every test Inlay sells, per vendor and per state, with the contracted rate, the margin and the resulting Inlay price.</a:t>
            </a:r>
            <a:endParaRPr lang="en-US" sz="1400" dirty="0"/>
          </a:p>
          <a:p>
            <a:pPr marL="342900" indent="-342900">
              <a:spcAft>
                <a:spcPts val="900"/>
              </a:spcAft>
              <a:buSzPct val="100000"/>
              <a:buChar char="•"/>
            </a:pPr>
            <a:r>
              <a:rPr lang="en-US" sz="1400" dirty="0">
                <a:solidFill>
                  <a:srgbClr val="234A51"/>
                </a:solidFill>
              </a:rPr>
              <a:t>The contracted rate never leaves this portal. Practices and patients see the Inlay price only.</a:t>
            </a:r>
            <a:endParaRPr lang="en-US" sz="1400" dirty="0"/>
          </a:p>
          <a:p>
            <a:pPr marL="342900" indent="-342900">
              <a:spcAft>
                <a:spcPts val="900"/>
              </a:spcAft>
              <a:buSzPct val="100000"/>
              <a:buChar char="•"/>
            </a:pPr>
            <a:r>
              <a:rPr lang="en-US" sz="1400" dirty="0">
                <a:solidFill>
                  <a:srgbClr val="234A51"/>
                </a:solidFill>
              </a:rPr>
              <a:t>The same test can be carried by two vendors at two different rates and still sell at one price.</a:t>
            </a:r>
            <a:endParaRPr lang="en-US" sz="1400" dirty="0"/>
          </a:p>
          <a:p>
            <a:pPr marL="342900" indent="-342900">
              <a:spcAft>
                <a:spcPts val="900"/>
              </a:spcAft>
              <a:buSzPct val="100000"/>
              <a:buChar char="•"/>
            </a:pPr>
            <a:r>
              <a:rPr lang="en-US" sz="1400" dirty="0">
                <a:solidFill>
                  <a:srgbClr val="234A51"/>
                </a:solidFill>
              </a:rPr>
              <a:t>Status flags any test left without a price in a state a practice can order from.</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Add a test to the catalogue</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Two fields typed, everything else arrives</a:t>
            </a:r>
            <a:endParaRPr lang="en-US" sz="1400" dirty="0"/>
          </a:p>
        </p:txBody>
      </p:sp>
      <p:sp>
        <p:nvSpPr>
          <p:cNvPr id="4" name="chip"/>
          <p:cNvSpPr/>
          <p:nvPr/>
        </p:nvSpPr>
        <p:spPr>
          <a:xfrm>
            <a:off x="9281160" y="411480"/>
            <a:ext cx="2450592" cy="365760"/>
          </a:xfrm>
          <a:prstGeom prst="roundRect">
            <a:avLst>
              <a:gd name="adj" fmla="val 50000"/>
            </a:avLst>
          </a:prstGeom>
          <a:solidFill>
            <a:srgbClr val="E3F1F2"/>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0E7C86"/>
                </a:solidFill>
              </a:rPr>
              <a:t>SUPER ADMIN PORTAL  3/9</a:t>
            </a:r>
            <a:endParaRPr lang="en-US" sz="1000" dirty="0"/>
          </a:p>
        </p:txBody>
      </p:sp>
      <p:pic>
        <p:nvPicPr>
          <p:cNvPr id="6" name="screenshot" descr="/tmp/claude-0/-home-claude/6ea542df-dfbe-505f-8094-c585c5070fc5/scratchpad/shots/a-add.png">    </p:cNvPr>
          <p:cNvPicPr>
            <a:picLocks noChangeAspect="1"/>
          </p:cNvPicPr>
          <p:nvPr/>
        </p:nvPicPr>
        <p:blipFill>
          <a:blip r:embed="rId1"/>
          <a:stretch>
            <a:fillRect/>
          </a:stretch>
        </p:blipFill>
        <p:spPr>
          <a:xfrm>
            <a:off x="457200" y="1417320"/>
            <a:ext cx="6312954" cy="4663440"/>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0E7C86"/>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The admin picks a vendor and a test. Code, specimen, turnaround, states served and the tax rule arrive with them.</a:t>
            </a:r>
            <a:endParaRPr lang="en-US" sz="1400" dirty="0"/>
          </a:p>
          <a:p>
            <a:pPr marL="342900" indent="-342900">
              <a:spcAft>
                <a:spcPts val="900"/>
              </a:spcAft>
              <a:buSzPct val="100000"/>
              <a:buChar char="•"/>
            </a:pPr>
            <a:r>
              <a:rPr lang="en-US" sz="1400" dirty="0">
                <a:solidFill>
                  <a:srgbClr val="234A51"/>
                </a:solidFill>
              </a:rPr>
              <a:t>Only the contracted rate and the margin are typed. The Inlay price is calculated from them, never entered.</a:t>
            </a:r>
            <a:endParaRPr lang="en-US" sz="1400" dirty="0"/>
          </a:p>
          <a:p>
            <a:pPr marL="342900" indent="-342900">
              <a:spcAft>
                <a:spcPts val="900"/>
              </a:spcAft>
              <a:buSzPct val="100000"/>
              <a:buChar char="•"/>
            </a:pPr>
            <a:r>
              <a:rPr lang="en-US" sz="1400" dirty="0">
                <a:solidFill>
                  <a:srgbClr val="234A51"/>
                </a:solidFill>
              </a:rPr>
              <a:t>Preview shows exactly what the provider portal and the patient app will display, tax included, before publishing.</a:t>
            </a:r>
            <a:endParaRPr lang="en-US" sz="1400" dirty="0"/>
          </a:p>
          <a:p>
            <a:pPr marL="342900" indent="-342900">
              <a:spcAft>
                <a:spcPts val="900"/>
              </a:spcAft>
              <a:buSzPct val="100000"/>
              <a:buChar char="•"/>
            </a:pPr>
            <a:r>
              <a:rPr lang="en-US" sz="1400" dirty="0">
                <a:solidFill>
                  <a:srgbClr val="234A51"/>
                </a:solidFill>
              </a:rPr>
              <a:t>A brand-new vendor is connected by the development team first; after that its catalogue is managed here.</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Memberships and AI</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Plan prices and what sits beyond the allowance</a:t>
            </a:r>
            <a:endParaRPr lang="en-US" sz="1400" dirty="0"/>
          </a:p>
        </p:txBody>
      </p:sp>
      <p:sp>
        <p:nvSpPr>
          <p:cNvPr id="4" name="chip"/>
          <p:cNvSpPr/>
          <p:nvPr/>
        </p:nvSpPr>
        <p:spPr>
          <a:xfrm>
            <a:off x="9281160" y="411480"/>
            <a:ext cx="2450592" cy="365760"/>
          </a:xfrm>
          <a:prstGeom prst="roundRect">
            <a:avLst>
              <a:gd name="adj" fmla="val 50000"/>
            </a:avLst>
          </a:prstGeom>
          <a:solidFill>
            <a:srgbClr val="E3F1F2"/>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0E7C86"/>
                </a:solidFill>
              </a:rPr>
              <a:t>SUPER ADMIN PORTAL  4/9</a:t>
            </a:r>
            <a:endParaRPr lang="en-US" sz="1000" dirty="0"/>
          </a:p>
        </p:txBody>
      </p:sp>
      <p:pic>
        <p:nvPicPr>
          <p:cNvPr id="6" name="screenshot" descr="/tmp/claude-0/-home-claude/6ea542df-dfbe-505f-8094-c585c5070fc5/scratchpad/shots/a-plans.png">    </p:cNvPr>
          <p:cNvPicPr>
            <a:picLocks noChangeAspect="1"/>
          </p:cNvPicPr>
          <p:nvPr/>
        </p:nvPicPr>
        <p:blipFill>
          <a:blip r:embed="rId1"/>
          <a:stretch>
            <a:fillRect/>
          </a:stretch>
        </p:blipFill>
        <p:spPr>
          <a:xfrm>
            <a:off x="457200" y="1417320"/>
            <a:ext cx="6949440" cy="2931094"/>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0E7C86"/>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Membership plan prices, monthly and annual, what each includes and the live member count.</a:t>
            </a:r>
            <a:endParaRPr lang="en-US" sz="1400" dirty="0"/>
          </a:p>
          <a:p>
            <a:pPr marL="342900" indent="-342900">
              <a:spcAft>
                <a:spcPts val="900"/>
              </a:spcAft>
              <a:buSzPct val="100000"/>
              <a:buChar char="•"/>
            </a:pPr>
            <a:r>
              <a:rPr lang="en-US" sz="1400" dirty="0">
                <a:solidFill>
                  <a:srgbClr val="234A51"/>
                </a:solidFill>
              </a:rPr>
              <a:t>AI allowance per plan, with the price of questions asked beyond that allowance.</a:t>
            </a:r>
            <a:endParaRPr lang="en-US" sz="1400" dirty="0"/>
          </a:p>
          <a:p>
            <a:pPr marL="342900" indent="-342900">
              <a:spcAft>
                <a:spcPts val="900"/>
              </a:spcAft>
              <a:buSzPct val="100000"/>
              <a:buChar char="•"/>
            </a:pPr>
            <a:r>
              <a:rPr lang="en-US" sz="1400" dirty="0">
                <a:solidFill>
                  <a:srgbClr val="234A51"/>
                </a:solidFill>
              </a:rPr>
              <a:t>Open point held on the screen: whether overage is charged per question in dollars or as token bundles.</a:t>
            </a:r>
            <a:endParaRPr lang="en-US" sz="1400" dirty="0"/>
          </a:p>
          <a:p>
            <a:pPr marL="342900" indent="-342900">
              <a:spcAft>
                <a:spcPts val="900"/>
              </a:spcAft>
              <a:buSzPct val="100000"/>
              <a:buChar char="•"/>
            </a:pPr>
            <a:r>
              <a:rPr lang="en-US" sz="1400" dirty="0">
                <a:solidFill>
                  <a:srgbClr val="234A51"/>
                </a:solidFill>
              </a:rPr>
              <a:t>Packages are kept deliberately few — selling is by individual test.</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Practices</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Billing settings that drive every invoice</a:t>
            </a:r>
            <a:endParaRPr lang="en-US" sz="1400" dirty="0"/>
          </a:p>
        </p:txBody>
      </p:sp>
      <p:sp>
        <p:nvSpPr>
          <p:cNvPr id="4" name="chip"/>
          <p:cNvSpPr/>
          <p:nvPr/>
        </p:nvSpPr>
        <p:spPr>
          <a:xfrm>
            <a:off x="9281160" y="411480"/>
            <a:ext cx="2450592" cy="365760"/>
          </a:xfrm>
          <a:prstGeom prst="roundRect">
            <a:avLst>
              <a:gd name="adj" fmla="val 50000"/>
            </a:avLst>
          </a:prstGeom>
          <a:solidFill>
            <a:srgbClr val="E3F1F2"/>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0E7C86"/>
                </a:solidFill>
              </a:rPr>
              <a:t>SUPER ADMIN PORTAL  5/9</a:t>
            </a:r>
            <a:endParaRPr lang="en-US" sz="1000" dirty="0"/>
          </a:p>
        </p:txBody>
      </p:sp>
      <p:pic>
        <p:nvPicPr>
          <p:cNvPr id="6" name="screenshot" descr="/tmp/claude-0/-home-claude/6ea542df-dfbe-505f-8094-c585c5070fc5/scratchpad/shots/a-practices.png">    </p:cNvPr>
          <p:cNvPicPr>
            <a:picLocks noChangeAspect="1"/>
          </p:cNvPicPr>
          <p:nvPr/>
        </p:nvPicPr>
        <p:blipFill>
          <a:blip r:embed="rId1"/>
          <a:stretch>
            <a:fillRect/>
          </a:stretch>
        </p:blipFill>
        <p:spPr>
          <a:xfrm>
            <a:off x="457200" y="1417320"/>
            <a:ext cx="6949440" cy="2774172"/>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0E7C86"/>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Billing settings per practice: invoice period, payment terms, grace period, late fee and payment method.</a:t>
            </a:r>
            <a:endParaRPr lang="en-US" sz="1400" dirty="0"/>
          </a:p>
          <a:p>
            <a:pPr marL="342900" indent="-342900">
              <a:spcAft>
                <a:spcPts val="900"/>
              </a:spcAft>
              <a:buSzPct val="100000"/>
              <a:buChar char="•"/>
            </a:pPr>
            <a:r>
              <a:rPr lang="en-US" sz="1400" dirty="0">
                <a:solidFill>
                  <a:srgbClr val="234A51"/>
                </a:solidFill>
              </a:rPr>
              <a:t>Every invoice a practice receives is built from these settings. Nothing is decided invoice by invoice.</a:t>
            </a:r>
            <a:endParaRPr lang="en-US" sz="1400" dirty="0"/>
          </a:p>
          <a:p>
            <a:pPr marL="342900" indent="-342900">
              <a:spcAft>
                <a:spcPts val="900"/>
              </a:spcAft>
              <a:buSzPct val="100000"/>
              <a:buChar char="•"/>
            </a:pPr>
            <a:r>
              <a:rPr lang="en-US" sz="1400" dirty="0">
                <a:solidFill>
                  <a:srgbClr val="234A51"/>
                </a:solidFill>
              </a:rPr>
              <a:t>Weekly, monthly and per-order billing run side by side across different practices.</a:t>
            </a:r>
            <a:endParaRPr lang="en-US" sz="1400" dirty="0"/>
          </a:p>
          <a:p>
            <a:pPr marL="342900" indent="-342900">
              <a:spcAft>
                <a:spcPts val="900"/>
              </a:spcAft>
              <a:buSzPct val="100000"/>
              <a:buChar char="•"/>
            </a:pPr>
            <a:r>
              <a:rPr lang="en-US" sz="1400" dirty="0">
                <a:solidFill>
                  <a:srgbClr val="234A51"/>
                </a:solidFill>
              </a:rPr>
              <a:t>Access fee is zero. Practices pay for testing only.</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Invoices</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Raised from orders, not keyed in</a:t>
            </a:r>
            <a:endParaRPr lang="en-US" sz="1400" dirty="0"/>
          </a:p>
        </p:txBody>
      </p:sp>
      <p:sp>
        <p:nvSpPr>
          <p:cNvPr id="4" name="chip"/>
          <p:cNvSpPr/>
          <p:nvPr/>
        </p:nvSpPr>
        <p:spPr>
          <a:xfrm>
            <a:off x="9281160" y="411480"/>
            <a:ext cx="2450592" cy="365760"/>
          </a:xfrm>
          <a:prstGeom prst="roundRect">
            <a:avLst>
              <a:gd name="adj" fmla="val 50000"/>
            </a:avLst>
          </a:prstGeom>
          <a:solidFill>
            <a:srgbClr val="E3F1F2"/>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0E7C86"/>
                </a:solidFill>
              </a:rPr>
              <a:t>SUPER ADMIN PORTAL  6/9</a:t>
            </a:r>
            <a:endParaRPr lang="en-US" sz="1000" dirty="0"/>
          </a:p>
        </p:txBody>
      </p:sp>
      <p:pic>
        <p:nvPicPr>
          <p:cNvPr id="6" name="screenshot" descr="/tmp/claude-0/-home-claude/6ea542df-dfbe-505f-8094-c585c5070fc5/scratchpad/shots/a-inv.png">    </p:cNvPr>
          <p:cNvPicPr>
            <a:picLocks noChangeAspect="1"/>
          </p:cNvPicPr>
          <p:nvPr/>
        </p:nvPicPr>
        <p:blipFill>
          <a:blip r:embed="rId1"/>
          <a:stretch>
            <a:fillRect/>
          </a:stretch>
        </p:blipFill>
        <p:spPr>
          <a:xfrm>
            <a:off x="457200" y="1417320"/>
            <a:ext cx="6949440" cy="2774172"/>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0E7C86"/>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Invoices are raised from the orders placed inside each practice's billing period.</a:t>
            </a:r>
            <a:endParaRPr lang="en-US" sz="1400" dirty="0"/>
          </a:p>
          <a:p>
            <a:pPr marL="342900" indent="-342900">
              <a:spcAft>
                <a:spcPts val="900"/>
              </a:spcAft>
              <a:buSzPct val="100000"/>
              <a:buChar char="•"/>
            </a:pPr>
            <a:r>
              <a:rPr lang="en-US" sz="1400" dirty="0">
                <a:solidFill>
                  <a:srgbClr val="234A51"/>
                </a:solidFill>
              </a:rPr>
              <a:t>Status runs through paid, due, in grace and past due, with credit notes listed alongside.</a:t>
            </a:r>
            <a:endParaRPr lang="en-US" sz="1400" dirty="0"/>
          </a:p>
          <a:p>
            <a:pPr marL="342900" indent="-342900">
              <a:spcAft>
                <a:spcPts val="900"/>
              </a:spcAft>
              <a:buSzPct val="100000"/>
              <a:buChar char="•"/>
            </a:pPr>
            <a:r>
              <a:rPr lang="en-US" sz="1400" dirty="0">
                <a:solidFill>
                  <a:srgbClr val="234A51"/>
                </a:solidFill>
              </a:rPr>
              <a:t>Filter by practice or status, open any invoice, or export the period for finance.</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Invoice detail</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The full line-level record behind one invoice</a:t>
            </a:r>
            <a:endParaRPr lang="en-US" sz="1400" dirty="0"/>
          </a:p>
        </p:txBody>
      </p:sp>
      <p:sp>
        <p:nvSpPr>
          <p:cNvPr id="4" name="chip"/>
          <p:cNvSpPr/>
          <p:nvPr/>
        </p:nvSpPr>
        <p:spPr>
          <a:xfrm>
            <a:off x="9281160" y="411480"/>
            <a:ext cx="2450592" cy="365760"/>
          </a:xfrm>
          <a:prstGeom prst="roundRect">
            <a:avLst>
              <a:gd name="adj" fmla="val 50000"/>
            </a:avLst>
          </a:prstGeom>
          <a:solidFill>
            <a:srgbClr val="E3F1F2"/>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0E7C86"/>
                </a:solidFill>
              </a:rPr>
              <a:t>SUPER ADMIN PORTAL  7/9</a:t>
            </a:r>
            <a:endParaRPr lang="en-US" sz="1000" dirty="0"/>
          </a:p>
        </p:txBody>
      </p:sp>
      <p:pic>
        <p:nvPicPr>
          <p:cNvPr id="6" name="screenshot" descr="/tmp/claude-0/-home-claude/6ea542df-dfbe-505f-8094-c585c5070fc5/scratchpad/shots/a-invd.png">    </p:cNvPr>
          <p:cNvPicPr>
            <a:picLocks noChangeAspect="1"/>
          </p:cNvPicPr>
          <p:nvPr/>
        </p:nvPicPr>
        <p:blipFill>
          <a:blip r:embed="rId1"/>
          <a:stretch>
            <a:fillRect/>
          </a:stretch>
        </p:blipFill>
        <p:spPr>
          <a:xfrm>
            <a:off x="457200" y="1417320"/>
            <a:ext cx="6949440" cy="2785380"/>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0E7C86"/>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Every order on the invoice line by line: date, patient, test, vendor, ordering physician and price.</a:t>
            </a:r>
            <a:endParaRPr lang="en-US" sz="1400" dirty="0"/>
          </a:p>
          <a:p>
            <a:pPr marL="342900" indent="-342900">
              <a:spcAft>
                <a:spcPts val="900"/>
              </a:spcAft>
              <a:buSzPct val="100000"/>
              <a:buChar char="•"/>
            </a:pPr>
            <a:r>
              <a:rPr lang="en-US" sz="1400" dirty="0">
                <a:solidFill>
                  <a:srgbClr val="234A51"/>
                </a:solidFill>
              </a:rPr>
              <a:t>The summary carries the credit note, tax and amount due, with terms, grace used and late fee applied.</a:t>
            </a:r>
            <a:endParaRPr lang="en-US" sz="1400" dirty="0"/>
          </a:p>
          <a:p>
            <a:pPr marL="342900" indent="-342900">
              <a:spcAft>
                <a:spcPts val="900"/>
              </a:spcAft>
              <a:buSzPct val="100000"/>
              <a:buChar char="•"/>
            </a:pPr>
            <a:r>
              <a:rPr lang="en-US" sz="1400" dirty="0">
                <a:solidFill>
                  <a:srgbClr val="234A51"/>
                </a:solidFill>
              </a:rPr>
              <a:t>Vendor cost and margin against the same orders are shown here, to the admin only.</a:t>
            </a:r>
            <a:endParaRPr lang="en-US" sz="1400" dirty="0"/>
          </a:p>
          <a:p>
            <a:pPr marL="342900" indent="-342900">
              <a:spcAft>
                <a:spcPts val="900"/>
              </a:spcAft>
              <a:buSzPct val="100000"/>
              <a:buChar char="•"/>
            </a:pPr>
            <a:r>
              <a:rPr lang="en-US" sz="1400" dirty="0">
                <a:solidFill>
                  <a:srgbClr val="234A51"/>
                </a:solidFill>
              </a:rPr>
              <a:t>Download the PDF, send a reminder or record a payment from the same screen.</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Vendor payouts</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What Inlay owes, checked before it is paid</a:t>
            </a:r>
            <a:endParaRPr lang="en-US" sz="1400" dirty="0"/>
          </a:p>
        </p:txBody>
      </p:sp>
      <p:sp>
        <p:nvSpPr>
          <p:cNvPr id="4" name="chip"/>
          <p:cNvSpPr/>
          <p:nvPr/>
        </p:nvSpPr>
        <p:spPr>
          <a:xfrm>
            <a:off x="9281160" y="411480"/>
            <a:ext cx="2450592" cy="365760"/>
          </a:xfrm>
          <a:prstGeom prst="roundRect">
            <a:avLst>
              <a:gd name="adj" fmla="val 50000"/>
            </a:avLst>
          </a:prstGeom>
          <a:solidFill>
            <a:srgbClr val="E3F1F2"/>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0E7C86"/>
                </a:solidFill>
              </a:rPr>
              <a:t>SUPER ADMIN PORTAL  8/9</a:t>
            </a:r>
            <a:endParaRPr lang="en-US" sz="1000" dirty="0"/>
          </a:p>
        </p:txBody>
      </p:sp>
      <p:pic>
        <p:nvPicPr>
          <p:cNvPr id="6" name="screenshot" descr="/tmp/claude-0/-home-claude/6ea542df-dfbe-505f-8094-c585c5070fc5/scratchpad/shots/a-pay.png">    </p:cNvPr>
          <p:cNvPicPr>
            <a:picLocks noChangeAspect="1"/>
          </p:cNvPicPr>
          <p:nvPr/>
        </p:nvPicPr>
        <p:blipFill>
          <a:blip r:embed="rId1"/>
          <a:stretch>
            <a:fillRect/>
          </a:stretch>
        </p:blipFill>
        <p:spPr>
          <a:xfrm>
            <a:off x="457200" y="1417320"/>
            <a:ext cx="6949440" cy="2796589"/>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0E7C86"/>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What Inlay owes each vendor at the contracted rate for the period's orders.</a:t>
            </a:r>
            <a:endParaRPr lang="en-US" sz="1400" dirty="0"/>
          </a:p>
          <a:p>
            <a:pPr marL="342900" indent="-342900">
              <a:spcAft>
                <a:spcPts val="900"/>
              </a:spcAft>
              <a:buSzPct val="100000"/>
              <a:buChar char="•"/>
            </a:pPr>
            <a:r>
              <a:rPr lang="en-US" sz="1400" dirty="0">
                <a:solidFill>
                  <a:srgbClr val="234A51"/>
                </a:solidFill>
              </a:rPr>
              <a:t>The vendor's own invoice is checked against the orders actually performed; a difference is raised as a query rather than paid.</a:t>
            </a:r>
            <a:endParaRPr lang="en-US" sz="1400" dirty="0"/>
          </a:p>
          <a:p>
            <a:pPr marL="342900" indent="-342900">
              <a:spcAft>
                <a:spcPts val="900"/>
              </a:spcAft>
              <a:buSzPct val="100000"/>
              <a:buChar char="•"/>
            </a:pPr>
            <a:r>
              <a:rPr lang="en-US" sz="1400" dirty="0">
                <a:solidFill>
                  <a:srgbClr val="234A51"/>
                </a:solidFill>
              </a:rPr>
              <a:t>Physician review fees for documented quarterly reviews sit on the same screen, paid under a separate agreement.</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Reports</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A P&amp;L per channel and a consolidated total</a:t>
            </a:r>
            <a:endParaRPr lang="en-US" sz="1400" dirty="0"/>
          </a:p>
        </p:txBody>
      </p:sp>
      <p:sp>
        <p:nvSpPr>
          <p:cNvPr id="4" name="chip"/>
          <p:cNvSpPr/>
          <p:nvPr/>
        </p:nvSpPr>
        <p:spPr>
          <a:xfrm>
            <a:off x="9281160" y="411480"/>
            <a:ext cx="2450592" cy="365760"/>
          </a:xfrm>
          <a:prstGeom prst="roundRect">
            <a:avLst>
              <a:gd name="adj" fmla="val 50000"/>
            </a:avLst>
          </a:prstGeom>
          <a:solidFill>
            <a:srgbClr val="E3F1F2"/>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0E7C86"/>
                </a:solidFill>
              </a:rPr>
              <a:t>SUPER ADMIN PORTAL  9/9</a:t>
            </a:r>
            <a:endParaRPr lang="en-US" sz="1000" dirty="0"/>
          </a:p>
        </p:txBody>
      </p:sp>
      <p:pic>
        <p:nvPicPr>
          <p:cNvPr id="6" name="screenshot" descr="/tmp/claude-0/-home-claude/6ea542df-dfbe-505f-8094-c585c5070fc5/scratchpad/shots/a-rep.png">    </p:cNvPr>
          <p:cNvPicPr>
            <a:picLocks noChangeAspect="1"/>
          </p:cNvPicPr>
          <p:nvPr/>
        </p:nvPicPr>
        <p:blipFill>
          <a:blip r:embed="rId1"/>
          <a:stretch>
            <a:fillRect/>
          </a:stretch>
        </p:blipFill>
        <p:spPr>
          <a:xfrm>
            <a:off x="457200" y="1417320"/>
            <a:ext cx="6949440" cy="4079994"/>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0E7C86"/>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Separate profit and loss for the provider channel and the patient channel, plus the consolidated position.</a:t>
            </a:r>
            <a:endParaRPr lang="en-US" sz="1400" dirty="0"/>
          </a:p>
          <a:p>
            <a:pPr marL="342900" indent="-342900">
              <a:spcAft>
                <a:spcPts val="900"/>
              </a:spcAft>
              <a:buSzPct val="100000"/>
              <a:buChar char="•"/>
            </a:pPr>
            <a:r>
              <a:rPr lang="en-US" sz="1400" dirty="0">
                <a:solidFill>
                  <a:srgbClr val="234A51"/>
                </a:solidFill>
              </a:rPr>
              <a:t>Revenue, vendor cost, physician review fees, refunds and credits, down to net for each channel.</a:t>
            </a:r>
            <a:endParaRPr lang="en-US" sz="1400" dirty="0"/>
          </a:p>
          <a:p>
            <a:pPr marL="342900" indent="-342900">
              <a:spcAft>
                <a:spcPts val="900"/>
              </a:spcAft>
              <a:buSzPct val="100000"/>
              <a:buChar char="•"/>
            </a:pPr>
            <a:r>
              <a:rPr lang="en-US" sz="1400" dirty="0">
                <a:solidFill>
                  <a:srgbClr val="234A51"/>
                </a:solidFill>
              </a:rPr>
              <a:t>Margin per test and tax collected per state.</a:t>
            </a:r>
            <a:endParaRPr lang="en-US" sz="1400" dirty="0"/>
          </a:p>
          <a:p>
            <a:pPr marL="342900" indent="-342900">
              <a:spcAft>
                <a:spcPts val="900"/>
              </a:spcAft>
              <a:buSzPct val="100000"/>
              <a:buChar char="•"/>
            </a:pPr>
            <a:r>
              <a:rPr lang="en-US" sz="1400" dirty="0">
                <a:solidFill>
                  <a:srgbClr val="234A51"/>
                </a:solidFill>
              </a:rPr>
              <a:t>Open point: collection and remittance of tax moves to a third-party tax layer, vendor still being chosen.</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dge"/>
          <p:cNvSpPr/>
          <p:nvPr/>
        </p:nvSpPr>
        <p:spPr>
          <a:xfrm>
            <a:off x="0" y="0"/>
            <a:ext cx="12188952" cy="82296"/>
          </a:xfrm>
          <a:prstGeom prst="rect">
            <a:avLst/>
          </a:prstGeom>
          <a:solidFill>
            <a:srgbClr val="9B80CC"/>
          </a:solidFill>
          <a:ln/>
        </p:spPr>
      </p:sp>
      <p:sp>
        <p:nvSpPr>
          <p:cNvPr id="3" name="Text 1"/>
          <p:cNvSpPr txBox="1"/>
          <p:nvPr/>
        </p:nvSpPr>
        <p:spPr>
          <a:xfrm>
            <a:off x="822960" y="2286000"/>
            <a:ext cx="5486400" cy="274320"/>
          </a:xfrm>
          <a:prstGeom prst="rect">
            <a:avLst/>
          </a:prstGeom>
          <a:noFill/>
          <a:ln/>
        </p:spPr>
        <p:txBody>
          <a:bodyPr wrap="square" lIns="0" tIns="0" rIns="0" bIns="0" rtlCol="0" anchor="ctr"/>
          <a:lstStyle/>
          <a:p>
            <a:pPr indent="0" marL="0">
              <a:buNone/>
            </a:pPr>
            <a:r>
              <a:rPr lang="en-US" sz="1300" b="1" spc="240" kern="0" dirty="0">
                <a:solidFill>
                  <a:srgbClr val="C4B2E6"/>
                </a:solidFill>
              </a:rPr>
              <a:t>Part two</a:t>
            </a:r>
            <a:endParaRPr lang="en-US" sz="1300" dirty="0"/>
          </a:p>
        </p:txBody>
      </p:sp>
      <p:sp>
        <p:nvSpPr>
          <p:cNvPr id="4" name="Text 0"/>
          <p:cNvSpPr/>
          <p:nvPr>
            <p:ph idx="100" type="title" hasCustomPrompt="1"/>
          </p:nvPr>
        </p:nvSpPr>
        <p:spPr>
          <a:xfrm>
            <a:off x="822960" y="2743200"/>
            <a:ext cx="10515600" cy="914400"/>
          </a:xfrm>
          <a:prstGeom prst="rect">
            <a:avLst/>
          </a:prstGeom>
          <a:noFill/>
          <a:ln/>
        </p:spPr>
        <p:txBody>
          <a:bodyPr wrap="square" lIns="0" tIns="0" rIns="0" bIns="0" rtlCol="0" anchor="b"/>
          <a:lstStyle/>
          <a:p>
            <a:pPr algn="l" indent="0" marL="0">
              <a:buNone/>
            </a:pPr>
            <a:r>
              <a:rPr lang="en-US" sz="4000" b="1" dirty="0">
                <a:solidFill>
                  <a:schemeClr val="bg1"/>
                </a:solidFill>
              </a:rPr>
              <a:t>Provider portal</a:t>
            </a:r>
            <a:endParaRPr lang="en-US" sz="4000" dirty="0"/>
          </a:p>
        </p:txBody>
      </p:sp>
      <p:sp>
        <p:nvSpPr>
          <p:cNvPr id="5" name="Text 0"/>
          <p:cNvSpPr/>
          <p:nvPr>
            <p:ph idx="101" type="body" hasCustomPrompt="1"/>
          </p:nvPr>
        </p:nvSpPr>
        <p:spPr>
          <a:xfrm>
            <a:off x="822960" y="3749040"/>
            <a:ext cx="10515600" cy="1097280"/>
          </a:xfrm>
          <a:prstGeom prst="rect">
            <a:avLst/>
          </a:prstGeom>
          <a:noFill/>
          <a:ln/>
        </p:spPr>
        <p:txBody>
          <a:bodyPr wrap="square" lIns="0" tIns="0" rIns="0" bIns="0" rtlCol="0" anchor="t"/>
          <a:lstStyle/>
          <a:p>
            <a:pPr indent="0" marL="0">
              <a:buNone/>
            </a:pPr>
            <a:r>
              <a:rPr lang="en-US" sz="1600" dirty="0">
                <a:solidFill>
                  <a:srgbClr val="B6D5D8"/>
                </a:solidFill>
              </a:rPr>
              <a:t>6 screens — the billing overview, ordering a test, the order list, invoices and statements, invoice detail and physician fees.</a:t>
            </a:r>
            <a:endParaRPr lang="en-US" sz="16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B6B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Billing overview</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What the practice owes and what is building up</a:t>
            </a:r>
            <a:endParaRPr lang="en-US" sz="1400" dirty="0"/>
          </a:p>
        </p:txBody>
      </p:sp>
      <p:sp>
        <p:nvSpPr>
          <p:cNvPr id="4" name="chip"/>
          <p:cNvSpPr/>
          <p:nvPr/>
        </p:nvSpPr>
        <p:spPr>
          <a:xfrm>
            <a:off x="9281160" y="411480"/>
            <a:ext cx="2450592" cy="365760"/>
          </a:xfrm>
          <a:prstGeom prst="roundRect">
            <a:avLst>
              <a:gd name="adj" fmla="val 50000"/>
            </a:avLst>
          </a:prstGeom>
          <a:solidFill>
            <a:srgbClr val="EEE9F6"/>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6B4E9E"/>
                </a:solidFill>
              </a:rPr>
              <a:t>PROVIDER PORTAL  1/6</a:t>
            </a:r>
            <a:endParaRPr lang="en-US" sz="1000" dirty="0"/>
          </a:p>
        </p:txBody>
      </p:sp>
      <p:pic>
        <p:nvPicPr>
          <p:cNvPr id="6" name="screenshot" descr="/tmp/claude-0/-home-claude/6ea542df-dfbe-505f-8094-c585c5070fc5/scratchpad/shots/p-dash.png">    </p:cNvPr>
          <p:cNvPicPr>
            <a:picLocks noChangeAspect="1"/>
          </p:cNvPicPr>
          <p:nvPr/>
        </p:nvPicPr>
        <p:blipFill>
          <a:blip r:embed="rId1"/>
          <a:stretch>
            <a:fillRect/>
          </a:stretch>
        </p:blipFill>
        <p:spPr>
          <a:xfrm>
            <a:off x="457200" y="1417320"/>
            <a:ext cx="6949440" cy="2998347"/>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6B4E9E"/>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Balance due, the current period's running total, the next invoice date and any credits held.</a:t>
            </a:r>
            <a:endParaRPr lang="en-US" sz="1400" dirty="0"/>
          </a:p>
          <a:p>
            <a:pPr marL="342900" indent="-342900">
              <a:spcAft>
                <a:spcPts val="900"/>
              </a:spcAft>
              <a:buSzPct val="100000"/>
              <a:buChar char="•"/>
            </a:pPr>
            <a:r>
              <a:rPr lang="en-US" sz="1400" dirty="0">
                <a:solidFill>
                  <a:srgbClr val="234A51"/>
                </a:solidFill>
              </a:rPr>
              <a:t>A past-due invoice carries a plain notice with the late fee that applies from today.</a:t>
            </a:r>
            <a:endParaRPr lang="en-US" sz="1400" dirty="0"/>
          </a:p>
          <a:p>
            <a:pPr marL="342900" indent="-342900">
              <a:spcAft>
                <a:spcPts val="900"/>
              </a:spcAft>
              <a:buSzPct val="100000"/>
              <a:buChar char="•"/>
            </a:pPr>
            <a:r>
              <a:rPr lang="en-US" sz="1400" dirty="0">
                <a:solidFill>
                  <a:srgbClr val="234A51"/>
                </a:solidFill>
              </a:rPr>
              <a:t>Access fee is shown as zero — Inlay is free to the practice, which pays for testing only.</a:t>
            </a:r>
            <a:endParaRPr lang="en-US" sz="1400" dirty="0"/>
          </a:p>
          <a:p>
            <a:pPr marL="342900" indent="-342900">
              <a:spcAft>
                <a:spcPts val="900"/>
              </a:spcAft>
              <a:buSzPct val="100000"/>
              <a:buChar char="•"/>
            </a:pPr>
            <a:r>
              <a:rPr lang="en-US" sz="1400" dirty="0">
                <a:solidFill>
                  <a:srgbClr val="234A51"/>
                </a:solidFill>
              </a:rPr>
              <a:t>Recent activity shows each order and its status, including anything cancelled and credited.</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Order a test</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Priced by the catalogue, charged to the practice</a:t>
            </a:r>
            <a:endParaRPr lang="en-US" sz="1400" dirty="0"/>
          </a:p>
        </p:txBody>
      </p:sp>
      <p:sp>
        <p:nvSpPr>
          <p:cNvPr id="4" name="chip"/>
          <p:cNvSpPr/>
          <p:nvPr/>
        </p:nvSpPr>
        <p:spPr>
          <a:xfrm>
            <a:off x="9281160" y="411480"/>
            <a:ext cx="2450592" cy="365760"/>
          </a:xfrm>
          <a:prstGeom prst="roundRect">
            <a:avLst>
              <a:gd name="adj" fmla="val 50000"/>
            </a:avLst>
          </a:prstGeom>
          <a:solidFill>
            <a:srgbClr val="EEE9F6"/>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6B4E9E"/>
                </a:solidFill>
              </a:rPr>
              <a:t>PROVIDER PORTAL  2/6</a:t>
            </a:r>
            <a:endParaRPr lang="en-US" sz="1000" dirty="0"/>
          </a:p>
        </p:txBody>
      </p:sp>
      <p:pic>
        <p:nvPicPr>
          <p:cNvPr id="6" name="screenshot" descr="/tmp/claude-0/-home-claude/6ea542df-dfbe-505f-8094-c585c5070fc5/scratchpad/shots/p-order.png">    </p:cNvPr>
          <p:cNvPicPr>
            <a:picLocks noChangeAspect="1"/>
          </p:cNvPicPr>
          <p:nvPr/>
        </p:nvPicPr>
        <p:blipFill>
          <a:blip r:embed="rId1"/>
          <a:stretch>
            <a:fillRect/>
          </a:stretch>
        </p:blipFill>
        <p:spPr>
          <a:xfrm>
            <a:off x="457200" y="1417320"/>
            <a:ext cx="6827232" cy="4663440"/>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6B4E9E"/>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The test is chosen from the catalogue for that patient's state. The price shown is the Inlay price and is never typed.</a:t>
            </a:r>
            <a:endParaRPr lang="en-US" sz="1400" dirty="0"/>
          </a:p>
          <a:p>
            <a:pPr marL="342900" indent="-342900">
              <a:spcAft>
                <a:spcPts val="900"/>
              </a:spcAft>
              <a:buSzPct val="100000"/>
              <a:buChar char="•"/>
            </a:pPr>
            <a:r>
              <a:rPr lang="en-US" sz="1400" dirty="0">
                <a:solidFill>
                  <a:srgbClr val="234A51"/>
                </a:solidFill>
              </a:rPr>
              <a:t>Inlay's vendor is the default facility. The patient's previous facility can be chosen for DEXA, bone density and mammogram so the reading is taken on the same equipment.</a:t>
            </a:r>
            <a:endParaRPr lang="en-US" sz="1400" dirty="0"/>
          </a:p>
          <a:p>
            <a:pPr marL="342900" indent="-342900">
              <a:spcAft>
                <a:spcPts val="900"/>
              </a:spcAft>
              <a:buSzPct val="100000"/>
              <a:buChar char="•"/>
            </a:pPr>
            <a:r>
              <a:rPr lang="en-US" sz="1400" dirty="0">
                <a:solidFill>
                  <a:srgbClr val="234A51"/>
                </a:solidFill>
              </a:rPr>
              <a:t>The order summary names the payer explicitly: the practice. Nothing is collected at the time of ordering.</a:t>
            </a:r>
            <a:endParaRPr lang="en-US" sz="1400" dirty="0"/>
          </a:p>
          <a:p>
            <a:pPr marL="342900" indent="-342900">
              <a:spcAft>
                <a:spcPts val="900"/>
              </a:spcAft>
              <a:buSzPct val="100000"/>
              <a:buChar char="•"/>
            </a:pPr>
            <a:r>
              <a:rPr lang="en-US" sz="1400" dirty="0">
                <a:solidFill>
                  <a:srgbClr val="234A51"/>
                </a:solidFill>
              </a:rPr>
              <a:t>The order joins the next invoice. The patient is never billed for it.</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Orders</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Everything ordered, and what it will cost</a:t>
            </a:r>
            <a:endParaRPr lang="en-US" sz="1400" dirty="0"/>
          </a:p>
        </p:txBody>
      </p:sp>
      <p:sp>
        <p:nvSpPr>
          <p:cNvPr id="4" name="chip"/>
          <p:cNvSpPr/>
          <p:nvPr/>
        </p:nvSpPr>
        <p:spPr>
          <a:xfrm>
            <a:off x="9281160" y="411480"/>
            <a:ext cx="2450592" cy="365760"/>
          </a:xfrm>
          <a:prstGeom prst="roundRect">
            <a:avLst>
              <a:gd name="adj" fmla="val 50000"/>
            </a:avLst>
          </a:prstGeom>
          <a:solidFill>
            <a:srgbClr val="EEE9F6"/>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6B4E9E"/>
                </a:solidFill>
              </a:rPr>
              <a:t>PROVIDER PORTAL  3/6</a:t>
            </a:r>
            <a:endParaRPr lang="en-US" sz="1000" dirty="0"/>
          </a:p>
        </p:txBody>
      </p:sp>
      <p:pic>
        <p:nvPicPr>
          <p:cNvPr id="6" name="screenshot" descr="/tmp/claude-0/-home-claude/6ea542df-dfbe-505f-8094-c585c5070fc5/scratchpad/shots/p-orders.png">    </p:cNvPr>
          <p:cNvPicPr>
            <a:picLocks noChangeAspect="1"/>
          </p:cNvPicPr>
          <p:nvPr/>
        </p:nvPicPr>
        <p:blipFill>
          <a:blip r:embed="rId1"/>
          <a:stretch>
            <a:fillRect/>
          </a:stretch>
        </p:blipFill>
        <p:spPr>
          <a:xfrm>
            <a:off x="457200" y="1417320"/>
            <a:ext cx="6949440" cy="2286590"/>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6B4E9E"/>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Every order placed through Inlay for the period, with the price each will carry on the next invoice.</a:t>
            </a:r>
            <a:endParaRPr lang="en-US" sz="1400" dirty="0"/>
          </a:p>
          <a:p>
            <a:pPr marL="342900" indent="-342900">
              <a:spcAft>
                <a:spcPts val="900"/>
              </a:spcAft>
              <a:buSzPct val="100000"/>
              <a:buChar char="•"/>
            </a:pPr>
            <a:r>
              <a:rPr lang="en-US" sz="1400" dirty="0">
                <a:solidFill>
                  <a:srgbClr val="234A51"/>
                </a:solidFill>
              </a:rPr>
              <a:t>Filter by period, ordering physician and status — awaiting booking, booked, result in, cancelled.</a:t>
            </a:r>
            <a:endParaRPr lang="en-US" sz="1400" dirty="0"/>
          </a:p>
          <a:p>
            <a:pPr marL="342900" indent="-342900">
              <a:spcAft>
                <a:spcPts val="900"/>
              </a:spcAft>
              <a:buSzPct val="100000"/>
              <a:buChar char="•"/>
            </a:pPr>
            <a:r>
              <a:rPr lang="en-US" sz="1400" dirty="0">
                <a:solidFill>
                  <a:srgbClr val="234A51"/>
                </a:solidFill>
              </a:rPr>
              <a:t>A cancelled order shows as a credit, so the running total always matches what will be invoiced.</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Invoices and statements</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One invoice per period, not one per order</a:t>
            </a:r>
            <a:endParaRPr lang="en-US" sz="1400" dirty="0"/>
          </a:p>
        </p:txBody>
      </p:sp>
      <p:sp>
        <p:nvSpPr>
          <p:cNvPr id="4" name="chip"/>
          <p:cNvSpPr/>
          <p:nvPr/>
        </p:nvSpPr>
        <p:spPr>
          <a:xfrm>
            <a:off x="9281160" y="411480"/>
            <a:ext cx="2450592" cy="365760"/>
          </a:xfrm>
          <a:prstGeom prst="roundRect">
            <a:avLst>
              <a:gd name="adj" fmla="val 50000"/>
            </a:avLst>
          </a:prstGeom>
          <a:solidFill>
            <a:srgbClr val="EEE9F6"/>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6B4E9E"/>
                </a:solidFill>
              </a:rPr>
              <a:t>PROVIDER PORTAL  4/6</a:t>
            </a:r>
            <a:endParaRPr lang="en-US" sz="1000" dirty="0"/>
          </a:p>
        </p:txBody>
      </p:sp>
      <p:pic>
        <p:nvPicPr>
          <p:cNvPr id="6" name="screenshot" descr="/tmp/claude-0/-home-claude/6ea542df-dfbe-505f-8094-c585c5070fc5/scratchpad/shots/p-inv.png">    </p:cNvPr>
          <p:cNvPicPr>
            <a:picLocks noChangeAspect="1"/>
          </p:cNvPicPr>
          <p:nvPr/>
        </p:nvPicPr>
        <p:blipFill>
          <a:blip r:embed="rId1"/>
          <a:stretch>
            <a:fillRect/>
          </a:stretch>
        </p:blipFill>
        <p:spPr>
          <a:xfrm>
            <a:off x="457200" y="1417320"/>
            <a:ext cx="6949440" cy="2090436"/>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6B4E9E"/>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A single consolidated invoice per billing period covering every order in it.</a:t>
            </a:r>
            <a:endParaRPr lang="en-US" sz="1400" dirty="0"/>
          </a:p>
          <a:p>
            <a:pPr marL="342900" indent="-342900">
              <a:spcAft>
                <a:spcPts val="900"/>
              </a:spcAft>
              <a:buSzPct val="100000"/>
              <a:buChar char="•"/>
            </a:pPr>
            <a:r>
              <a:rPr lang="en-US" sz="1400" dirty="0">
                <a:solidFill>
                  <a:srgbClr val="234A51"/>
                </a:solidFill>
              </a:rPr>
              <a:t>Credit notes and interim statements are listed alongside the invoices.</a:t>
            </a:r>
            <a:endParaRPr lang="en-US" sz="1400" dirty="0"/>
          </a:p>
          <a:p>
            <a:pPr marL="342900" indent="-342900">
              <a:spcAft>
                <a:spcPts val="900"/>
              </a:spcAft>
              <a:buSzPct val="100000"/>
              <a:buChar char="•"/>
            </a:pPr>
            <a:r>
              <a:rPr lang="en-US" sz="1400" dirty="0">
                <a:solidFill>
                  <a:srgbClr val="234A51"/>
                </a:solidFill>
              </a:rPr>
              <a:t>Download a statement or pay the balance from the same screen.</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Invoice detail</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What the practice reconciles against</a:t>
            </a:r>
            <a:endParaRPr lang="en-US" sz="1400" dirty="0"/>
          </a:p>
        </p:txBody>
      </p:sp>
      <p:sp>
        <p:nvSpPr>
          <p:cNvPr id="4" name="chip"/>
          <p:cNvSpPr/>
          <p:nvPr/>
        </p:nvSpPr>
        <p:spPr>
          <a:xfrm>
            <a:off x="9281160" y="411480"/>
            <a:ext cx="2450592" cy="365760"/>
          </a:xfrm>
          <a:prstGeom prst="roundRect">
            <a:avLst>
              <a:gd name="adj" fmla="val 50000"/>
            </a:avLst>
          </a:prstGeom>
          <a:solidFill>
            <a:srgbClr val="EEE9F6"/>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6B4E9E"/>
                </a:solidFill>
              </a:rPr>
              <a:t>PROVIDER PORTAL  5/6</a:t>
            </a:r>
            <a:endParaRPr lang="en-US" sz="1000" dirty="0"/>
          </a:p>
        </p:txBody>
      </p:sp>
      <p:pic>
        <p:nvPicPr>
          <p:cNvPr id="6" name="screenshot" descr="/tmp/claude-0/-home-claude/6ea542df-dfbe-505f-8094-c585c5070fc5/scratchpad/shots/p-invd.png">    </p:cNvPr>
          <p:cNvPicPr>
            <a:picLocks noChangeAspect="1"/>
          </p:cNvPicPr>
          <p:nvPr/>
        </p:nvPicPr>
        <p:blipFill>
          <a:blip r:embed="rId1"/>
          <a:stretch>
            <a:fillRect/>
          </a:stretch>
        </p:blipFill>
        <p:spPr>
          <a:xfrm>
            <a:off x="457200" y="1417320"/>
            <a:ext cx="6949440" cy="2785380"/>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6B4E9E"/>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The same lines the practice can check against its own records: date, patient, test, facility, physician and price.</a:t>
            </a:r>
            <a:endParaRPr lang="en-US" sz="1400" dirty="0"/>
          </a:p>
          <a:p>
            <a:pPr marL="342900" indent="-342900">
              <a:spcAft>
                <a:spcPts val="900"/>
              </a:spcAft>
              <a:buSzPct val="100000"/>
              <a:buChar char="•"/>
            </a:pPr>
            <a:r>
              <a:rPr lang="en-US" sz="1400" dirty="0">
                <a:solidFill>
                  <a:srgbClr val="234A51"/>
                </a:solidFill>
              </a:rPr>
              <a:t>Summary shows subtotal, credits, amount due, terms, grace period, late fee and how to pay.</a:t>
            </a:r>
            <a:endParaRPr lang="en-US" sz="1400" dirty="0"/>
          </a:p>
          <a:p>
            <a:pPr marL="342900" indent="-342900">
              <a:spcAft>
                <a:spcPts val="900"/>
              </a:spcAft>
              <a:buSzPct val="100000"/>
              <a:buChar char="•"/>
            </a:pPr>
            <a:r>
              <a:rPr lang="en-US" sz="1400" dirty="0">
                <a:solidFill>
                  <a:srgbClr val="234A51"/>
                </a:solidFill>
              </a:rPr>
              <a:t>A single line can be queried without holding up payment of the rest of the invoice.</a:t>
            </a:r>
            <a:endParaRPr lang="en-US" sz="1400" dirty="0"/>
          </a:p>
          <a:p>
            <a:pPr marL="342900" indent="-342900">
              <a:spcAft>
                <a:spcPts val="900"/>
              </a:spcAft>
              <a:buSzPct val="100000"/>
              <a:buChar char="•"/>
            </a:pPr>
            <a:r>
              <a:rPr lang="en-US" sz="1400" dirty="0">
                <a:solidFill>
                  <a:srgbClr val="234A51"/>
                </a:solidFill>
              </a:rPr>
              <a:t>Contracted rates and margin are not shown. The invoice states that no patient is billed for anything on it.</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02920"/>
          </a:xfrm>
          <a:prstGeom prst="rect">
            <a:avLst/>
          </a:prstGeom>
          <a:noFill/>
          <a:ln/>
        </p:spPr>
        <p:txBody>
          <a:bodyPr wrap="square" lIns="0" tIns="0" rIns="0" bIns="0" rtlCol="0" anchor="ctr"/>
          <a:lstStyle/>
          <a:p>
            <a:pPr algn="l" indent="0" marL="0">
              <a:buNone/>
            </a:pPr>
            <a:r>
              <a:rPr lang="en-US" sz="2800" b="1" dirty="0">
                <a:solidFill>
                  <a:schemeClr val="tx1"/>
                </a:solidFill>
              </a:rPr>
              <a:t>Physician fees</a:t>
            </a:r>
            <a:endParaRPr lang="en-US" sz="2800" dirty="0"/>
          </a:p>
        </p:txBody>
      </p:sp>
      <p:sp>
        <p:nvSpPr>
          <p:cNvPr id="3" name="Text 0"/>
          <p:cNvSpPr/>
          <p:nvPr>
            <p:ph idx="101" type="body" hasCustomPrompt="1"/>
          </p:nvPr>
        </p:nvSpPr>
        <p:spPr>
          <a:xfrm>
            <a:off x="457200" y="905256"/>
            <a:ext cx="11247120" cy="320040"/>
          </a:xfrm>
          <a:prstGeom prst="rect">
            <a:avLst/>
          </a:prstGeom>
          <a:noFill/>
          <a:ln/>
        </p:spPr>
        <p:txBody>
          <a:bodyPr wrap="square" lIns="0" tIns="0" rIns="0" bIns="0" rtlCol="0" anchor="t"/>
          <a:lstStyle/>
          <a:p>
            <a:pPr indent="0" marL="0">
              <a:buNone/>
            </a:pPr>
            <a:r>
              <a:rPr lang="en-US" sz="1400" dirty="0">
                <a:solidFill>
                  <a:srgbClr val="5E7B81"/>
                </a:solidFill>
              </a:rPr>
              <a:t>Earned for documented reviews</a:t>
            </a:r>
            <a:endParaRPr lang="en-US" sz="1400" dirty="0"/>
          </a:p>
        </p:txBody>
      </p:sp>
      <p:sp>
        <p:nvSpPr>
          <p:cNvPr id="4" name="chip"/>
          <p:cNvSpPr/>
          <p:nvPr/>
        </p:nvSpPr>
        <p:spPr>
          <a:xfrm>
            <a:off x="9281160" y="411480"/>
            <a:ext cx="2450592" cy="365760"/>
          </a:xfrm>
          <a:prstGeom prst="roundRect">
            <a:avLst>
              <a:gd name="adj" fmla="val 50000"/>
            </a:avLst>
          </a:prstGeom>
          <a:solidFill>
            <a:srgbClr val="EEE9F6"/>
          </a:solidFill>
          <a:ln/>
        </p:spPr>
      </p:sp>
      <p:sp>
        <p:nvSpPr>
          <p:cNvPr id="5" name="Text 3"/>
          <p:cNvSpPr txBox="1"/>
          <p:nvPr/>
        </p:nvSpPr>
        <p:spPr>
          <a:xfrm>
            <a:off x="9281160" y="411480"/>
            <a:ext cx="2450592" cy="365760"/>
          </a:xfrm>
          <a:prstGeom prst="rect">
            <a:avLst/>
          </a:prstGeom>
          <a:noFill/>
          <a:ln/>
        </p:spPr>
        <p:txBody>
          <a:bodyPr wrap="square" lIns="0" tIns="0" rIns="0" bIns="0" rtlCol="0" anchor="ctr"/>
          <a:lstStyle/>
          <a:p>
            <a:pPr algn="ctr" indent="0" marL="0">
              <a:buNone/>
            </a:pPr>
            <a:r>
              <a:rPr lang="en-US" sz="1000" b="1" spc="110" kern="0" dirty="0">
                <a:solidFill>
                  <a:srgbClr val="6B4E9E"/>
                </a:solidFill>
              </a:rPr>
              <a:t>PROVIDER PORTAL  6/6</a:t>
            </a:r>
            <a:endParaRPr lang="en-US" sz="1000" dirty="0"/>
          </a:p>
        </p:txBody>
      </p:sp>
      <p:pic>
        <p:nvPicPr>
          <p:cNvPr id="6" name="screenshot" descr="/tmp/claude-0/-home-claude/6ea542df-dfbe-505f-8094-c585c5070fc5/scratchpad/shots/p-fees.png">    </p:cNvPr>
          <p:cNvPicPr>
            <a:picLocks noChangeAspect="1"/>
          </p:cNvPicPr>
          <p:nvPr/>
        </p:nvPicPr>
        <p:blipFill>
          <a:blip r:embed="rId1"/>
          <a:stretch>
            <a:fillRect/>
          </a:stretch>
        </p:blipFill>
        <p:spPr>
          <a:xfrm>
            <a:off x="457200" y="1417320"/>
            <a:ext cx="6949440" cy="2090436"/>
          </a:xfrm>
          <a:prstGeom prst="rect">
            <a:avLst/>
          </a:prstGeom>
          <a:effectLst>
            <a:outerShdw sx="100000" sy="100000" kx="0" ky="0" algn="bl" rotWithShape="0" blurRad="177800" dist="38100" dir="5400000">
              <a:srgbClr val="0B2A31">
                <a:alpha val="18000"/>
              </a:srgbClr>
            </a:outerShdw>
          </a:effectLst>
        </p:spPr>
      </p:pic>
      <p:sp>
        <p:nvSpPr>
          <p:cNvPr id="7" name="descCard"/>
          <p:cNvSpPr/>
          <p:nvPr/>
        </p:nvSpPr>
        <p:spPr>
          <a:xfrm>
            <a:off x="8046720" y="1417320"/>
            <a:ext cx="3685032" cy="4663440"/>
          </a:xfrm>
          <a:prstGeom prst="roundRect">
            <a:avLst>
              <a:gd name="adj" fmla="val 1985"/>
            </a:avLst>
          </a:prstGeom>
          <a:solidFill>
            <a:srgbClr val="F4F8F8"/>
          </a:solidFill>
          <a:ln w="12700">
            <a:solidFill>
              <a:srgbClr val="DCE8E8"/>
            </a:solidFill>
            <a:prstDash val="solid"/>
          </a:ln>
        </p:spPr>
      </p:sp>
      <p:sp>
        <p:nvSpPr>
          <p:cNvPr id="8" name="Text 5"/>
          <p:cNvSpPr txBox="1"/>
          <p:nvPr/>
        </p:nvSpPr>
        <p:spPr>
          <a:xfrm>
            <a:off x="8339328" y="1664208"/>
            <a:ext cx="3291840" cy="237744"/>
          </a:xfrm>
          <a:prstGeom prst="rect">
            <a:avLst/>
          </a:prstGeom>
          <a:noFill/>
          <a:ln/>
        </p:spPr>
        <p:txBody>
          <a:bodyPr wrap="square" lIns="0" tIns="0" rIns="0" bIns="0" rtlCol="0" anchor="ctr"/>
          <a:lstStyle/>
          <a:p>
            <a:pPr indent="0" marL="0">
              <a:buNone/>
            </a:pPr>
            <a:r>
              <a:rPr lang="en-US" sz="1000" b="1" spc="120" kern="0" dirty="0">
                <a:solidFill>
                  <a:srgbClr val="6B4E9E"/>
                </a:solidFill>
              </a:rPr>
              <a:t>WHAT THIS SCREEN DOES</a:t>
            </a:r>
            <a:endParaRPr lang="en-US" sz="1000" dirty="0"/>
          </a:p>
        </p:txBody>
      </p:sp>
      <p:sp>
        <p:nvSpPr>
          <p:cNvPr id="9" name="Text 6"/>
          <p:cNvSpPr txBox="1"/>
          <p:nvPr/>
        </p:nvSpPr>
        <p:spPr>
          <a:xfrm>
            <a:off x="8339328" y="1993392"/>
            <a:ext cx="3154680" cy="39319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34A51"/>
                </a:solidFill>
              </a:rPr>
              <a:t>What each physician has earned for documented quarterly reviews, quarter by quarter.</a:t>
            </a:r>
            <a:endParaRPr lang="en-US" sz="1400" dirty="0"/>
          </a:p>
          <a:p>
            <a:pPr marL="342900" indent="-342900">
              <a:spcAft>
                <a:spcPts val="900"/>
              </a:spcAft>
              <a:buSzPct val="100000"/>
              <a:buChar char="•"/>
            </a:pPr>
            <a:r>
              <a:rPr lang="en-US" sz="1400" dirty="0">
                <a:solidFill>
                  <a:srgbClr val="234A51"/>
                </a:solidFill>
              </a:rPr>
              <a:t>Paid by Inlay under a separate agreement, with the number of reviews and the fee for each.</a:t>
            </a:r>
            <a:endParaRPr lang="en-US" sz="1400" dirty="0"/>
          </a:p>
          <a:p>
            <a:pPr marL="342900" indent="-342900">
              <a:spcAft>
                <a:spcPts val="900"/>
              </a:spcAft>
              <a:buSzPct val="100000"/>
              <a:buChar char="•"/>
            </a:pPr>
            <a:r>
              <a:rPr lang="en-US" sz="1400" dirty="0">
                <a:solidFill>
                  <a:srgbClr val="234A51"/>
                </a:solidFill>
              </a:rPr>
              <a:t>Pending rows show where documentation is still outstanding.</a:t>
            </a:r>
            <a:endParaRPr lang="en-US" sz="1400" dirty="0"/>
          </a:p>
          <a:p>
            <a:pPr marL="342900" indent="-342900">
              <a:spcAft>
                <a:spcPts val="900"/>
              </a:spcAft>
              <a:buSzPct val="100000"/>
              <a:buChar char="•"/>
            </a:pPr>
            <a:r>
              <a:rPr lang="en-US" sz="1400" dirty="0">
                <a:solidFill>
                  <a:srgbClr val="234A51"/>
                </a:solidFill>
              </a:rPr>
              <a:t>Fees are for work performed and documented. They are not tied to how much testing the practice orders.</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84048"/>
            <a:ext cx="11247120" cy="548640"/>
          </a:xfrm>
          <a:prstGeom prst="rect">
            <a:avLst/>
          </a:prstGeom>
          <a:noFill/>
          <a:ln/>
        </p:spPr>
        <p:txBody>
          <a:bodyPr wrap="square" lIns="0" tIns="0" rIns="0" bIns="0" rtlCol="0" anchor="ctr"/>
          <a:lstStyle/>
          <a:p>
            <a:pPr algn="l" indent="0" marL="0">
              <a:buNone/>
            </a:pPr>
            <a:r>
              <a:rPr lang="en-US" sz="3000" b="1" dirty="0">
                <a:solidFill>
                  <a:schemeClr val="tx1"/>
                </a:solidFill>
              </a:rPr>
              <a:t>Carried as open on these screens</a:t>
            </a:r>
            <a:endParaRPr lang="en-US" sz="3000" dirty="0"/>
          </a:p>
        </p:txBody>
      </p:sp>
      <p:sp>
        <p:nvSpPr>
          <p:cNvPr id="3" name="Text 0"/>
          <p:cNvSpPr/>
          <p:nvPr>
            <p:ph idx="101" type="body" hasCustomPrompt="1"/>
          </p:nvPr>
        </p:nvSpPr>
        <p:spPr>
          <a:xfrm>
            <a:off x="457200" y="941832"/>
            <a:ext cx="11247120" cy="365760"/>
          </a:xfrm>
          <a:prstGeom prst="rect">
            <a:avLst/>
          </a:prstGeom>
          <a:noFill/>
          <a:ln/>
        </p:spPr>
        <p:txBody>
          <a:bodyPr wrap="square" lIns="0" tIns="0" rIns="0" bIns="0" rtlCol="0" anchor="t"/>
          <a:lstStyle/>
          <a:p>
            <a:pPr indent="0" marL="0">
              <a:buNone/>
            </a:pPr>
            <a:r>
              <a:rPr lang="en-US" sz="1400" dirty="0">
                <a:solidFill>
                  <a:srgbClr val="5E7B81"/>
                </a:solidFill>
              </a:rPr>
              <a:t>Everything else shown is built on the billing model agreed on 27 and 29 October. These two are still to be settled.</a:t>
            </a:r>
            <a:endParaRPr lang="en-US" sz="1400" dirty="0"/>
          </a:p>
        </p:txBody>
      </p:sp>
      <p:sp>
        <p:nvSpPr>
          <p:cNvPr id="4" name="open0"/>
          <p:cNvSpPr/>
          <p:nvPr/>
        </p:nvSpPr>
        <p:spPr>
          <a:xfrm>
            <a:off x="457200" y="1600200"/>
            <a:ext cx="11274552" cy="1371600"/>
          </a:xfrm>
          <a:prstGeom prst="roundRect">
            <a:avLst>
              <a:gd name="adj" fmla="val 5333"/>
            </a:avLst>
          </a:prstGeom>
          <a:solidFill>
            <a:srgbClr val="FDF6E6"/>
          </a:solidFill>
          <a:ln w="12700">
            <a:solidFill>
              <a:srgbClr val="EBD8A8"/>
            </a:solidFill>
            <a:prstDash val="solid"/>
          </a:ln>
        </p:spPr>
      </p:sp>
      <p:sp>
        <p:nvSpPr>
          <p:cNvPr id="5" name="odot0"/>
          <p:cNvSpPr/>
          <p:nvPr/>
        </p:nvSpPr>
        <p:spPr>
          <a:xfrm>
            <a:off x="777240" y="1856232"/>
            <a:ext cx="347472" cy="347472"/>
          </a:xfrm>
          <a:prstGeom prst="ellipse">
            <a:avLst/>
          </a:prstGeom>
          <a:solidFill>
            <a:srgbClr val="B07D10"/>
          </a:solidFill>
          <a:ln/>
        </p:spPr>
      </p:sp>
      <p:sp>
        <p:nvSpPr>
          <p:cNvPr id="6" name="Text 4"/>
          <p:cNvSpPr txBox="1"/>
          <p:nvPr/>
        </p:nvSpPr>
        <p:spPr>
          <a:xfrm>
            <a:off x="777240" y="1856232"/>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7" name="Text 5"/>
          <p:cNvSpPr txBox="1"/>
          <p:nvPr/>
        </p:nvSpPr>
        <p:spPr>
          <a:xfrm>
            <a:off x="1280160" y="1828800"/>
            <a:ext cx="5486400" cy="292608"/>
          </a:xfrm>
          <a:prstGeom prst="rect">
            <a:avLst/>
          </a:prstGeom>
          <a:noFill/>
          <a:ln/>
        </p:spPr>
        <p:txBody>
          <a:bodyPr wrap="square" lIns="0" tIns="0" rIns="0" bIns="0" rtlCol="0" anchor="ctr"/>
          <a:lstStyle/>
          <a:p>
            <a:pPr indent="0" marL="0">
              <a:buNone/>
            </a:pPr>
            <a:r>
              <a:rPr lang="en-US" sz="1600" b="1" dirty="0">
                <a:solidFill>
                  <a:srgbClr val="6B4D05"/>
                </a:solidFill>
              </a:rPr>
              <a:t>AI beyond the allowance</a:t>
            </a:r>
            <a:endParaRPr lang="en-US" sz="1600" dirty="0"/>
          </a:p>
        </p:txBody>
      </p:sp>
      <p:sp>
        <p:nvSpPr>
          <p:cNvPr id="8" name="Text 6"/>
          <p:cNvSpPr txBox="1"/>
          <p:nvPr/>
        </p:nvSpPr>
        <p:spPr>
          <a:xfrm>
            <a:off x="6858000" y="1828800"/>
            <a:ext cx="4480560" cy="292608"/>
          </a:xfrm>
          <a:prstGeom prst="rect">
            <a:avLst/>
          </a:prstGeom>
          <a:noFill/>
          <a:ln/>
        </p:spPr>
        <p:txBody>
          <a:bodyPr wrap="square" lIns="0" tIns="0" rIns="0" bIns="0" rtlCol="0" anchor="ctr"/>
          <a:lstStyle/>
          <a:p>
            <a:pPr algn="r" indent="0" marL="0">
              <a:buNone/>
            </a:pPr>
            <a:r>
              <a:rPr lang="en-US" sz="1200" dirty="0">
                <a:solidFill>
                  <a:srgbClr val="9A7A33"/>
                </a:solidFill>
              </a:rPr>
              <a:t>Memberships and AI, Super Admin</a:t>
            </a:r>
            <a:endParaRPr lang="en-US" sz="1200" dirty="0"/>
          </a:p>
        </p:txBody>
      </p:sp>
      <p:sp>
        <p:nvSpPr>
          <p:cNvPr id="9" name="Text 7"/>
          <p:cNvSpPr txBox="1"/>
          <p:nvPr/>
        </p:nvSpPr>
        <p:spPr>
          <a:xfrm>
            <a:off x="1280160" y="2176272"/>
            <a:ext cx="10058400" cy="658368"/>
          </a:xfrm>
          <a:prstGeom prst="rect">
            <a:avLst/>
          </a:prstGeom>
          <a:noFill/>
          <a:ln/>
        </p:spPr>
        <p:txBody>
          <a:bodyPr wrap="square" lIns="0" tIns="0" rIns="0" bIns="0" rtlCol="0" anchor="ctr"/>
          <a:lstStyle/>
          <a:p>
            <a:pPr indent="0" marL="0">
              <a:buNone/>
            </a:pPr>
            <a:r>
              <a:rPr lang="en-US" sz="1400" dirty="0">
                <a:solidFill>
                  <a:srgbClr val="5C4A1E"/>
                </a:solidFill>
              </a:rPr>
              <a:t>Whether questions above a plan's allowance are charged as a dollar amount per question or as token bundles. The price field stays empty until this is decided.</a:t>
            </a:r>
            <a:endParaRPr lang="en-US" sz="1400" dirty="0"/>
          </a:p>
        </p:txBody>
      </p:sp>
      <p:sp>
        <p:nvSpPr>
          <p:cNvPr id="10" name="open1"/>
          <p:cNvSpPr/>
          <p:nvPr/>
        </p:nvSpPr>
        <p:spPr>
          <a:xfrm>
            <a:off x="457200" y="3291840"/>
            <a:ext cx="11274552" cy="1371600"/>
          </a:xfrm>
          <a:prstGeom prst="roundRect">
            <a:avLst>
              <a:gd name="adj" fmla="val 5333"/>
            </a:avLst>
          </a:prstGeom>
          <a:solidFill>
            <a:srgbClr val="FDF6E6"/>
          </a:solidFill>
          <a:ln w="12700">
            <a:solidFill>
              <a:srgbClr val="EBD8A8"/>
            </a:solidFill>
            <a:prstDash val="solid"/>
          </a:ln>
        </p:spPr>
      </p:sp>
      <p:sp>
        <p:nvSpPr>
          <p:cNvPr id="11" name="odot1"/>
          <p:cNvSpPr/>
          <p:nvPr/>
        </p:nvSpPr>
        <p:spPr>
          <a:xfrm>
            <a:off x="777240" y="3547872"/>
            <a:ext cx="347472" cy="347472"/>
          </a:xfrm>
          <a:prstGeom prst="ellipse">
            <a:avLst/>
          </a:prstGeom>
          <a:solidFill>
            <a:srgbClr val="B07D10"/>
          </a:solidFill>
          <a:ln/>
        </p:spPr>
      </p:sp>
      <p:sp>
        <p:nvSpPr>
          <p:cNvPr id="12" name="Text 10"/>
          <p:cNvSpPr txBox="1"/>
          <p:nvPr/>
        </p:nvSpPr>
        <p:spPr>
          <a:xfrm>
            <a:off x="777240" y="3547872"/>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3" name="Text 11"/>
          <p:cNvSpPr txBox="1"/>
          <p:nvPr/>
        </p:nvSpPr>
        <p:spPr>
          <a:xfrm>
            <a:off x="1280160" y="3520440"/>
            <a:ext cx="5486400" cy="292608"/>
          </a:xfrm>
          <a:prstGeom prst="rect">
            <a:avLst/>
          </a:prstGeom>
          <a:noFill/>
          <a:ln/>
        </p:spPr>
        <p:txBody>
          <a:bodyPr wrap="square" lIns="0" tIns="0" rIns="0" bIns="0" rtlCol="0" anchor="ctr"/>
          <a:lstStyle/>
          <a:p>
            <a:pPr indent="0" marL="0">
              <a:buNone/>
            </a:pPr>
            <a:r>
              <a:rPr lang="en-US" sz="1600" b="1" dirty="0">
                <a:solidFill>
                  <a:srgbClr val="6B4D05"/>
                </a:solidFill>
              </a:rPr>
              <a:t>Tax collection and remittance</a:t>
            </a:r>
            <a:endParaRPr lang="en-US" sz="1600" dirty="0"/>
          </a:p>
        </p:txBody>
      </p:sp>
      <p:sp>
        <p:nvSpPr>
          <p:cNvPr id="14" name="Text 12"/>
          <p:cNvSpPr txBox="1"/>
          <p:nvPr/>
        </p:nvSpPr>
        <p:spPr>
          <a:xfrm>
            <a:off x="6858000" y="3520440"/>
            <a:ext cx="4480560" cy="292608"/>
          </a:xfrm>
          <a:prstGeom prst="rect">
            <a:avLst/>
          </a:prstGeom>
          <a:noFill/>
          <a:ln/>
        </p:spPr>
        <p:txBody>
          <a:bodyPr wrap="square" lIns="0" tIns="0" rIns="0" bIns="0" rtlCol="0" anchor="ctr"/>
          <a:lstStyle/>
          <a:p>
            <a:pPr algn="r" indent="0" marL="0">
              <a:buNone/>
            </a:pPr>
            <a:r>
              <a:rPr lang="en-US" sz="1200" dirty="0">
                <a:solidFill>
                  <a:srgbClr val="9A7A33"/>
                </a:solidFill>
              </a:rPr>
              <a:t>Reports, Super Admin</a:t>
            </a:r>
            <a:endParaRPr lang="en-US" sz="1200" dirty="0"/>
          </a:p>
        </p:txBody>
      </p:sp>
      <p:sp>
        <p:nvSpPr>
          <p:cNvPr id="15" name="Text 13"/>
          <p:cNvSpPr txBox="1"/>
          <p:nvPr/>
        </p:nvSpPr>
        <p:spPr>
          <a:xfrm>
            <a:off x="1280160" y="3867912"/>
            <a:ext cx="10058400" cy="658368"/>
          </a:xfrm>
          <a:prstGeom prst="rect">
            <a:avLst/>
          </a:prstGeom>
          <a:noFill/>
          <a:ln/>
        </p:spPr>
        <p:txBody>
          <a:bodyPr wrap="square" lIns="0" tIns="0" rIns="0" bIns="0" rtlCol="0" anchor="ctr"/>
          <a:lstStyle/>
          <a:p>
            <a:pPr indent="0" marL="0">
              <a:buNone/>
            </a:pPr>
            <a:r>
              <a:rPr lang="en-US" sz="1400" dirty="0">
                <a:solidFill>
                  <a:srgbClr val="5C4A1E"/>
                </a:solidFill>
              </a:rPr>
              <a:t>Tax is shown per state today. Collection and remittance move to a third-party tax layer and the vendor has not been chosen yet.</a:t>
            </a:r>
            <a:endParaRPr lang="en-US" sz="1400" dirty="0"/>
          </a:p>
        </p:txBody>
      </p:sp>
      <p:sp>
        <p:nvSpPr>
          <p:cNvPr id="16" name="note"/>
          <p:cNvSpPr/>
          <p:nvPr/>
        </p:nvSpPr>
        <p:spPr>
          <a:xfrm>
            <a:off x="457200" y="5010912"/>
            <a:ext cx="11274552" cy="1097280"/>
          </a:xfrm>
          <a:prstGeom prst="roundRect">
            <a:avLst>
              <a:gd name="adj" fmla="val 6667"/>
            </a:avLst>
          </a:prstGeom>
          <a:solidFill>
            <a:srgbClr val="F4F8F8"/>
          </a:solidFill>
          <a:ln w="12700">
            <a:solidFill>
              <a:srgbClr val="DCE8E8"/>
            </a:solidFill>
            <a:prstDash val="solid"/>
          </a:ln>
        </p:spPr>
      </p:sp>
      <p:sp>
        <p:nvSpPr>
          <p:cNvPr id="17" name="Text 15"/>
          <p:cNvSpPr txBox="1"/>
          <p:nvPr/>
        </p:nvSpPr>
        <p:spPr>
          <a:xfrm>
            <a:off x="822960" y="5193792"/>
            <a:ext cx="5486400" cy="274320"/>
          </a:xfrm>
          <a:prstGeom prst="rect">
            <a:avLst/>
          </a:prstGeom>
          <a:noFill/>
          <a:ln/>
        </p:spPr>
        <p:txBody>
          <a:bodyPr wrap="square" lIns="0" tIns="0" rIns="0" bIns="0" rtlCol="0" anchor="ctr"/>
          <a:lstStyle/>
          <a:p>
            <a:pPr indent="0" marL="0">
              <a:buNone/>
            </a:pPr>
            <a:r>
              <a:rPr lang="en-US" sz="1400" b="1" dirty="0">
                <a:solidFill>
                  <a:srgbClr val="0E7C86"/>
                </a:solidFill>
              </a:rPr>
              <a:t>A note on the screens</a:t>
            </a:r>
            <a:endParaRPr lang="en-US" sz="1400" dirty="0"/>
          </a:p>
        </p:txBody>
      </p:sp>
      <p:sp>
        <p:nvSpPr>
          <p:cNvPr id="18" name="Text 16"/>
          <p:cNvSpPr txBox="1"/>
          <p:nvPr/>
        </p:nvSpPr>
        <p:spPr>
          <a:xfrm>
            <a:off x="822960" y="5486400"/>
            <a:ext cx="10515600" cy="411480"/>
          </a:xfrm>
          <a:prstGeom prst="rect">
            <a:avLst/>
          </a:prstGeom>
          <a:noFill/>
          <a:ln/>
        </p:spPr>
        <p:txBody>
          <a:bodyPr wrap="square" lIns="0" tIns="0" rIns="0" bIns="0" rtlCol="0" anchor="ctr"/>
          <a:lstStyle/>
          <a:p>
            <a:pPr indent="0" marL="0">
              <a:buNone/>
            </a:pPr>
            <a:r>
              <a:rPr lang="en-US" sz="1400" dirty="0">
                <a:solidFill>
                  <a:srgbClr val="234A51"/>
                </a:solidFill>
              </a:rPr>
              <a:t>These are prototype screens with sample figures, built to agree the billing behaviour before development. Nothing here is live data.</a:t>
            </a:r>
            <a:endParaRPr lang="en-US" sz="1400" dirty="0"/>
          </a:p>
        </p:txBody>
      </p:sp>
      <p:sp>
        <p:nvSpPr>
          <p:cNvPr id="25" name="Slide Number Placeholder 0"/>
          <p:cNvSpPr>
            <a:spLocks noGrp="1"/>
          </p:cNvSpPr>
          <p:nvPr>
            <p:ph type="sldNum" sz="quarter" idx="4294967295"/>
          </p:nvPr>
        </p:nvSpPr>
        <p:spPr>
          <a:xfrm>
            <a:off x="11064240" y="6400800"/>
            <a:ext cx="66751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86A70"/>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Inlay Billing">
  <a:themeElements>
    <a:clrScheme name="Inlay Billing">
      <a:dk1>
        <a:srgbClr val="0B2A31"/>
      </a:dk1>
      <a:lt1>
        <a:srgbClr val="FFFFFF"/>
      </a:lt1>
      <a:dk2>
        <a:srgbClr val="10343C"/>
      </a:dk2>
      <a:lt2>
        <a:srgbClr val="EEF4F4"/>
      </a:lt2>
      <a:accent1>
        <a:srgbClr val="0E7C86"/>
      </a:accent1>
      <a:accent2>
        <a:srgbClr val="1FA1A8"/>
      </a:accent2>
      <a:accent3>
        <a:srgbClr val="6B4E9E"/>
      </a:accent3>
      <a:accent4>
        <a:srgbClr val="B07D10"/>
      </a:accent4>
      <a:accent5>
        <a:srgbClr val="2E7D56"/>
      </a:accent5>
      <a:accent6>
        <a:srgbClr val="B3261E"/>
      </a:accent6>
      <a:hlink>
        <a:srgbClr val="0E7C86"/>
      </a:hlink>
      <a:folHlink>
        <a:srgbClr val="6B4E9E"/>
      </a:folHlink>
    </a:clrScheme>
    <a:fontScheme name="Inlay Bill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Thinkitive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Inlay Health - Billing Screens</dc:title>
  <dc:subject>PptxGenJS Presentation</dc:subject>
  <dc:creator>Thinkitive Technologies</dc:creator>
  <cp:lastModifiedBy>Thinkitive Technologies</cp:lastModifiedBy>
  <cp:revision>1</cp:revision>
  <dcterms:created xsi:type="dcterms:W3CDTF">2026-10-29T13:31:08Z</dcterms:created>
  <dcterms:modified xsi:type="dcterms:W3CDTF">2026-10-29T13:31:08Z</dcterms:modified>
</cp:coreProperties>
</file>