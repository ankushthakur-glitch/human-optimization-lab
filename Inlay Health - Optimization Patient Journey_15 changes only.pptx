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91056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75104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6" name="Image 0" descr="/private/tmp/claude-501/-Users-thinkitive-Human-Optimization-Lab/b3beee61-c53d-4363-9ecf-97276e8dbff6/scratchpad/deck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13232"/>
            <a:ext cx="214884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1783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PROGRAM  ·  VERSION 15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21031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After 16 Oct</a:t>
            </a:r>
            <a:endParaRPr lang="en-US" sz="4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127248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screen that is new or changed in the patient app after the 16 Oct review with Dr. Blanchard.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4251960"/>
            <a:ext cx="4023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15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Onboarding</a:t>
            </a:r>
            <a:endParaRPr lang="en-US" sz="11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15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Free Plan &amp; Upgrade</a:t>
            </a:r>
            <a:endParaRPr lang="en-US" sz="1150" dirty="0"/>
          </a:p>
        </p:txBody>
      </p:sp>
      <p:pic>
        <p:nvPicPr>
          <p:cNvPr id="11" name="Image 1" descr="/private/tmp/claude-501/-Users-thinkitive-Human-Optimization-Lab/b3beee61-c53d-4363-9ecf-97276e8dbff6/scratchpad/deck/shots/10-sync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3611880"/>
            <a:ext cx="310896" cy="672811"/>
          </a:xfrm>
          <a:prstGeom prst="rect">
            <a:avLst/>
          </a:prstGeom>
        </p:spPr>
      </p:pic>
      <p:pic>
        <p:nvPicPr>
          <p:cNvPr id="12" name="Image 2" descr="/private/tmp/claude-501/-Users-thinkitive-Human-Optimization-Lab/b3beee61-c53d-4363-9ecf-97276e8dbff6/scratchpad/deck/shots/11-work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416" y="3611880"/>
            <a:ext cx="310896" cy="672811"/>
          </a:xfrm>
          <a:prstGeom prst="rect">
            <a:avLst/>
          </a:prstGeom>
        </p:spPr>
      </p:pic>
      <p:pic>
        <p:nvPicPr>
          <p:cNvPr id="13" name="Image 3" descr="/private/tmp/claude-501/-Users-thinkitive-Human-Optimization-Lab/b3beee61-c53d-4363-9ecf-97276e8dbff6/scratchpad/deck/shots/12-new-medica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4" y="3611880"/>
            <a:ext cx="310896" cy="672811"/>
          </a:xfrm>
          <a:prstGeom prst="rect">
            <a:avLst/>
          </a:prstGeom>
        </p:spPr>
      </p:pic>
      <p:pic>
        <p:nvPicPr>
          <p:cNvPr id="14" name="Image 4" descr="/private/tmp/claude-501/-Users-thinkitive-Human-Optimization-Lab/b3beee61-c53d-4363-9ecf-97276e8dbff6/scratchpad/deck/shots/13-trend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3611880"/>
            <a:ext cx="310896" cy="672811"/>
          </a:xfrm>
          <a:prstGeom prst="rect">
            <a:avLst/>
          </a:prstGeom>
        </p:spPr>
      </p:pic>
      <p:pic>
        <p:nvPicPr>
          <p:cNvPr id="15" name="Image 5" descr="/private/tmp/claude-501/-Users-thinkitive-Human-Optimization-Lab/b3beee61-c53d-4363-9ecf-97276e8dbff6/scratchpad/deck/shots/14-bio-a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3611880"/>
            <a:ext cx="310896" cy="672811"/>
          </a:xfrm>
          <a:prstGeom prst="rect">
            <a:avLst/>
          </a:prstGeom>
        </p:spPr>
      </p:pic>
      <p:pic>
        <p:nvPicPr>
          <p:cNvPr id="16" name="Image 6" descr="/private/tmp/claude-501/-Users-thinkitive-Human-Optimization-Lab/b3beee61-c53d-4363-9ecf-97276e8dbff6/scratchpad/deck/shots/15-drivin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0608" y="3611880"/>
            <a:ext cx="310896" cy="672811"/>
          </a:xfrm>
          <a:prstGeom prst="rect">
            <a:avLst/>
          </a:prstGeom>
        </p:spPr>
      </p:pic>
      <p:pic>
        <p:nvPicPr>
          <p:cNvPr id="17" name="Image 7" descr="/private/tmp/claude-501/-Users-thinkitive-Human-Optimization-Lab/b3beee61-c53d-4363-9ecf-97276e8dbff6/scratchpad/deck/shots/16-nex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4656" y="3611880"/>
            <a:ext cx="310896" cy="672811"/>
          </a:xfrm>
          <a:prstGeom prst="rect">
            <a:avLst/>
          </a:prstGeom>
        </p:spPr>
      </p:pic>
      <p:pic>
        <p:nvPicPr>
          <p:cNvPr id="18" name="Image 8" descr="/private/tmp/claude-501/-Users-thinkitive-Human-Optimization-Lab/b3beee61-c53d-4363-9ecf-97276e8dbff6/scratchpad/deck/shots2/42-upgrade-tab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8704" y="3611880"/>
            <a:ext cx="310896" cy="672811"/>
          </a:xfrm>
          <a:prstGeom prst="rect">
            <a:avLst/>
          </a:prstGeom>
        </p:spPr>
      </p:pic>
      <p:pic>
        <p:nvPicPr>
          <p:cNvPr id="19" name="Image 9" descr="/private/tmp/claude-501/-Users-thinkitive-Human-Optimization-Lab/b3beee61-c53d-4363-9ecf-97276e8dbff6/scratchpad/deck/s3/20-goals-pick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2752" y="3611880"/>
            <a:ext cx="310896" cy="672811"/>
          </a:xfrm>
          <a:prstGeom prst="rect">
            <a:avLst/>
          </a:prstGeom>
        </p:spPr>
      </p:pic>
      <p:pic>
        <p:nvPicPr>
          <p:cNvPr id="20" name="Image 10" descr="/private/tmp/claude-501/-Users-thinkitive-Human-Optimization-Lab/b3beee61-c53d-4363-9ecf-97276e8dbff6/scratchpad/deck/s3/21-goal-plan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86800" y="3611880"/>
            <a:ext cx="310896" cy="672811"/>
          </a:xfrm>
          <a:prstGeom prst="rect">
            <a:avLst/>
          </a:prstGeom>
        </p:spPr>
      </p:pic>
      <p:pic>
        <p:nvPicPr>
          <p:cNvPr id="21" name="Image 11" descr="/private/tmp/claude-501/-Users-thinkitive-Human-Optimization-Lab/b3beee61-c53d-4363-9ecf-97276e8dbff6/scratchpad/deck/s3/26-enrollmen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30368" y="4361688"/>
            <a:ext cx="310896" cy="672811"/>
          </a:xfrm>
          <a:prstGeom prst="rect">
            <a:avLst/>
          </a:prstGeom>
        </p:spPr>
      </p:pic>
      <p:pic>
        <p:nvPicPr>
          <p:cNvPr id="22" name="Image 12" descr="/private/tmp/claude-501/-Users-thinkitive-Human-Optimization-Lab/b3beee61-c53d-4363-9ecf-97276e8dbff6/scratchpad/deck/s3/29-payment-hsa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14416" y="4361688"/>
            <a:ext cx="310896" cy="672811"/>
          </a:xfrm>
          <a:prstGeom prst="rect">
            <a:avLst/>
          </a:prstGeom>
        </p:spPr>
      </p:pic>
      <p:pic>
        <p:nvPicPr>
          <p:cNvPr id="23" name="Image 13" descr="/private/tmp/claude-501/-Users-thinkitive-Human-Optimization-Lab/b3beee61-c53d-4363-9ecf-97276e8dbff6/scratchpad/deck/s7/33-paid-popup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98464" y="4361688"/>
            <a:ext cx="310896" cy="672811"/>
          </a:xfrm>
          <a:prstGeom prst="rect">
            <a:avLst/>
          </a:prstGeom>
        </p:spPr>
      </p:pic>
      <p:pic>
        <p:nvPicPr>
          <p:cNvPr id="24" name="Image 14" descr="/private/tmp/claude-501/-Users-thinkitive-Human-Optimization-Lab/b3beee61-c53d-4363-9ecf-97276e8dbff6/scratchpad/deck/s7/34-enroll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82512" y="4361688"/>
            <a:ext cx="310896" cy="672811"/>
          </a:xfrm>
          <a:prstGeom prst="rect">
            <a:avLst/>
          </a:prstGeom>
        </p:spPr>
      </p:pic>
      <p:pic>
        <p:nvPicPr>
          <p:cNvPr id="25" name="Image 15" descr="/private/tmp/claude-501/-Users-thinkitive-Human-Optimization-Lab/b3beee61-c53d-4363-9ecf-97276e8dbff6/scratchpad/deck/s7/39-schedule-confirm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66560" y="4361688"/>
            <a:ext cx="310896" cy="672811"/>
          </a:xfrm>
          <a:prstGeom prst="rect">
            <a:avLst/>
          </a:prstGeom>
        </p:spPr>
      </p:pic>
      <p:pic>
        <p:nvPicPr>
          <p:cNvPr id="26" name="Image 16" descr="/private/tmp/claude-501/-Users-thinkitive-Human-Optimization-Lab/b3beee61-c53d-4363-9ecf-97276e8dbff6/scratchpad/deck/s7/40-health-profil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50608" y="4361688"/>
            <a:ext cx="310896" cy="672811"/>
          </a:xfrm>
          <a:prstGeom prst="rect">
            <a:avLst/>
          </a:prstGeom>
        </p:spPr>
      </p:pic>
      <p:pic>
        <p:nvPicPr>
          <p:cNvPr id="27" name="Image 17" descr="/private/tmp/claude-501/-Users-thinkitive-Human-Optimization-Lab/b3beee61-c53d-4363-9ecf-97276e8dbff6/scratchpad/deck/shots/42-flourishing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34656" y="4361688"/>
            <a:ext cx="310896" cy="672811"/>
          </a:xfrm>
          <a:prstGeom prst="rect">
            <a:avLst/>
          </a:prstGeom>
        </p:spPr>
      </p:pic>
      <p:pic>
        <p:nvPicPr>
          <p:cNvPr id="28" name="Image 18" descr="/private/tmp/claude-501/-Users-thinkitive-Human-Optimization-Lab/b3beee61-c53d-4363-9ecf-97276e8dbff6/scratchpad/deck/shots/45-flourishing-q01-pick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18704" y="4361688"/>
            <a:ext cx="310896" cy="672811"/>
          </a:xfrm>
          <a:prstGeom prst="rect">
            <a:avLst/>
          </a:prstGeom>
        </p:spPr>
      </p:pic>
      <p:pic>
        <p:nvPicPr>
          <p:cNvPr id="29" name="Image 19" descr="/private/tmp/claude-501/-Users-thinkitive-Human-Optimization-Lab/b3beee61-c53d-4363-9ecf-97276e8dbff6/scratchpad/deck/shots/49-flourishing-result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02752" y="4361688"/>
            <a:ext cx="310896" cy="672811"/>
          </a:xfrm>
          <a:prstGeom prst="rect">
            <a:avLst/>
          </a:prstGeom>
        </p:spPr>
      </p:pic>
      <p:sp>
        <p:nvSpPr>
          <p:cNvPr id="30" name="Text 8"/>
          <p:cNvSpPr txBox="1"/>
          <p:nvPr/>
        </p:nvSpPr>
        <p:spPr>
          <a:xfrm>
            <a:off x="5230368" y="55595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screens  ·  10 new  ·  8 changed  ·  1 moved  ·  1 removed</a:t>
            </a:r>
            <a:endParaRPr lang="en-US" sz="900" dirty="0"/>
          </a:p>
        </p:txBody>
      </p:sp>
      <p:sp>
        <p:nvSpPr>
          <p:cNvPr id="31" name="Shape 9"/>
          <p:cNvSpPr/>
          <p:nvPr/>
        </p:nvSpPr>
        <p:spPr>
          <a:xfrm>
            <a:off x="822960" y="5943600"/>
            <a:ext cx="10543032" cy="0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2" name="Text 10"/>
          <p:cNvSpPr txBox="1"/>
          <p:nvPr/>
        </p:nvSpPr>
        <p:spPr>
          <a:xfrm>
            <a:off x="822960" y="6053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discussion draft  ·  19 October 2026</a:t>
            </a:r>
            <a:endParaRPr lang="en-US" sz="950" dirty="0"/>
          </a:p>
        </p:txBody>
      </p:sp>
      <p:sp>
        <p:nvSpPr>
          <p:cNvPr id="33" name="Text 11"/>
          <p:cNvSpPr txBox="1"/>
          <p:nvPr/>
        </p:nvSpPr>
        <p:spPr>
          <a:xfrm>
            <a:off x="5852160" y="6053328"/>
            <a:ext cx="5513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captured from the current local build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since version 14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5727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record now shows its value before the upgrade, goals feed the plan picks, HSA or FSA pays, and a flourishing intro, questions and result follow payment.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77240" y="2194560"/>
            <a:ext cx="2452878" cy="3886200"/>
          </a:xfrm>
          <a:prstGeom prst="roundRect">
            <a:avLst>
              <a:gd name="adj" fmla="val 3728"/>
            </a:avLst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60120" y="235915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23591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2498598" y="2286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2816352"/>
            <a:ext cx="208711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 Appointments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Medication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Trending the Wrong Way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Biological Age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Driving It?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Updated Your Plans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Complete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5.10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You Flourishing?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5.11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Flourishing Question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5.12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Flourishing Result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504438" y="2194560"/>
            <a:ext cx="2452878" cy="3886200"/>
          </a:xfrm>
          <a:prstGeom prst="roundRect">
            <a:avLst>
              <a:gd name="adj" fmla="val 3728"/>
            </a:avLst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87318" y="235915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BE9D4"/>
          </a:solidFill>
          <a:ln w="12700">
            <a:solidFill>
              <a:srgbClr val="FBE9D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87318" y="23591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5225796" y="2286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3687318" y="2816352"/>
            <a:ext cx="208711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Record Is Ready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Like to Improve?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Your Enrollment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Method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Enrolled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Tests Are Scheduled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Us About You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231636" y="2194560"/>
            <a:ext cx="2452878" cy="3886200"/>
          </a:xfrm>
          <a:prstGeom prst="roundRect">
            <a:avLst>
              <a:gd name="adj" fmla="val 3728"/>
            </a:avLst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14516" y="235915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E8E3D8"/>
          </a:solidFill>
          <a:ln w="12700">
            <a:solidFill>
              <a:srgbClr val="E8E3D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14516" y="23591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Moved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7952994" y="2286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14516" y="2816352"/>
            <a:ext cx="208711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Welcome, Liv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958834" y="2194560"/>
            <a:ext cx="2452878" cy="3886200"/>
          </a:xfrm>
          <a:prstGeom prst="roundRect">
            <a:avLst>
              <a:gd name="adj" fmla="val 3728"/>
            </a:avLst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141714" y="235915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6E0DD"/>
          </a:solidFill>
          <a:ln w="12700">
            <a:solidFill>
              <a:srgbClr val="F6E0D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41714" y="23591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4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0680192" y="2286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9141714" y="2816352"/>
            <a:ext cx="208711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v14 30 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Plan Is Being Reviewed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  ·  CHANGES AFTER 16 OCT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2340864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822192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record is built, a five screen tour shows its value first (appointments, new medication), then the trends, biological age and what drives it, and ends on the 3 of 81 plan match.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3.1 to 3.7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3514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8" name="Image 0" descr="/private/tmp/claude-501/-Users-thinkitive-Human-Optimization-Lab/b3beee61-c53d-4363-9ecf-97276e8dbff6/scratchpad/deck/shots/10-sync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896112"/>
            <a:ext cx="685800" cy="14841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65810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1" name="Image 1" descr="/private/tmp/claude-501/-Users-thinkitive-Human-Optimization-Lab/b3beee61-c53d-4363-9ecf-97276e8dbff6/scratchpad/deck/shots/11-work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896112"/>
            <a:ext cx="685800" cy="14841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8096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848106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4" name="Image 2" descr="/private/tmp/claude-501/-Users-thinkitive-Human-Optimization-Lab/b3beee61-c53d-4363-9ecf-97276e8dbff6/scratchpad/deck/shots/12-new-medica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896112"/>
            <a:ext cx="685800" cy="14841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50392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930402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7" name="Image 3" descr="/private/tmp/claude-501/-Users-thinkitive-Human-Optimization-Lab/b3beee61-c53d-4363-9ecf-97276e8dbff6/scratchpad/deck/shots/13-trend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896112"/>
            <a:ext cx="685800" cy="148414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32688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1012698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0" name="Image 4" descr="/private/tmp/claude-501/-Users-thinkitive-Human-Optimization-Lab/b3beee61-c53d-4363-9ecf-97276e8dbff6/scratchpad/deck/shots/14-bio-a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0" y="896112"/>
            <a:ext cx="685800" cy="148414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14984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800" dirty="0"/>
          </a:p>
        </p:txBody>
      </p:sp>
      <p:sp>
        <p:nvSpPr>
          <p:cNvPr id="22" name="Shape 15"/>
          <p:cNvSpPr/>
          <p:nvPr/>
        </p:nvSpPr>
        <p:spPr>
          <a:xfrm>
            <a:off x="6835140" y="2631714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3" name="Image 5" descr="/private/tmp/claude-501/-Users-thinkitive-Human-Optimization-Lab/b3beee61-c53d-4363-9ecf-97276e8dbff6/scratchpad/deck/shots/15-driv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2654574"/>
            <a:ext cx="685800" cy="148414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858000" y="4175291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800" dirty="0"/>
          </a:p>
        </p:txBody>
      </p:sp>
      <p:sp>
        <p:nvSpPr>
          <p:cNvPr id="25" name="Shape 17"/>
          <p:cNvSpPr/>
          <p:nvPr/>
        </p:nvSpPr>
        <p:spPr>
          <a:xfrm>
            <a:off x="7658100" y="2631714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6" name="Image 6" descr="/private/tmp/claude-501/-Users-thinkitive-Human-Optimization-Lab/b3beee61-c53d-4363-9ecf-97276e8dbff6/scratchpad/deck/shots/16-nex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2654574"/>
            <a:ext cx="685800" cy="1484142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680960" y="4175291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·  ONBOARDING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9D4"/>
          </a:solidFill>
          <a:ln w="12700">
            <a:solidFill>
              <a:srgbClr val="FBE9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Record Is Ready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 records, then the tour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finished record is summarised as before, but the button no longer jumps to the dashboard. It opens a short tour of what the record already does for the patient.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 records from 3 providers: lab results, vitals, visits and everything else, each with its share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what my record does replaces Go to my dashboard and opens Upcoming appointments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as a step, so a patient who closes the app comes back to the tour, not a rebuild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Ends in the record tour, not the dashboard: 16 Oct, show what the record does before anything else (v14 screen 12)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b3beee61-c53d-4363-9ecf-97276e8dbff6/scratchpad/deck/shots/10-sync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  ·  CHANGES AFTER 16 OCT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3.1 OF 19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·  ONBOARDING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 Appointments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already booked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thing the record shows is what is already on the calendar: lab draws and visits together, by month, read from the patient's own record.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October: cardiology follow up Wed 21 with Pacific Heart, A1c and lipid panel Wed 28 at Quest Diagnostics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November: thyroid panel and vitamin D at Labcorp, then a metabolic panel and blood count at Quest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8: record review by Dr. Patel at Harborview Longevity Clinic; a mark says lab test or visit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New: 16 Oct, record value comes first, starting with upcoming appointments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b3beee61-c53d-4363-9ecf-97276e8dbff6/scratchpad/deck/shots/11-work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  ·  CHANGES AFTER 16 OCT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3.2 OF 19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·  ONBOARDING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Medication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list, in one place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medicines each provider's list brought into the record, grouped by where they came from. Where two lists disagree, an amber mark says so for the doctor to settle.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your doctor: atorvastatin 20 mg, cetirizine, metformin 500 mg twice a day, fluticasone nasal spray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Scripps Memorial: lisinopril 10 mg and amlodipine 5 mg, now visible to Dr. Patel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Atorvastatin is marked Doses differ: 20 mg on the doctor's list, 10 mg on the hospital's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New: 16 Oct, record value first, new medication second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b3beee61-c53d-4363-9ecf-97276e8dbff6/scratchpad/deck/shots/12-new-medic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  ·  CHANGES AFTER 16 OCT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3.3 OF 19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·  ONBOARDING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Trending the Wrong Way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results moving away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value, the hard part: the results from the last 12 months that are moving away from the patient's range, each as a trend tile with its last readings.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LDL 162, up from 150, and triglycerides 188, up from 172, both from Quest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pressure 134/86, up from 131/84, and BMI 32.4, up from 31.1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what the record says, nothing about plans or prices; See my biological age moves on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Moved into onboarding: 16 Oct order puts trends right after the record's value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b3beee61-c53d-4363-9ecf-97276e8dbff6/scratchpad/deck/shots/13-tren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  ·  CHANGES AFTER 16 OCT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3.4 OF 19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·  ONBOARDING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Biological Age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53, against a calendar age of 45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number on one age line: the biological age counts up from the calendar age, and the patient can drag along the line to compare any age with their own.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from your own results: 53, eight years above a calendar age of 45 from the clinic's birth date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hollow dot for you, a solid one for your body, the gap between them shaded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estimate is a labelled sample until the biological age model is approved; calendar age is real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New: 16 Oct, biological age follows the trends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b3beee61-c53d-4363-9ecf-97276e8dbff6/scratchpad/deck/shots/14-bio-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  ·  CHANGES AFTER 16 OCT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3.5 OF 19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·  ONBOARDING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Driving It?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results behind the number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results are pushing your biological age above your real age. Each one is a result in the record that is out of range or moving the wrong way.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BMI 32.4 leads, taken from the record, measured at the August visit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LDL 162 and triglycerides 188, each with its status and trend, the same rows as the Record tab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years per result until the model can weigh them; See plans that can help ends setup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New: 16 Oct, puts the numbers in longevity terms, with BMI from the record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b3beee61-c53d-4363-9ecf-97276e8dbff6/scratchpad/deck/shots/15-driv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  ·  CHANGES AFTER 16 OCT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3.6 OF 19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·  ONBOARDING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8E3D8"/>
          </a:solidFill>
          <a:ln w="12700">
            <a:solidFill>
              <a:srgbClr val="E8E3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Moved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Welcome, Liv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of 81 plans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match now ends onboarding: setup finishes, Home opens, and the upgrade page slides over it, so back lands on Home.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record points to three of our 81 plans, one line instead of the AI plan match card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Lipid and cardiovascular (LDL 162, up 34), triglyceride and insulin (188, up 38), metabolic (BMI 32.4)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all 81 plans, then Build my personalized plan, or Do it later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Moved: 16 Oct, the 3 of 81 match follows What is driving it, before the dashboard (v14 screen 20)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b3beee61-c53d-4363-9ecf-97276e8dbff6/scratchpad/deck/shots/16-n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  ·  CHANGES AFTER 16 OCT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3.7 OF 19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2340864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Plan &amp; Upgrade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822192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feed the plan picks and the patient can add any of the 81, HSA or FSA pays with an itemized receipt, there is no approval hold, and a short video opens the flourishing questions and result.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5.1 to 5.12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3514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8" name="Image 0" descr="/private/tmp/claude-501/-Users-thinkitive-Human-Optimization-Lab/b3beee61-c53d-4363-9ecf-97276e8dbff6/scratchpad/deck/shots2/42-upgrade-t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896112"/>
            <a:ext cx="685800" cy="14841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65810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1" name="Image 1" descr="/private/tmp/claude-501/-Users-thinkitive-Human-Optimization-Lab/b3beee61-c53d-4363-9ecf-97276e8dbff6/scratchpad/deck/s3/20-goals-pick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896112"/>
            <a:ext cx="685800" cy="14841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8096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848106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4" name="Image 2" descr="/private/tmp/claude-501/-Users-thinkitive-Human-Optimization-Lab/b3beee61-c53d-4363-9ecf-97276e8dbff6/scratchpad/deck/s3/21-goal-pla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896112"/>
            <a:ext cx="685800" cy="14841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50392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930402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7" name="Image 3" descr="/private/tmp/claude-501/-Users-thinkitive-Human-Optimization-Lab/b3beee61-c53d-4363-9ecf-97276e8dbff6/scratchpad/deck/s3/26-enrollm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896112"/>
            <a:ext cx="685800" cy="148414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32688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1012698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0" name="Image 4" descr="/private/tmp/claude-501/-Users-thinkitive-Human-Optimization-Lab/b3beee61-c53d-4363-9ecf-97276e8dbff6/scratchpad/deck/s3/29-payment-hs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0" y="896112"/>
            <a:ext cx="685800" cy="148414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14984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</a:t>
            </a:r>
            <a:endParaRPr lang="en-US" sz="800" dirty="0"/>
          </a:p>
        </p:txBody>
      </p:sp>
      <p:sp>
        <p:nvSpPr>
          <p:cNvPr id="22" name="Shape 15"/>
          <p:cNvSpPr/>
          <p:nvPr/>
        </p:nvSpPr>
        <p:spPr>
          <a:xfrm>
            <a:off x="10949940" y="873252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3" name="Image 5" descr="/private/tmp/claude-501/-Users-thinkitive-Human-Optimization-Lab/b3beee61-c53d-4363-9ecf-97276e8dbff6/scratchpad/deck/s7/33-paid-popu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0" y="896112"/>
            <a:ext cx="685800" cy="148414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0972800" y="241683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</a:t>
            </a:r>
            <a:endParaRPr lang="en-US" sz="800" dirty="0"/>
          </a:p>
        </p:txBody>
      </p:sp>
      <p:sp>
        <p:nvSpPr>
          <p:cNvPr id="25" name="Shape 17"/>
          <p:cNvSpPr/>
          <p:nvPr/>
        </p:nvSpPr>
        <p:spPr>
          <a:xfrm>
            <a:off x="6835140" y="2631714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6" name="Image 6" descr="/private/tmp/claude-501/-Users-thinkitive-Human-Optimization-Lab/b3beee61-c53d-4363-9ecf-97276e8dbff6/scratchpad/deck/s7/34-enroll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2654574"/>
            <a:ext cx="685800" cy="1484142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858000" y="4175291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</a:t>
            </a:r>
            <a:endParaRPr lang="en-US" sz="800" dirty="0"/>
          </a:p>
        </p:txBody>
      </p:sp>
      <p:sp>
        <p:nvSpPr>
          <p:cNvPr id="28" name="Shape 19"/>
          <p:cNvSpPr/>
          <p:nvPr/>
        </p:nvSpPr>
        <p:spPr>
          <a:xfrm>
            <a:off x="7658100" y="2631714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9" name="Image 7" descr="/private/tmp/claude-501/-Users-thinkitive-Human-Optimization-Lab/b3beee61-c53d-4363-9ecf-97276e8dbff6/scratchpad/deck/s7/39-schedule-confirm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960" y="2654574"/>
            <a:ext cx="685800" cy="1484142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7680960" y="4175291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</a:t>
            </a:r>
            <a:endParaRPr lang="en-US" sz="800" dirty="0"/>
          </a:p>
        </p:txBody>
      </p:sp>
      <p:sp>
        <p:nvSpPr>
          <p:cNvPr id="31" name="Shape 21"/>
          <p:cNvSpPr/>
          <p:nvPr/>
        </p:nvSpPr>
        <p:spPr>
          <a:xfrm>
            <a:off x="8481060" y="2631714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32" name="Image 8" descr="/private/tmp/claude-501/-Users-thinkitive-Human-Optimization-Lab/b3beee61-c53d-4363-9ecf-97276e8dbff6/scratchpad/deck/s7/40-health-profi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3920" y="2654574"/>
            <a:ext cx="685800" cy="1484142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8503920" y="4175291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</a:t>
            </a:r>
            <a:endParaRPr lang="en-US" sz="800" dirty="0"/>
          </a:p>
        </p:txBody>
      </p:sp>
      <p:sp>
        <p:nvSpPr>
          <p:cNvPr id="34" name="Shape 23"/>
          <p:cNvSpPr/>
          <p:nvPr/>
        </p:nvSpPr>
        <p:spPr>
          <a:xfrm>
            <a:off x="9304020" y="2631714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35" name="Image 9" descr="/private/tmp/claude-501/-Users-thinkitive-Human-Optimization-Lab/b3beee61-c53d-4363-9ecf-97276e8dbff6/scratchpad/deck/shots/42-flourishing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6880" y="2654574"/>
            <a:ext cx="685800" cy="1484142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9326880" y="4175291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5.10</a:t>
            </a:r>
            <a:endParaRPr lang="en-US" sz="800" dirty="0"/>
          </a:p>
        </p:txBody>
      </p:sp>
      <p:sp>
        <p:nvSpPr>
          <p:cNvPr id="37" name="Shape 25"/>
          <p:cNvSpPr/>
          <p:nvPr/>
        </p:nvSpPr>
        <p:spPr>
          <a:xfrm>
            <a:off x="10126980" y="2631714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38" name="Image 10" descr="/private/tmp/claude-501/-Users-thinkitive-Human-Optimization-Lab/b3beee61-c53d-4363-9ecf-97276e8dbff6/scratchpad/deck/shots/45-flourishing-q01-pick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49840" y="2654574"/>
            <a:ext cx="685800" cy="1484142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10149840" y="4175291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5.11</a:t>
            </a:r>
            <a:endParaRPr lang="en-US" sz="800" dirty="0"/>
          </a:p>
        </p:txBody>
      </p:sp>
      <p:sp>
        <p:nvSpPr>
          <p:cNvPr id="40" name="Shape 27"/>
          <p:cNvSpPr/>
          <p:nvPr/>
        </p:nvSpPr>
        <p:spPr>
          <a:xfrm>
            <a:off x="10949940" y="2631714"/>
            <a:ext cx="731520" cy="1529862"/>
          </a:xfrm>
          <a:prstGeom prst="roundRect">
            <a:avLst>
              <a:gd name="adj" fmla="val 75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41" name="Image 11" descr="/private/tmp/claude-501/-Users-thinkitive-Human-Optimization-Lab/b3beee61-c53d-4363-9ecf-97276e8dbff6/scratchpad/deck/shots/49-flourishing-resul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72800" y="2654574"/>
            <a:ext cx="685800" cy="1484142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10972800" y="4175291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9D4"/>
          </a:solidFill>
          <a:ln w="12700">
            <a:solidFill>
              <a:srgbClr val="FBE9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welcome, any time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Upgrade tab repeats the welcome the patient saw at the end of onboarding: the AI plan match, the three plans and one way forward.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plan match: 81 plans on file, 3 your record supports, each with the number behind it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 78 are not a fit for your record today, with See all 81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physician note is gone; Do it later now sits under Build my personalized plan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Repeats the onboarding welcome per 16 Oct; physician note removed, Do it later added (v14 screen 20)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b3beee61-c53d-4363-9ecf-97276e8dbff6/scratchpad/deck/shots2/42-upgrade-t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  ·  CHANGES AFTER 16 OCT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5.1 OF 19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51760" y="2743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576072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9D4"/>
          </a:solidFill>
          <a:ln w="12700">
            <a:solidFill>
              <a:srgbClr val="FBE9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Like to Improve?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own goals, step 1 of 4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are now their own step: nine goals in one list, several can be picked, and the ones the record backs start ticked.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Lose weight, metabolic health, cholesterol and heart, muscle, bone, sleep, energy, fitness and VO₂ max, kidney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Weight, metabolic health and cholesterol start ticked, because the record backs them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777240" y="5230368"/>
            <a:ext cx="4617720" cy="896112"/>
          </a:xfrm>
          <a:prstGeom prst="roundRect">
            <a:avLst>
              <a:gd name="adj" fmla="val 10204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5256" y="5340096"/>
            <a:ext cx="4361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" y="5577840"/>
            <a:ext cx="4361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are a separate step that feeds the plan picks: 16 Oct decision (v14 screen 22)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picked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67628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2" name="Image 1" descr="/private/tmp/claude-501/-Users-thinkitive-Human-Optimization-Lab/b3beee61-c53d-4363-9ecf-97276e8dbff6/scratchpad/deck/s3/20-goals-pick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41832"/>
            <a:ext cx="2386584" cy="5164813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924544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own goal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919972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5" name="Image 2" descr="/private/tmp/claude-501/-Users-thinkitive-Human-Optimization-Lab/b3beee61-c53d-4363-9ecf-97276e8dbff6/scratchpad/deck/s3/19-goals-add-ow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4" y="941832"/>
            <a:ext cx="2386584" cy="5164813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  ·  CHANGES AFTER 16 OCT</a:t>
            </a:r>
            <a:endParaRPr lang="en-US" sz="800" dirty="0"/>
          </a:p>
        </p:txBody>
      </p:sp>
      <p:sp>
        <p:nvSpPr>
          <p:cNvPr id="28" name="Text 23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5.2 OF 19</a:t>
            </a:r>
            <a:endParaRPr lang="en-US" sz="800" dirty="0"/>
          </a:p>
        </p:txBody>
      </p:sp>
      <p:sp>
        <p:nvSpPr>
          <p:cNvPr id="29" name="Text 24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51760" y="2743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576072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Updated Your Plans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goals add a plan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plans the record points to, then what the goals added on top, up to five in all. Each row says where it came from.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Lipid control, insulin sensitivity and metabolic health come first, each tagged Record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your goals, we added two: Run a 10k, and Better sleep with a sleep study to set its starting point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777240" y="5230368"/>
            <a:ext cx="4617720" cy="896112"/>
          </a:xfrm>
          <a:prstGeom prst="roundRect">
            <a:avLst>
              <a:gd name="adj" fmla="val 10204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5256" y="5340096"/>
            <a:ext cx="4361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" y="5577840"/>
            <a:ext cx="4361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New: 16 Oct, goals feed the AI plan picks and the patient can add plans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add two plans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67628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2" name="Image 1" descr="/private/tmp/claude-501/-Users-thinkitive-Human-Optimization-Lab/b3beee61-c53d-4363-9ecf-97276e8dbff6/scratchpad/deck/s3/21-goal-pla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41832"/>
            <a:ext cx="2386584" cy="5164813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924544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plan the patient added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919972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5" name="Image 2" descr="/private/tmp/claude-501/-Users-thinkitive-Human-Optimization-Lab/b3beee61-c53d-4363-9ecf-97276e8dbff6/scratchpad/deck/s3/23-goal-plans-ad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4" y="941832"/>
            <a:ext cx="2386584" cy="5164813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  ·  CHANGES AFTER 16 OCT</a:t>
            </a:r>
            <a:endParaRPr lang="en-US" sz="800" dirty="0"/>
          </a:p>
        </p:txBody>
      </p:sp>
      <p:sp>
        <p:nvSpPr>
          <p:cNvPr id="28" name="Text 23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5.3 OF 19</a:t>
            </a:r>
            <a:endParaRPr lang="en-US" sz="800" dirty="0"/>
          </a:p>
        </p:txBody>
      </p:sp>
      <p:sp>
        <p:nvSpPr>
          <p:cNvPr id="29" name="Text 24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9D4"/>
          </a:solidFill>
          <a:ln w="12700">
            <a:solidFill>
              <a:srgbClr val="FBE9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Your Enrollment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or yearly, step 3 of 4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named from the goals, monthly or yearly billing, and the baseline tests, all priced before payment.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Yearly $1,080, or $100 a month; yearly members get 10% off their tests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tests $467, annual member discount $46.70 off, total due today $1,500.30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note comparing the two ways to pay is gone; the toggle says Save 10% on its own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Simpler: the monthly versus yearly note removed; tests priced before payment per 16 Oct (v14 screen 26)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b3beee61-c53d-4363-9ecf-97276e8dbff6/scratchpad/deck/s3/26-enroll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  ·  CHANGES AFTER 16 OCT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5.4 OF 19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9D4"/>
          </a:solidFill>
          <a:ln w="12700">
            <a:solidFill>
              <a:srgbClr val="FBE9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Method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HSA or FSA, like any card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of 4. An HSA or FSA card is now a way to pay of its own, beside credit card, Apple Pay and Google Pay.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pay, two to a row: Credit card, HSA or FSA, Apple Pay, Google Pay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HSA or FSA takes the same fields as a card, under HSA or FSA card number, secure and encrypted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due today $1,500.30; Complete enrollment stays off until the terms are ticked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HSA or FSA as a way to pay: 16 Oct decision (v14 screen 27)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b3beee61-c53d-4363-9ecf-97276e8dbff6/scratchpad/deck/s3/29-payment-hs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  ·  CHANGES AFTER 16 OCT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5.5 OF 19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Complete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Paid, with a receipt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the payment goes through, a popup confirms it before the enrolled page: the amount, the card and an itemized receipt to keep.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$1,500.30 paid to Inlay Health with the HSA or FSA card ending 4242, today's date and the receipt number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receipt itemizes the membership, each test and the yearly discount, as HSA and FSA administrators ask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opens You're enrolled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New: 16 Oct, an itemized receipt for HSA and FSA claims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b3beee61-c53d-4363-9ecf-97276e8dbff6/scratchpad/deck/s7/33-paid-pop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  ·  CHANGES AFTER 16 OCT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5.6 OF 19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9D4"/>
          </a:solidFill>
          <a:ln w="12700">
            <a:solidFill>
              <a:srgbClr val="FBE9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Enrolled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next, in order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membership has started, and the payment is already confirmed. The screen lists each next step with the physician named.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Enrolled in Inlay today, then Schedule your tests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line No charge until Dr. Patel approves your plan is gone: the patient has paid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my tests, or Schedule later, which keeps the tests in To do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Drops the no charge until approval line: 16 Oct, no physician approval hold (v14 screen 28)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b3beee61-c53d-4363-9ecf-97276e8dbff6/scratchpad/deck/s7/34-enroll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  ·  CHANGES AFTER 16 OCT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5.7 OF 19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9D4"/>
          </a:solidFill>
          <a:ln w="12700">
            <a:solidFill>
              <a:srgbClr val="FBE9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Tests Are Scheduled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Booked, then flourishing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schedule lands here: every test with its day, time and place, and a reminder before each one.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panel at Quest Diagnostics, DEXA at Coastal Imaging, RMR at Harborview Longevity Clinic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move any test from To do; the no charge until approval line is gone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 my care now leads through Tell us about you to the flourishing video and questions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to the new flourishing questions; approval line removed, 16 Oct (v14 screen 29a)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b3beee61-c53d-4363-9ecf-97276e8dbff6/scratchpad/deck/s7/39-schedule-confirm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  ·  CHANGES AFTER 16 OCT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5.8 OF 19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9D4"/>
          </a:solidFill>
          <a:ln w="12700">
            <a:solidFill>
              <a:srgbClr val="FBE9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Us About You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record, then confirmed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profile as the record has it, in three blocks. The patient confirms it, and Confirm now opens Are you flourishing?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information: age 45, weight 213 lb, BMI 32.4, waist 41 in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 edits in a sheet; medical is read from the record, never retyped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opens the flourishing video instead of the assistant's chat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opens the new flourishing intro, per 16 Oct (v14 screen 29b)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b3beee61-c53d-4363-9ecf-97276e8dbff6/scratchpad/deck/s7/40-health-pro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  ·  CHANGES AFTER 16 OCT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5.9 OF 19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51760" y="2743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5.10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576072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You Flourishing?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video from Dr. Patel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first, then what: a 30 second video from Dr. Patel on why flourishing matters, then how the questions work.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health is more than your numbers: the captions play over the video, with play, pause and replay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 watch the video, answer 39 questions, one at a time, about 5 minutes, see your result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777240" y="5230368"/>
            <a:ext cx="4617720" cy="896112"/>
          </a:xfrm>
          <a:prstGeom prst="roundRect">
            <a:avLst>
              <a:gd name="adj" fmla="val 10204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5256" y="5340096"/>
            <a:ext cx="4361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" y="5577840"/>
            <a:ext cx="4361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New: 16 Oct, a flourishing intro with a video under 60 seconds (v14 screen 29c)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video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67628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2" name="Image 1" descr="/private/tmp/claude-501/-Users-thinkitive-Human-Optimization-Lab/b3beee61-c53d-4363-9ecf-97276e8dbff6/scratchpad/deck/shots/42-flourish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41832"/>
            <a:ext cx="2386584" cy="5164813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924544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playing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919972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5" name="Image 2" descr="/private/tmp/claude-501/-Users-thinkitive-Human-Optimization-Lab/b3beee61-c53d-4363-9ecf-97276e8dbff6/scratchpad/deck/shots/43-flourishing-vide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4" y="941832"/>
            <a:ext cx="2386584" cy="5164813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  ·  CHANGES AFTER 16 OCT</a:t>
            </a:r>
            <a:endParaRPr lang="en-US" sz="800" dirty="0"/>
          </a:p>
        </p:txBody>
      </p:sp>
      <p:sp>
        <p:nvSpPr>
          <p:cNvPr id="28" name="Text 23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5.10 OF 19</a:t>
            </a:r>
            <a:endParaRPr lang="en-US" sz="800" dirty="0"/>
          </a:p>
        </p:txBody>
      </p:sp>
      <p:sp>
        <p:nvSpPr>
          <p:cNvPr id="29" name="Text 24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40680" y="27432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5.11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Flourishing Question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17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question, ten buttons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flourishing questions as a questionnaire, not a chat: one question a page, the part of life as a coloured chip, 1 of 39 and a thin bar.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 to 10 scale as ten big buttons, 1 Not at all to 10 Completely; Continue moves on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parts of life in order, from physical health to health confidence, 39 questions in all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04672" y="5294376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42416" y="52120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answer saved as it is made; the one optional question has Prefer not to answer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760720" y="3968496"/>
            <a:ext cx="1783080" cy="1792224"/>
          </a:xfrm>
          <a:prstGeom prst="roundRect">
            <a:avLst>
              <a:gd name="adj" fmla="val 5128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88736" y="4078224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88736" y="4315968"/>
            <a:ext cx="15270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the chat: 16 Oct, mandatory flourishing questions; free text and voice answers still to come (v14 screen 29c)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81644" y="461772"/>
            <a:ext cx="2720340" cy="5770005"/>
          </a:xfrm>
          <a:prstGeom prst="roundRect">
            <a:avLst>
              <a:gd name="adj" fmla="val 5714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3" name="Image 1" descr="/private/tmp/claude-501/-Users-thinkitive-Human-Optimization-Lab/b3beee61-c53d-4363-9ecf-97276e8dbff6/scratchpad/deck/shots/45-flourishing-q01-pick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512064"/>
            <a:ext cx="2619756" cy="5669421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  ·  CHANGES AFTER 16 OCT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5.11 OF 19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51760" y="2743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0" b="1" spc="-200" kern="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5.12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576072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pic>
        <p:nvPicPr>
          <p:cNvPr id="4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9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264408" y="104241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042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4813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Flourishing Result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1773936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score per part of life</a:t>
            </a:r>
            <a:endParaRPr lang="en-US" sz="310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3580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flourishing index out of 10 with one bar, then the strongest and weakest parts of life, then each of the eight parts as its own bar.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04672" y="4050792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42416" y="39684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strength and Room to grow name the highest and lowest parts of life, with their scores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4672584"/>
            <a:ext cx="64008" cy="64008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5902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part of your life: physical health, emotions, relationships, purpose and four more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777240" y="5230368"/>
            <a:ext cx="4617720" cy="896112"/>
          </a:xfrm>
          <a:prstGeom prst="roundRect">
            <a:avLst>
              <a:gd name="adj" fmla="val 10204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5256" y="5340096"/>
            <a:ext cx="4361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" y="5577840"/>
            <a:ext cx="4361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New: 16 Oct, a flourishing result per domain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and extremes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67628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2" name="Image 1" descr="/private/tmp/claude-501/-Users-thinkitive-Human-Optimization-Lab/b3beee61-c53d-4363-9ecf-97276e8dbff6/scratchpad/deck/shots/49-flourishing-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41832"/>
            <a:ext cx="2386584" cy="5164813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924544" y="5029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part of life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919972" y="891540"/>
            <a:ext cx="2487168" cy="5265397"/>
          </a:xfrm>
          <a:prstGeom prst="roundRect">
            <a:avLst>
              <a:gd name="adj" fmla="val 6250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sx="100000" sy="100000" kx="0" ky="0" algn="bl" rotWithShape="0" blurRad="279400" dist="88900" dir="5400000">
              <a:srgbClr val="1E2B28">
                <a:alpha val="26000"/>
              </a:srgbClr>
            </a:outerShdw>
          </a:effectLst>
        </p:spPr>
      </p:sp>
      <p:pic>
        <p:nvPicPr>
          <p:cNvPr id="25" name="Image 2" descr="/private/tmp/claude-501/-Users-thinkitive-Human-Optimization-Lab/b3beee61-c53d-4363-9ecf-97276e8dbff6/scratchpad/deck/shots/49-flourishing-result-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4" y="941832"/>
            <a:ext cx="2386584" cy="5164813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  ·  CHANGES AFTER 16 OCT</a:t>
            </a:r>
            <a:endParaRPr lang="en-US" sz="800" dirty="0"/>
          </a:p>
        </p:txBody>
      </p:sp>
      <p:sp>
        <p:nvSpPr>
          <p:cNvPr id="28" name="Text 23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5.12 OF 19</a:t>
            </a:r>
            <a:endParaRPr lang="en-US" sz="800" dirty="0"/>
          </a:p>
        </p:txBody>
      </p:sp>
      <p:sp>
        <p:nvSpPr>
          <p:cNvPr id="29" name="Text 24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thinkitive-Human-Optimization-Lab/b3beee61-c53d-4363-9ecf-97276e8dbff6/scratchpad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8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Taken out of the journey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5727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the 16 Oct call there is no physician approval hold: the patient accepts the plan and the doctor is informed.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77240" y="2194560"/>
            <a:ext cx="3291840" cy="38862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pic>
        <p:nvPicPr>
          <p:cNvPr id="6" name="Image 1" descr="/private/tmp/claude-501/-Users-thinkitive-Human-Optimization-Lab/b3beee61-c53d-4363-9ecf-97276e8dbff6/scratchpad/deck/d14/ppt/media/ph30.png">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960120" y="2377440"/>
            <a:ext cx="1463040" cy="316616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560320" y="237744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6E0DD"/>
          </a:solidFill>
          <a:ln w="12700">
            <a:solidFill>
              <a:srgbClr val="F6E0DD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2560320" y="23774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4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</a:t>
            </a:r>
            <a:endParaRPr lang="en-US" sz="850" dirty="0"/>
          </a:p>
        </p:txBody>
      </p:sp>
      <p:sp>
        <p:nvSpPr>
          <p:cNvPr id="9" name="Text 5"/>
          <p:cNvSpPr txBox="1"/>
          <p:nvPr/>
        </p:nvSpPr>
        <p:spPr>
          <a:xfrm>
            <a:off x="2560320" y="27889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Plan Is Being Reviewed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2560320" y="34747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v14 screen 30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2560320" y="3794760"/>
            <a:ext cx="1325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Removed: 16 Oct, no physician approval hold; the patient accepts and the doctor is informed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  ·  CHANGES AFTER 16 OCT</a:t>
            </a:r>
            <a:endParaRPr lang="en-US" sz="8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 w="12700">
            <a:solidFill>
              <a:srgbClr val="0E8C7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731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OPEN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102412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these screens wait on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148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HSA eligibility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50592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 to confirm with an ERISA attorney before the HSA or FSA option and receipt ship.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1363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Rejecting every plan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438144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a patient declines all plans: a refund was suggested, nothing decided.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1239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Goal-setting questions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425696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Blanchard is writing about 10 SMART goal questions to replace the goal list.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148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Flourishing questions and licence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450592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set per domain under Dr. Blanchard's review; Harvard licence and benchmark data with HOL.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31363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Biological age model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3438144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 shown is a labelled sample until the model and its inputs are approved.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41239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versus paid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4425696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features stay free (trends, appointments, medicines) still to be tested and decided.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Thinkitive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Inlay Health: Optimization Patient Journey 15</dc:title>
  <dc:subject>PptxGenJS Presentation</dc:subject>
  <dc:creator>PptxGenJS</dc:creator>
  <cp:lastModifiedBy>PptxGenJS</cp:lastModifiedBy>
  <cp:revision>1</cp:revision>
  <dcterms:created xsi:type="dcterms:W3CDTF">2026-10-19T13:26:50Z</dcterms:created>
  <dcterms:modified xsi:type="dcterms:W3CDTF">2026-10-19T13:26:50Z</dcterms:modified>
</cp:coreProperties>
</file>