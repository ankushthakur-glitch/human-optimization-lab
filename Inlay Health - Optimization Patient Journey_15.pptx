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slideLayout" Target="../slideLayouts/slideLayout1.xml"/><Relationship Id="rId5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image" Target="../media/image-32-10.png"/><Relationship Id="rId11" Type="http://schemas.openxmlformats.org/officeDocument/2006/relationships/image" Target="../media/image-32-11.png"/><Relationship Id="rId12" Type="http://schemas.openxmlformats.org/officeDocument/2006/relationships/image" Target="../media/image-32-12.png"/><Relationship Id="rId13" Type="http://schemas.openxmlformats.org/officeDocument/2006/relationships/image" Target="../media/image-32-13.png"/><Relationship Id="rId14" Type="http://schemas.openxmlformats.org/officeDocument/2006/relationships/image" Target="../media/image-32-14.png"/><Relationship Id="rId15" Type="http://schemas.openxmlformats.org/officeDocument/2006/relationships/image" Target="../media/image-32-15.png"/><Relationship Id="rId16" Type="http://schemas.openxmlformats.org/officeDocument/2006/relationships/image" Target="../media/image-32-16.png"/><Relationship Id="rId17" Type="http://schemas.openxmlformats.org/officeDocument/2006/relationships/image" Target="../media/image-3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image" Target="../media/image-5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91056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75104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6" name="Image 0" descr="/private/tmp/claude-501/-Users-thinkitive-Human-Optimization-Lab/b3beee61-c53d-4363-9ecf-97276e8dbff6/scratchpad/dec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13232"/>
            <a:ext cx="214884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PROGRAM  ·  VERSION 15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103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Journey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2724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screens, from the invitation email to the morning Inlay sees what is coming next.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425196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Activate &amp; Sign In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Identity &amp; Consent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Onboarding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Dashboard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Free Plan &amp; Upgrade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Daily Use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Inlay Care</a:t>
            </a:r>
            <a:endParaRPr lang="en-US" sz="1150" dirty="0"/>
          </a:p>
        </p:txBody>
      </p:sp>
      <p:pic>
        <p:nvPicPr>
          <p:cNvPr id="11" name="Image 1" descr="/private/tmp/claude-501/-Users-thinkitive-Human-Optimization-Lab/b3beee61-c53d-4363-9ecf-97276e8dbff6/scratchpad/deck/d14/ppt/media/ph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3611880"/>
            <a:ext cx="274320" cy="593657"/>
          </a:xfrm>
          <a:prstGeom prst="rect">
            <a:avLst/>
          </a:prstGeom>
        </p:spPr>
      </p:pic>
      <p:pic>
        <p:nvPicPr>
          <p:cNvPr id="12" name="Image 2" descr="/private/tmp/claude-501/-Users-thinkitive-Human-Optimization-Lab/b3beee61-c53d-4363-9ecf-97276e8dbff6/scratchpad/deck/d14/ppt/media/ph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3611880"/>
            <a:ext cx="274320" cy="593657"/>
          </a:xfrm>
          <a:prstGeom prst="rect">
            <a:avLst/>
          </a:prstGeom>
        </p:spPr>
      </p:pic>
      <p:pic>
        <p:nvPicPr>
          <p:cNvPr id="13" name="Image 3" descr="/private/tmp/claude-501/-Users-thinkitive-Human-Optimization-Lab/b3beee61-c53d-4363-9ecf-97276e8dbff6/scratchpad/deck/d14/ppt/media/ph0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3611880"/>
            <a:ext cx="274320" cy="593657"/>
          </a:xfrm>
          <a:prstGeom prst="rect">
            <a:avLst/>
          </a:prstGeom>
        </p:spPr>
      </p:pic>
      <p:pic>
        <p:nvPicPr>
          <p:cNvPr id="14" name="Image 4" descr="/private/tmp/claude-501/-Users-thinkitive-Human-Optimization-Lab/b3beee61-c53d-4363-9ecf-97276e8dbff6/scratchpad/deck/d14/ppt/media/ph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204" y="3611880"/>
            <a:ext cx="274320" cy="593657"/>
          </a:xfrm>
          <a:prstGeom prst="rect">
            <a:avLst/>
          </a:prstGeom>
        </p:spPr>
      </p:pic>
      <p:pic>
        <p:nvPicPr>
          <p:cNvPr id="15" name="Image 5" descr="/private/tmp/claude-501/-Users-thinkitive-Human-Optimization-Lab/b3beee61-c53d-4363-9ecf-97276e8dbff6/scratchpad/deck/d14/ppt/media/ph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3611880"/>
            <a:ext cx="274320" cy="593657"/>
          </a:xfrm>
          <a:prstGeom prst="rect">
            <a:avLst/>
          </a:prstGeom>
        </p:spPr>
      </p:pic>
      <p:pic>
        <p:nvPicPr>
          <p:cNvPr id="16" name="Image 6" descr="/private/tmp/claude-501/-Users-thinkitive-Human-Optimization-Lab/b3beee61-c53d-4363-9ecf-97276e8dbff6/scratchpad/deck/d14/ppt/media/ph0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3428" y="3611880"/>
            <a:ext cx="274320" cy="593657"/>
          </a:xfrm>
          <a:prstGeom prst="rect">
            <a:avLst/>
          </a:prstGeom>
        </p:spPr>
      </p:pic>
      <p:pic>
        <p:nvPicPr>
          <p:cNvPr id="17" name="Image 7" descr="/private/tmp/claude-501/-Users-thinkitive-Human-Optimization-Lab/b3beee61-c53d-4363-9ecf-97276e8dbff6/scratchpad/deck/d14/ppt/media/ph0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3611880"/>
            <a:ext cx="274320" cy="593657"/>
          </a:xfrm>
          <a:prstGeom prst="rect">
            <a:avLst/>
          </a:prstGeom>
        </p:spPr>
      </p:pic>
      <p:pic>
        <p:nvPicPr>
          <p:cNvPr id="18" name="Image 8" descr="/private/tmp/claude-501/-Users-thinkitive-Human-Optimization-Lab/b3beee61-c53d-4363-9ecf-97276e8dbff6/scratchpad/deck/d14/ppt/media/ph0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2652" y="3611880"/>
            <a:ext cx="274320" cy="593657"/>
          </a:xfrm>
          <a:prstGeom prst="rect">
            <a:avLst/>
          </a:prstGeom>
        </p:spPr>
      </p:pic>
      <p:pic>
        <p:nvPicPr>
          <p:cNvPr id="19" name="Image 9" descr="/private/tmp/claude-501/-Users-thinkitive-Human-Optimization-Lab/b3beee61-c53d-4363-9ecf-97276e8dbff6/scratchpad/deck/d14/ppt/media/ph0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7264" y="3611880"/>
            <a:ext cx="274320" cy="593657"/>
          </a:xfrm>
          <a:prstGeom prst="rect">
            <a:avLst/>
          </a:prstGeom>
        </p:spPr>
      </p:pic>
      <p:pic>
        <p:nvPicPr>
          <p:cNvPr id="20" name="Image 10" descr="/private/tmp/claude-501/-Users-thinkitive-Human-Optimization-Lab/b3beee61-c53d-4363-9ecf-97276e8dbff6/scratchpad/deck/d14/ppt/media/ph1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1876" y="3611880"/>
            <a:ext cx="274320" cy="593657"/>
          </a:xfrm>
          <a:prstGeom prst="rect">
            <a:avLst/>
          </a:prstGeom>
        </p:spPr>
      </p:pic>
      <p:pic>
        <p:nvPicPr>
          <p:cNvPr id="21" name="Image 11" descr="/private/tmp/claude-501/-Users-thinkitive-Human-Optimization-Lab/b3beee61-c53d-4363-9ecf-97276e8dbff6/scratchpad/deck/d14/ppt/media/ph1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6488" y="3611880"/>
            <a:ext cx="274320" cy="593657"/>
          </a:xfrm>
          <a:prstGeom prst="rect">
            <a:avLst/>
          </a:prstGeom>
        </p:spPr>
      </p:pic>
      <p:pic>
        <p:nvPicPr>
          <p:cNvPr id="22" name="Image 12" descr="/private/tmp/claude-501/-Users-thinkitive-Human-Optimization-Lab/b3beee61-c53d-4363-9ecf-97276e8dbff6/scratchpad/deck/shots/10-syncing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01100" y="3611880"/>
            <a:ext cx="274320" cy="593657"/>
          </a:xfrm>
          <a:prstGeom prst="rect">
            <a:avLst/>
          </a:prstGeom>
        </p:spPr>
      </p:pic>
      <p:pic>
        <p:nvPicPr>
          <p:cNvPr id="23" name="Image 13" descr="/private/tmp/claude-501/-Users-thinkitive-Human-Optimization-Lab/b3beee61-c53d-4363-9ecf-97276e8dbff6/scratchpad/deck/shots/11-working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25712" y="3611880"/>
            <a:ext cx="274320" cy="593657"/>
          </a:xfrm>
          <a:prstGeom prst="rect">
            <a:avLst/>
          </a:prstGeom>
        </p:spPr>
      </p:pic>
      <p:pic>
        <p:nvPicPr>
          <p:cNvPr id="24" name="Image 14" descr="/private/tmp/claude-501/-Users-thinkitive-Human-Optimization-Lab/b3beee61-c53d-4363-9ecf-97276e8dbff6/scratchpad/deck/shots/12-new-medicatio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50324" y="3611880"/>
            <a:ext cx="274320" cy="593657"/>
          </a:xfrm>
          <a:prstGeom prst="rect">
            <a:avLst/>
          </a:prstGeom>
        </p:spPr>
      </p:pic>
      <p:pic>
        <p:nvPicPr>
          <p:cNvPr id="25" name="Image 15" descr="/private/tmp/claude-501/-Users-thinkitive-Human-Optimization-Lab/b3beee61-c53d-4363-9ecf-97276e8dbff6/scratchpad/deck/shots/13-trends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74936" y="3611880"/>
            <a:ext cx="274320" cy="593657"/>
          </a:xfrm>
          <a:prstGeom prst="rect">
            <a:avLst/>
          </a:prstGeom>
        </p:spPr>
      </p:pic>
      <p:pic>
        <p:nvPicPr>
          <p:cNvPr id="26" name="Image 16" descr="/private/tmp/claude-501/-Users-thinkitive-Human-Optimization-Lab/b3beee61-c53d-4363-9ecf-97276e8dbff6/scratchpad/deck/shots/14-bio-ag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99548" y="3611880"/>
            <a:ext cx="274320" cy="593657"/>
          </a:xfrm>
          <a:prstGeom prst="rect">
            <a:avLst/>
          </a:prstGeom>
        </p:spPr>
      </p:pic>
      <p:pic>
        <p:nvPicPr>
          <p:cNvPr id="27" name="Image 17" descr="/private/tmp/claude-501/-Users-thinkitive-Human-Optimization-Lab/b3beee61-c53d-4363-9ecf-97276e8dbff6/scratchpad/deck/shots/15-driving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24160" y="3611880"/>
            <a:ext cx="274320" cy="593657"/>
          </a:xfrm>
          <a:prstGeom prst="rect">
            <a:avLst/>
          </a:prstGeom>
        </p:spPr>
      </p:pic>
      <p:pic>
        <p:nvPicPr>
          <p:cNvPr id="28" name="Image 18" descr="/private/tmp/claude-501/-Users-thinkitive-Human-Optimization-Lab/b3beee61-c53d-4363-9ecf-97276e8dbff6/scratchpad/deck/shots/16-nex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48772" y="3611880"/>
            <a:ext cx="274320" cy="593657"/>
          </a:xfrm>
          <a:prstGeom prst="rect">
            <a:avLst/>
          </a:prstGeom>
        </p:spPr>
      </p:pic>
      <p:pic>
        <p:nvPicPr>
          <p:cNvPr id="29" name="Image 19" descr="/private/tmp/claude-501/-Users-thinkitive-Human-Optimization-Lab/b3beee61-c53d-4363-9ecf-97276e8dbff6/scratchpad/deck/d14/ppt/media/ph13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30368" y="4261104"/>
            <a:ext cx="274320" cy="593657"/>
          </a:xfrm>
          <a:prstGeom prst="rect">
            <a:avLst/>
          </a:prstGeom>
        </p:spPr>
      </p:pic>
      <p:pic>
        <p:nvPicPr>
          <p:cNvPr id="30" name="Image 20" descr="/private/tmp/claude-501/-Users-thinkitive-Human-Optimization-Lab/b3beee61-c53d-4363-9ecf-97276e8dbff6/scratchpad/deck/d14/ppt/media/ph1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54980" y="4261104"/>
            <a:ext cx="274320" cy="593657"/>
          </a:xfrm>
          <a:prstGeom prst="rect">
            <a:avLst/>
          </a:prstGeom>
        </p:spPr>
      </p:pic>
      <p:pic>
        <p:nvPicPr>
          <p:cNvPr id="31" name="Image 21" descr="/private/tmp/claude-501/-Users-thinkitive-Human-Optimization-Lab/b3beee61-c53d-4363-9ecf-97276e8dbff6/scratchpad/deck/d14/ppt/media/ph1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79592" y="4261104"/>
            <a:ext cx="274320" cy="593657"/>
          </a:xfrm>
          <a:prstGeom prst="rect">
            <a:avLst/>
          </a:prstGeom>
        </p:spPr>
      </p:pic>
      <p:pic>
        <p:nvPicPr>
          <p:cNvPr id="32" name="Image 22" descr="/private/tmp/claude-501/-Users-thinkitive-Human-Optimization-Lab/b3beee61-c53d-4363-9ecf-97276e8dbff6/scratchpad/deck/d14/ppt/media/ph1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04204" y="4261104"/>
            <a:ext cx="274320" cy="593657"/>
          </a:xfrm>
          <a:prstGeom prst="rect">
            <a:avLst/>
          </a:prstGeom>
        </p:spPr>
      </p:pic>
      <p:pic>
        <p:nvPicPr>
          <p:cNvPr id="33" name="Image 23" descr="/private/tmp/claude-501/-Users-thinkitive-Human-Optimization-Lab/b3beee61-c53d-4363-9ecf-97276e8dbff6/scratchpad/deck/d14/ppt/media/ph17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28816" y="4261104"/>
            <a:ext cx="274320" cy="593657"/>
          </a:xfrm>
          <a:prstGeom prst="rect">
            <a:avLst/>
          </a:prstGeom>
        </p:spPr>
      </p:pic>
      <p:pic>
        <p:nvPicPr>
          <p:cNvPr id="34" name="Image 24" descr="/private/tmp/claude-501/-Users-thinkitive-Human-Optimization-Lab/b3beee61-c53d-4363-9ecf-97276e8dbff6/scratchpad/deck/d14/ppt/media/ph18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3428" y="4261104"/>
            <a:ext cx="274320" cy="593657"/>
          </a:xfrm>
          <a:prstGeom prst="rect">
            <a:avLst/>
          </a:prstGeom>
        </p:spPr>
      </p:pic>
      <p:pic>
        <p:nvPicPr>
          <p:cNvPr id="35" name="Image 25" descr="/private/tmp/claude-501/-Users-thinkitive-Human-Optimization-Lab/b3beee61-c53d-4363-9ecf-97276e8dbff6/scratchpad/deck/d14/ppt/media/ph19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78040" y="4261104"/>
            <a:ext cx="274320" cy="593657"/>
          </a:xfrm>
          <a:prstGeom prst="rect">
            <a:avLst/>
          </a:prstGeom>
        </p:spPr>
      </p:pic>
      <p:pic>
        <p:nvPicPr>
          <p:cNvPr id="36" name="Image 26" descr="/private/tmp/claude-501/-Users-thinkitive-Human-Optimization-Lab/b3beee61-c53d-4363-9ecf-97276e8dbff6/scratchpad/deck/shots2/42-upgrade-tab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02652" y="4261104"/>
            <a:ext cx="274320" cy="593657"/>
          </a:xfrm>
          <a:prstGeom prst="rect">
            <a:avLst/>
          </a:prstGeom>
        </p:spPr>
      </p:pic>
      <p:pic>
        <p:nvPicPr>
          <p:cNvPr id="37" name="Image 27" descr="/private/tmp/claude-501/-Users-thinkitive-Human-Optimization-Lab/b3beee61-c53d-4363-9ecf-97276e8dbff6/scratchpad/deck/s3/20-goals-pick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827264" y="4261104"/>
            <a:ext cx="274320" cy="593657"/>
          </a:xfrm>
          <a:prstGeom prst="rect">
            <a:avLst/>
          </a:prstGeom>
        </p:spPr>
      </p:pic>
      <p:pic>
        <p:nvPicPr>
          <p:cNvPr id="38" name="Image 28" descr="/private/tmp/claude-501/-Users-thinkitive-Human-Optimization-Lab/b3beee61-c53d-4363-9ecf-97276e8dbff6/scratchpad/deck/s3/21-goal-plans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51876" y="4261104"/>
            <a:ext cx="274320" cy="593657"/>
          </a:xfrm>
          <a:prstGeom prst="rect">
            <a:avLst/>
          </a:prstGeom>
        </p:spPr>
      </p:pic>
      <p:pic>
        <p:nvPicPr>
          <p:cNvPr id="39" name="Image 29" descr="/private/tmp/claude-501/-Users-thinkitive-Human-Optimization-Lab/b3beee61-c53d-4363-9ecf-97276e8dbff6/scratchpad/deck/d14/ppt/media/ph25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76488" y="4261104"/>
            <a:ext cx="274320" cy="593657"/>
          </a:xfrm>
          <a:prstGeom prst="rect">
            <a:avLst/>
          </a:prstGeom>
        </p:spPr>
      </p:pic>
      <p:pic>
        <p:nvPicPr>
          <p:cNvPr id="40" name="Image 30" descr="/private/tmp/claude-501/-Users-thinkitive-Human-Optimization-Lab/b3beee61-c53d-4363-9ecf-97276e8dbff6/scratchpad/deck/s3/26-enrollment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801100" y="4261104"/>
            <a:ext cx="274320" cy="593657"/>
          </a:xfrm>
          <a:prstGeom prst="rect">
            <a:avLst/>
          </a:prstGeom>
        </p:spPr>
      </p:pic>
      <p:pic>
        <p:nvPicPr>
          <p:cNvPr id="41" name="Image 31" descr="/private/tmp/claude-501/-Users-thinkitive-Human-Optimization-Lab/b3beee61-c53d-4363-9ecf-97276e8dbff6/scratchpad/deck/s3/29-payment-hsa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25712" y="4261104"/>
            <a:ext cx="274320" cy="593657"/>
          </a:xfrm>
          <a:prstGeom prst="rect">
            <a:avLst/>
          </a:prstGeom>
        </p:spPr>
      </p:pic>
      <p:pic>
        <p:nvPicPr>
          <p:cNvPr id="42" name="Image 32" descr="/private/tmp/claude-501/-Users-thinkitive-Human-Optimization-Lab/b3beee61-c53d-4363-9ecf-97276e8dbff6/scratchpad/deck/s7/33-paid-popup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450324" y="4261104"/>
            <a:ext cx="274320" cy="593657"/>
          </a:xfrm>
          <a:prstGeom prst="rect">
            <a:avLst/>
          </a:prstGeom>
        </p:spPr>
      </p:pic>
      <p:pic>
        <p:nvPicPr>
          <p:cNvPr id="43" name="Image 33" descr="/private/tmp/claude-501/-Users-thinkitive-Human-Optimization-Lab/b3beee61-c53d-4363-9ecf-97276e8dbff6/scratchpad/deck/s7/34-enroll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774936" y="4261104"/>
            <a:ext cx="274320" cy="593657"/>
          </a:xfrm>
          <a:prstGeom prst="rect">
            <a:avLst/>
          </a:prstGeom>
        </p:spPr>
      </p:pic>
      <p:pic>
        <p:nvPicPr>
          <p:cNvPr id="44" name="Image 34" descr="/private/tmp/claude-501/-Users-thinkitive-Human-Optimization-Lab/b3beee61-c53d-4363-9ecf-97276e8dbff6/scratchpad/deck/d14/ppt/media/ph29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099548" y="4261104"/>
            <a:ext cx="274320" cy="593657"/>
          </a:xfrm>
          <a:prstGeom prst="rect">
            <a:avLst/>
          </a:prstGeom>
        </p:spPr>
      </p:pic>
      <p:pic>
        <p:nvPicPr>
          <p:cNvPr id="45" name="Image 35" descr="/private/tmp/claude-501/-Users-thinkitive-Human-Optimization-Lab/b3beee61-c53d-4363-9ecf-97276e8dbff6/scratchpad/deck/s7/39-schedule-confirm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424160" y="4261104"/>
            <a:ext cx="274320" cy="593657"/>
          </a:xfrm>
          <a:prstGeom prst="rect">
            <a:avLst/>
          </a:prstGeom>
        </p:spPr>
      </p:pic>
      <p:pic>
        <p:nvPicPr>
          <p:cNvPr id="46" name="Image 36" descr="/private/tmp/claude-501/-Users-thinkitive-Human-Optimization-Lab/b3beee61-c53d-4363-9ecf-97276e8dbff6/scratchpad/deck/s7/40-health-profil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748772" y="4261104"/>
            <a:ext cx="274320" cy="593657"/>
          </a:xfrm>
          <a:prstGeom prst="rect">
            <a:avLst/>
          </a:prstGeom>
        </p:spPr>
      </p:pic>
      <p:pic>
        <p:nvPicPr>
          <p:cNvPr id="47" name="Image 37" descr="/private/tmp/claude-501/-Users-thinkitive-Human-Optimization-Lab/b3beee61-c53d-4363-9ecf-97276e8dbff6/scratchpad/deck/s7/42-flourishing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230368" y="4910328"/>
            <a:ext cx="274320" cy="593657"/>
          </a:xfrm>
          <a:prstGeom prst="rect">
            <a:avLst/>
          </a:prstGeom>
        </p:spPr>
      </p:pic>
      <p:pic>
        <p:nvPicPr>
          <p:cNvPr id="48" name="Image 38" descr="/private/tmp/claude-501/-Users-thinkitive-Human-Optimization-Lab/b3beee61-c53d-4363-9ecf-97276e8dbff6/scratchpad/deck/s7/51-flourishing-q01-gri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554980" y="4910328"/>
            <a:ext cx="274320" cy="593657"/>
          </a:xfrm>
          <a:prstGeom prst="rect">
            <a:avLst/>
          </a:prstGeom>
        </p:spPr>
      </p:pic>
      <p:pic>
        <p:nvPicPr>
          <p:cNvPr id="49" name="Image 39" descr="/private/tmp/claude-501/-Users-thinkitive-Human-Optimization-Lab/b3beee61-c53d-4363-9ecf-97276e8dbff6/scratchpad/deck/s7/63-flourishing-result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879592" y="4910328"/>
            <a:ext cx="274320" cy="593657"/>
          </a:xfrm>
          <a:prstGeom prst="rect">
            <a:avLst/>
          </a:prstGeom>
        </p:spPr>
      </p:pic>
      <p:pic>
        <p:nvPicPr>
          <p:cNvPr id="50" name="Image 40" descr="/private/tmp/claude-501/-Users-thinkitive-Human-Optimization-Lab/b3beee61-c53d-4363-9ecf-97276e8dbff6/scratchpad/deck/d14/ppt/media/ph31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204204" y="4910328"/>
            <a:ext cx="274320" cy="593657"/>
          </a:xfrm>
          <a:prstGeom prst="rect">
            <a:avLst/>
          </a:prstGeom>
        </p:spPr>
      </p:pic>
      <p:pic>
        <p:nvPicPr>
          <p:cNvPr id="51" name="Image 41" descr="/private/tmp/claude-501/-Users-thinkitive-Human-Optimization-Lab/b3beee61-c53d-4363-9ecf-97276e8dbff6/scratchpad/deck/d14/ppt/media/ph32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528816" y="4910328"/>
            <a:ext cx="274320" cy="593657"/>
          </a:xfrm>
          <a:prstGeom prst="rect">
            <a:avLst/>
          </a:prstGeom>
        </p:spPr>
      </p:pic>
      <p:pic>
        <p:nvPicPr>
          <p:cNvPr id="52" name="Image 42" descr="/private/tmp/claude-501/-Users-thinkitive-Human-Optimization-Lab/b3beee61-c53d-4363-9ecf-97276e8dbff6/scratchpad/deck/d14/ppt/media/ph33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853428" y="4910328"/>
            <a:ext cx="274320" cy="593657"/>
          </a:xfrm>
          <a:prstGeom prst="rect">
            <a:avLst/>
          </a:prstGeom>
        </p:spPr>
      </p:pic>
      <p:pic>
        <p:nvPicPr>
          <p:cNvPr id="53" name="Image 43" descr="/private/tmp/claude-501/-Users-thinkitive-Human-Optimization-Lab/b3beee61-c53d-4363-9ecf-97276e8dbff6/scratchpad/deck/d14/ppt/media/ph35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178040" y="4910328"/>
            <a:ext cx="274320" cy="593657"/>
          </a:xfrm>
          <a:prstGeom prst="rect">
            <a:avLst/>
          </a:prstGeom>
        </p:spPr>
      </p:pic>
      <p:pic>
        <p:nvPicPr>
          <p:cNvPr id="54" name="Image 44" descr="/private/tmp/claude-501/-Users-thinkitive-Human-Optimization-Lab/b3beee61-c53d-4363-9ecf-97276e8dbff6/scratchpad/deck/d14/ppt/media/ph36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502652" y="4910328"/>
            <a:ext cx="274320" cy="593657"/>
          </a:xfrm>
          <a:prstGeom prst="rect">
            <a:avLst/>
          </a:prstGeom>
        </p:spPr>
      </p:pic>
      <p:pic>
        <p:nvPicPr>
          <p:cNvPr id="55" name="Image 45" descr="/private/tmp/claude-501/-Users-thinkitive-Human-Optimization-Lab/b3beee61-c53d-4363-9ecf-97276e8dbff6/scratchpad/deck/d14/ppt/media/ph37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27264" y="4910328"/>
            <a:ext cx="274320" cy="593657"/>
          </a:xfrm>
          <a:prstGeom prst="rect">
            <a:avLst/>
          </a:prstGeom>
        </p:spPr>
      </p:pic>
      <p:pic>
        <p:nvPicPr>
          <p:cNvPr id="56" name="Image 46" descr="/private/tmp/claude-501/-Users-thinkitive-Human-Optimization-Lab/b3beee61-c53d-4363-9ecf-97276e8dbff6/scratchpad/deck/d14/ppt/media/ph38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151876" y="4910328"/>
            <a:ext cx="274320" cy="593657"/>
          </a:xfrm>
          <a:prstGeom prst="rect">
            <a:avLst/>
          </a:prstGeom>
        </p:spPr>
      </p:pic>
      <p:pic>
        <p:nvPicPr>
          <p:cNvPr id="57" name="Image 47" descr="/private/tmp/claude-501/-Users-thinkitive-Human-Optimization-Lab/b3beee61-c53d-4363-9ecf-97276e8dbff6/scratchpad/deck/d14/ppt/media/ph39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476488" y="4910328"/>
            <a:ext cx="274320" cy="593657"/>
          </a:xfrm>
          <a:prstGeom prst="rect">
            <a:avLst/>
          </a:prstGeom>
        </p:spPr>
      </p:pic>
      <p:pic>
        <p:nvPicPr>
          <p:cNvPr id="58" name="Image 48" descr="/private/tmp/claude-501/-Users-thinkitive-Human-Optimization-Lab/b3beee61-c53d-4363-9ecf-97276e8dbff6/scratchpad/deck/d14/ppt/media/ph40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801100" y="4910328"/>
            <a:ext cx="274320" cy="593657"/>
          </a:xfrm>
          <a:prstGeom prst="rect">
            <a:avLst/>
          </a:prstGeom>
        </p:spPr>
      </p:pic>
      <p:pic>
        <p:nvPicPr>
          <p:cNvPr id="59" name="Image 49" descr="/private/tmp/claude-501/-Users-thinkitive-Human-Optimization-Lab/b3beee61-c53d-4363-9ecf-97276e8dbff6/scratchpad/deck/d14/ppt/media/ph41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125712" y="4910328"/>
            <a:ext cx="274320" cy="593657"/>
          </a:xfrm>
          <a:prstGeom prst="rect">
            <a:avLst/>
          </a:prstGeom>
        </p:spPr>
      </p:pic>
      <p:pic>
        <p:nvPicPr>
          <p:cNvPr id="60" name="Image 50" descr="/private/tmp/claude-501/-Users-thinkitive-Human-Optimization-Lab/b3beee61-c53d-4363-9ecf-97276e8dbff6/scratchpad/deck/d14/ppt/media/ph42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450324" y="4910328"/>
            <a:ext cx="274320" cy="593657"/>
          </a:xfrm>
          <a:prstGeom prst="rect">
            <a:avLst/>
          </a:prstGeom>
        </p:spPr>
      </p:pic>
      <p:pic>
        <p:nvPicPr>
          <p:cNvPr id="61" name="Image 51" descr="/private/tmp/claude-501/-Users-thinkitive-Human-Optimization-Lab/b3beee61-c53d-4363-9ecf-97276e8dbff6/scratchpad/deck/d14/ppt/media/ph43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774936" y="4910328"/>
            <a:ext cx="274320" cy="593657"/>
          </a:xfrm>
          <a:prstGeom prst="rect">
            <a:avLst/>
          </a:prstGeom>
        </p:spPr>
      </p:pic>
      <p:pic>
        <p:nvPicPr>
          <p:cNvPr id="62" name="Image 52" descr="/private/tmp/claude-501/-Users-thinkitive-Human-Optimization-Lab/b3beee61-c53d-4363-9ecf-97276e8dbff6/scratchpad/deck/d14/ppt/media/ph44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099548" y="4910328"/>
            <a:ext cx="274320" cy="593657"/>
          </a:xfrm>
          <a:prstGeom prst="rect">
            <a:avLst/>
          </a:prstGeom>
        </p:spPr>
      </p:pic>
      <p:pic>
        <p:nvPicPr>
          <p:cNvPr id="63" name="Image 53" descr="/private/tmp/claude-501/-Users-thinkitive-Human-Optimization-Lab/b3beee61-c53d-4363-9ecf-97276e8dbff6/scratchpad/deck/d14/ppt/media/ph45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424160" y="4910328"/>
            <a:ext cx="274320" cy="593657"/>
          </a:xfrm>
          <a:prstGeom prst="rect">
            <a:avLst/>
          </a:prstGeom>
        </p:spPr>
      </p:pic>
      <p:sp>
        <p:nvSpPr>
          <p:cNvPr id="64" name="Text 8"/>
          <p:cNvSpPr txBox="1"/>
          <p:nvPr/>
        </p:nvSpPr>
        <p:spPr>
          <a:xfrm>
            <a:off x="5230368" y="5559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screens  ·  7 stages  ·  19 new or changed after 16 Oct</a:t>
            </a:r>
            <a:endParaRPr lang="en-US" sz="900" dirty="0"/>
          </a:p>
        </p:txBody>
      </p:sp>
      <p:sp>
        <p:nvSpPr>
          <p:cNvPr id="65" name="Shape 9"/>
          <p:cNvSpPr/>
          <p:nvPr/>
        </p:nvSpPr>
        <p:spPr>
          <a:xfrm>
            <a:off x="822960" y="5943600"/>
            <a:ext cx="10543032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6" name="Text 10"/>
          <p:cNvSpPr txBox="1"/>
          <p:nvPr/>
        </p:nvSpPr>
        <p:spPr>
          <a:xfrm>
            <a:off x="822960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discussion draft  ·  19 October 2026  ·  updated after the 16 Oct review</a:t>
            </a:r>
            <a:endParaRPr lang="en-US" sz="950" dirty="0"/>
          </a:p>
        </p:txBody>
      </p:sp>
      <p:sp>
        <p:nvSpPr>
          <p:cNvPr id="67" name="Text 11"/>
          <p:cNvSpPr txBox="1"/>
          <p:nvPr/>
        </p:nvSpPr>
        <p:spPr>
          <a:xfrm>
            <a:off x="5852160" y="6053328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captured from the current local build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since version 14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572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now shows its value before the upgrade, goals feed the plan picks, HSA or FSA pays, and a flourishing intro, questions and result follow payment.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77240" y="2194560"/>
            <a:ext cx="2452878" cy="388620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2498598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816352"/>
            <a:ext cx="208711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Appointments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Medication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Trending the Wrong Way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Biological Age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Driving It?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Updated Your Plans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Complete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Flourishing?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Flourishing Question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Flourishing Result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504438" y="2194560"/>
            <a:ext cx="2452878" cy="388620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87318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87318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225796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3687318" y="2816352"/>
            <a:ext cx="208711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Record Is Ready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Like to Improve?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Enrollment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Enrolled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Tests Are Scheduled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About You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31636" y="2194560"/>
            <a:ext cx="2452878" cy="388620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14516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14516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7952994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14516" y="2816352"/>
            <a:ext cx="208711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Welcome, Liv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958834" y="2194560"/>
            <a:ext cx="2452878" cy="388620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1714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6E0DD"/>
          </a:solidFill>
          <a:ln w="12700">
            <a:solidFill>
              <a:srgbClr val="F6E0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1714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680192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9141714" y="2816352"/>
            <a:ext cx="208711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v14 30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 Is Being Reviewed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&amp; Sign In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screens from the invitation email to a signed in patient. The clinic sends one code; the patient never invents a username or waits for a call.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 to 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b3beee61-c53d-4363-9ecf-97276e8dbff6/scratchpad/deck/d14/ppt/media/ph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b3beee61-c53d-4363-9ecf-97276e8dbff6/scratchpad/deck/d14/ppt/media/ph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b3beee61-c53d-4363-9ecf-97276e8dbff6/scratchpad/deck/d14/ppt/media/ph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930402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7" name="Image 3" descr="/private/tmp/claude-501/-Users-thinkitive-Human-Optimization-Lab/b3beee61-c53d-4363-9ecf-97276e8dbff6/scratchpad/deck/d14/ppt/media/ph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96112"/>
            <a:ext cx="685800" cy="14841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2688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 Email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email, one code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 invites the patient from the portal. The email carries the store links and a six digit activation code, and nothing else: no link to click, no ID, no password.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in the clinic’s name: Harborview Longevity Clinic invites Olivia, signed by its clinic manager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admit one card names the patient, the email and the code 731064, valid once, for 48 hours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code that runs out is replaced by the clinic, so help stays with the practice the patient knows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Your Account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birth date, one-time code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is checked against the email and date of birth the clinic already holds, so a code on its own cannot open anyone’s record.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fields and one button; the code is verified as soon as the sixth digit is typed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birth is the second check, taken from the practice record rather than invented at sign up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“Already set a password? Sign in” keeps returning patients off this screen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Password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thing the patient chooses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code is accepted the patient sets a password, with the same rules as the web portals. There is no username to invent and no second factor to set up.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password and confirmation, each with show and hide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back cancels the code, so a half finished activation cannot be reused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ID is offered later, from settings, once the patient is signed in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back in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after the password is created the email is already filled in, so the new password is all there is to type.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patients land here too: email and password, or Face ID once it is turned on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password sits under the field rather than behind a menu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session left idle for 15 minutes comes back to this screen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Consent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confirms who they are from the clinic's own record, then gives one consent before anything medical is read.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5 to 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b3beee61-c53d-4363-9ecf-97276e8dbff6/scratchpad/deck/d14/ppt/media/ph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b3beee61-c53d-4363-9ecf-97276e8dbff6/scratchpad/deck/d14/ppt/media/ph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b3beee61-c53d-4363-9ecf-97276e8dbff6/scratchpad/deck/d14/ppt/media/ph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IDENTITY &amp; CONSENT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You?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Confirm, don’t type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details come from the clinic’s record and are shown view only. They are what the national networks match the patient on, so they have to be the practice’s own.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preferred name, sex and age first: who the patient is, the way they would recognise themselves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birth, mobile, email and home address, then the clinic that shares the record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From your clinic tag says where every field came from; one action, Continue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IDENTITY &amp; CONSENT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Health Records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comes before any data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medical is read until the patient agrees. The screen says who sees the records, what is collected and for how long, in three lines rather than a legal page.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sees them: the patient and Harborview Longevity Clinic. What we collect: visits, labs and 7 more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picks how long: 15 days, 1 month or 3 months, each with its end date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boxes, the authorization and the terms, with the full text of each one tap away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6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IDENTITY &amp; CONSENT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About Your Care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Inlay may reach them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consent page covers contact about care: texts, calls and email. Agreeing here signs the consent and starts the record pull.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separate permissions, so a patient can take texts and decline calls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terms are linked from the text option, where carriers expect them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and continue goes straight into the assistant’s first conversation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7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life questions while the record arrives, the record builds, then a short tour shows its value first: appointments, new medication, the trends going the wrong way, biological age and what drives it, ending on the 3 of 81 plan match.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8 to 18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b3beee61-c53d-4363-9ecf-97276e8dbff6/scratchpad/deck/d14/ppt/media/ph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b3beee61-c53d-4363-9ecf-97276e8dbff6/scratchpad/deck/d14/ppt/media/ph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b3beee61-c53d-4363-9ecf-97276e8dbff6/scratchpad/deck/d14/ppt/media/ph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930402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7" name="Image 3" descr="/private/tmp/claude-501/-Users-thinkitive-Human-Optimization-Lab/b3beee61-c53d-4363-9ecf-97276e8dbff6/scratchpad/deck/d14/ppt/media/ph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96112"/>
            <a:ext cx="685800" cy="14841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2688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012698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0" name="Image 4" descr="/private/tmp/claude-501/-Users-thinkitive-Human-Optimization-Lab/b3beee61-c53d-4363-9ecf-97276e8dbff6/scratchpad/deck/shots/10-sync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896112"/>
            <a:ext cx="685800" cy="14841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14984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109499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3" name="Image 5" descr="/private/tmp/claude-501/-Users-thinkitive-Human-Optimization-Lab/b3beee61-c53d-4363-9ecf-97276e8dbff6/scratchpad/deck/shots/11-work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896112"/>
            <a:ext cx="685800" cy="148414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9728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683514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6" name="Image 6" descr="/private/tmp/claude-501/-Users-thinkitive-Human-Optimization-Lab/b3beee61-c53d-4363-9ecf-97276e8dbff6/scratchpad/deck/shots/12-new-medic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654574"/>
            <a:ext cx="685800" cy="148414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5800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28" name="Shape 19"/>
          <p:cNvSpPr/>
          <p:nvPr/>
        </p:nvSpPr>
        <p:spPr>
          <a:xfrm>
            <a:off x="765810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9" name="Image 7" descr="/private/tmp/claude-501/-Users-thinkitive-Human-Optimization-Lab/b3beee61-c53d-4363-9ecf-97276e8dbff6/scratchpad/deck/shots/13-trend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2654574"/>
            <a:ext cx="685800" cy="148414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68096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31" name="Shape 21"/>
          <p:cNvSpPr/>
          <p:nvPr/>
        </p:nvSpPr>
        <p:spPr>
          <a:xfrm>
            <a:off x="848106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2" name="Image 8" descr="/private/tmp/claude-501/-Users-thinkitive-Human-Optimization-Lab/b3beee61-c53d-4363-9ecf-97276e8dbff6/scratchpad/deck/shots/14-bio-a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0" y="2654574"/>
            <a:ext cx="685800" cy="1484142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50392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34" name="Shape 23"/>
          <p:cNvSpPr/>
          <p:nvPr/>
        </p:nvSpPr>
        <p:spPr>
          <a:xfrm>
            <a:off x="930402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5" name="Image 9" descr="/private/tmp/claude-501/-Users-thinkitive-Human-Optimization-Lab/b3beee61-c53d-4363-9ecf-97276e8dbff6/scratchpad/deck/shots/15-drivin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0" y="2654574"/>
            <a:ext cx="685800" cy="148414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932688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37" name="Shape 25"/>
          <p:cNvSpPr/>
          <p:nvPr/>
        </p:nvSpPr>
        <p:spPr>
          <a:xfrm>
            <a:off x="1012698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8" name="Image 10" descr="/private/tmp/claude-501/-Users-thinkitive-Human-Optimization-Lab/b3beee61-c53d-4363-9ecf-97276e8dbff6/scratchpad/deck/shots/16-nex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9840" y="2654574"/>
            <a:ext cx="685800" cy="1484142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1014984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Your Life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questions while the record arrives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starts the record pull, and the wait is used for the patient’s life rather than their results: eight flourishing questions, about 90 seconds, no wrong answers.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“Eight questions, about 90 seconds” sets expectations before the first one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eight areas are listed up front: physical, emotional, relationships, purpose, growth, balance, finances, health agency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Start, or Skip straight to the record; nothing is shared unless the patient sends it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8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Question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area, one question, one scale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area gets its own screen: how would you rate your overall physical health, thinking about the past two weeks.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 to 10 scale, from Very poor to Excellent, answered in one tap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is always there, so no question stands between the patient and their record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screens in all, about 90 seconds, while the record keeps building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9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Three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most want to improve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eight scores come back as one list, and the patient picks the three they would most like to improve.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area shows the patient’s own score, so the lowest ones stand out without a chart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picks, then Continue goes back to the record being built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picks feed the plan match on the Upgrade tab and the Human Flourishing Index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10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Your Record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builds in front of them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starts the pull from every provider the networks find. The screen tells it the way a patient thinks about it: a running count, one bar, then each kind of record landing.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your providers first, then visits, conditions, medications, labs, vitals and the rest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pull can take minutes, so the patient may leave and is told when it is ready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my dashboard stays off until there is something to show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11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Record Is Ready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records, then the tour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finished record is summarised as before, but the button no longer jumps to the dashboard. It opens a short tour of what the record already does for the patient.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records from 3 providers: lab results, vitals, visits and everything else, each with its share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my record does replaces Go to my dashboard and opens Upcoming appointments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as a step, so a patient who closes the app comes back to the tour, not a rebuild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in the record tour, not the dashboard: 16 Oct, show what the record does before anything else (v14 screen 12)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10-sync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12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Appointments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already booked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thing the record shows is what is already on the calendar: lab draws and visits together, by month, read from the patient's own record.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October: cardiology follow up Wed 21 with Pacific Heart, A1c and lipid panel Wed 28 at Quest Diagnostics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November: thyroid panel and vitamin D at Labcorp, then a metabolic panel and blood count at Quest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8: record review by Dr. Patel at Harborview Longevity Clinic; a mark says lab test or visit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record value comes first, starting with upcoming appointments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11-wor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13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Medication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list, in one place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medicines each provider's list brought into the record, grouped by where they came from. Where two lists disagree, an amber mark says so for the doctor to settle.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doctor: atorvastatin 20 mg, cetirizine, metformin 500 mg twice a day, fluticasone nasal spray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Scripps Memorial: lisinopril 10 mg and amlodipine 5 mg, now visible to Dr. Patel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Atorvastatin is marked Doses differ: 20 mg on the doctor's list, 10 mg on the hospital's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record value first, new medication second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12-new-medic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14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Trending the Wrong 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results moving away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value, the hard part: the results from the last 12 months that are moving away from the patient's range, each as a trend tile with its last readings.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LDL 162, up from 150, and triglycerides 188, up from 172, both from Quest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pressure 134/86, up from 131/84, and BMI 32.4, up from 31.1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the record says, nothing about plans or prices; See my biological age moves on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into onboarding: 16 Oct order puts trends right after the record's value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13-tre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15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Biological Age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 against a calendar age of 45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 on one age line: the biological age counts up from the calendar age, and the patient can drag along the line to compare any age with their own.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from your own results: 53, eight years above a calendar age of 45 from the clinic's birth date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hollow dot for you, a solid one for your body, the gap between them shaded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estimate is a labelled sample until the biological age model is approved; calendar age is real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biological age follows the trends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14-bio-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16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Driving It?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results behind the number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results are pushing your biological age above your real age. Each one is a result in the record that is out of range or moving the wrong way.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32.4 leads, taken from the record, measured at the August visit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LDL 162 and triglycerides 188, each with its status and trend, the same rows as the Record tab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years per result until the model can weigh them; See plans that can help ends setup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puts the numbers in longevity terms, with BMI from the record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15-driv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17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Welcome, Liv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of 81 plans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match now ends onboarding: setup finishes, Home opens, and the upgrade page slides over it, so back lands on Home.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record points to three of our 81 plans, one line instead of the AI plan match card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Lipid and cardiovascular (LDL 162, up 34), triglyceride and insulin (188, up 38), metabolic (BMI 32.4)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all 81 plans, then Build my personalized plan, or Do it later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Moved: 16 Oct, the 3 of 81 match follows What is driving it, before the dashboard (v14 screen 20)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16-n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18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record, every day: what needs attention, how results are moving, what is coming up, and an assistant that knows the record.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19 to 25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b3beee61-c53d-4363-9ecf-97276e8dbff6/scratchpad/deck/d14/ppt/media/ph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b3beee61-c53d-4363-9ecf-97276e8dbff6/scratchpad/deck/d14/ppt/media/ph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b3beee61-c53d-4363-9ecf-97276e8dbff6/scratchpad/deck/d14/ppt/media/ph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930402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7" name="Image 3" descr="/private/tmp/claude-501/-Users-thinkitive-Human-Optimization-Lab/b3beee61-c53d-4363-9ecf-97276e8dbff6/scratchpad/deck/d14/ppt/media/ph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96112"/>
            <a:ext cx="685800" cy="14841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2688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012698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0" name="Image 4" descr="/private/tmp/claude-501/-Users-thinkitive-Human-Optimization-Lab/b3beee61-c53d-4363-9ecf-97276e8dbff6/scratchpad/deck/d14/ppt/media/ph1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896112"/>
            <a:ext cx="685800" cy="14841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14984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683514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3" name="Image 5" descr="/private/tmp/claude-501/-Users-thinkitive-Human-Optimization-Lab/b3beee61-c53d-4363-9ecf-97276e8dbff6/scratchpad/deck/d14/ppt/media/ph1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654574"/>
            <a:ext cx="685800" cy="148414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85800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765810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6" name="Image 6" descr="/private/tmp/claude-501/-Users-thinkitive-Human-Optimization-Lab/b3beee61-c53d-4363-9ecf-97276e8dbff6/scratchpad/deck/d14/ppt/media/ph1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654574"/>
            <a:ext cx="685800" cy="148414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68096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Look: App Tour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tabs, explained once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time Home opens, a three step tour names the tabs. It runs once, over the live dashboard, and can be skipped.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is your day, To do lists what is open, Record holds results, Connect links doctors and devices, Upgrade shows what a membership adds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tour points at the floating tab bar and the assistant circle beside it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ends it at once; Next walks through the remaining two steps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19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them, first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home leads with what the patient has to act on, then how their results are moving. Every trend is drawn from their own record.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things need you: a muted red card for pending actions, one tap from the To do list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trend tiles: BMI 32.4, LDL 162 and triglycerides 188 above target, ferritin 46 in range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connections sits under the alert: health records and devices, with None connected until the patient links one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20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Home: Further Down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Upcoming, new, and medicines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trends, Home shows what is booked, what has just arrived in the record, and the medicines on file.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Cardiology follow up on Oct 21 with Dr. Lee at Pacific Heart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 your record: urgent care and cardiology visits outside the clinic, now visible to Dr. Patel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differ is flagged on atorvastatin; Ask about your results shows 25% of the week’s AI credit used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21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result, with its trend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tab holds the whole record: biomarkers, tests and orders, medicines, conditions, visits and more, with results grouped by body system.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pills on top, body system chips under them: blood sugar, cholesterol, heart and weight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has the value, its status, a small trend and the date; out of range results come first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your record takes a result from outside the network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22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Detail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LDL 162, and how it got there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 result shows the latest value against its range, every past reading on one chart, and where each one came from.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range and trending up: 162 mg/dL against a target under 100, up from 128 in April 2022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results on the chart, each listed with its date and source, Quest Diagnostics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plan adds is listed further down, and the page says plainly that it stays free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23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open, in order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gaps, bookings and checks in one list, split into overdue, upcoming and completed.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overdue: book a mammogram, due Apr 4, and a follow up visit after urgent care on Jun 3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2 medicines; an echocardiogram and a repeat A1c and lipid panel wait to be booked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Patel’s record review on Dec 8 is listed with No visit needed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24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assistant that knows the record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opens on four plain starting points. Credit is shown as a share of the week used, never as a count of questions.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one of my results, prepare for my next visit, a question about my medicines, something is bothering me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 this week’s AI credit used, on a strip above the composer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information, not medical advice, stated under every conversation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25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Plan &amp; Upgrade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Upgrade tab to an accepted plan: the plan match, the patient's own goals feeding the plan picks, enrollment and HSA or FSA payment with an itemized receipt, test booking, then the flourishing video, questions and result.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26 to 43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b3beee61-c53d-4363-9ecf-97276e8dbff6/scratchpad/deck/shots2/42-upgrade-t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b3beee61-c53d-4363-9ecf-97276e8dbff6/scratchpad/deck/s3/20-goals-pick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b3beee61-c53d-4363-9ecf-97276e8dbff6/scratchpad/deck/s3/21-goal-pla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930402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7" name="Image 3" descr="/private/tmp/claude-501/-Users-thinkitive-Human-Optimization-Lab/b3beee61-c53d-4363-9ecf-97276e8dbff6/scratchpad/deck/d14/ppt/media/ph2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96112"/>
            <a:ext cx="685800" cy="14841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2688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012698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0" name="Image 4" descr="/private/tmp/claude-501/-Users-thinkitive-Human-Optimization-Lab/b3beee61-c53d-4363-9ecf-97276e8dbff6/scratchpad/deck/s3/26-enrollm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896112"/>
            <a:ext cx="685800" cy="14841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14984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109499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3" name="Image 5" descr="/private/tmp/claude-501/-Users-thinkitive-Human-Optimization-Lab/b3beee61-c53d-4363-9ecf-97276e8dbff6/scratchpad/deck/s3/29-payment-hs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896112"/>
            <a:ext cx="685800" cy="148414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9728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683514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6" name="Image 6" descr="/private/tmp/claude-501/-Users-thinkitive-Human-Optimization-Lab/b3beee61-c53d-4363-9ecf-97276e8dbff6/scratchpad/deck/s7/33-paid-popu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654574"/>
            <a:ext cx="685800" cy="148414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5800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28" name="Shape 19"/>
          <p:cNvSpPr/>
          <p:nvPr/>
        </p:nvSpPr>
        <p:spPr>
          <a:xfrm>
            <a:off x="765810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9" name="Image 7" descr="/private/tmp/claude-501/-Users-thinkitive-Human-Optimization-Lab/b3beee61-c53d-4363-9ecf-97276e8dbff6/scratchpad/deck/s7/34-enroll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2654574"/>
            <a:ext cx="685800" cy="148414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68096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31" name="Shape 21"/>
          <p:cNvSpPr/>
          <p:nvPr/>
        </p:nvSpPr>
        <p:spPr>
          <a:xfrm>
            <a:off x="848106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2" name="Image 8" descr="/private/tmp/claude-501/-Users-thinkitive-Human-Optimization-Lab/b3beee61-c53d-4363-9ecf-97276e8dbff6/scratchpad/deck/d14/ppt/media/ph2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0" y="2654574"/>
            <a:ext cx="685800" cy="1484142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50392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sp>
        <p:nvSpPr>
          <p:cNvPr id="34" name="Shape 23"/>
          <p:cNvSpPr/>
          <p:nvPr/>
        </p:nvSpPr>
        <p:spPr>
          <a:xfrm>
            <a:off x="930402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5" name="Image 9" descr="/private/tmp/claude-501/-Users-thinkitive-Human-Optimization-Lab/b3beee61-c53d-4363-9ecf-97276e8dbff6/scratchpad/deck/s7/39-schedule-confirm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0" y="2654574"/>
            <a:ext cx="685800" cy="148414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932688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sp>
        <p:nvSpPr>
          <p:cNvPr id="37" name="Shape 25"/>
          <p:cNvSpPr/>
          <p:nvPr/>
        </p:nvSpPr>
        <p:spPr>
          <a:xfrm>
            <a:off x="1012698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8" name="Image 10" descr="/private/tmp/claude-501/-Users-thinkitive-Human-Optimization-Lab/b3beee61-c53d-4363-9ecf-97276e8dbff6/scratchpad/deck/s7/40-health-profi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9840" y="2654574"/>
            <a:ext cx="685800" cy="1484142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1014984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  <p:sp>
        <p:nvSpPr>
          <p:cNvPr id="40" name="Shape 27"/>
          <p:cNvSpPr/>
          <p:nvPr/>
        </p:nvSpPr>
        <p:spPr>
          <a:xfrm>
            <a:off x="1094994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41" name="Image 11" descr="/private/tmp/claude-501/-Users-thinkitive-Human-Optimization-Lab/b3beee61-c53d-4363-9ecf-97276e8dbff6/scratchpad/deck/s7/42-flourishin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2800" y="2654574"/>
            <a:ext cx="685800" cy="1484142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1097280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00" dirty="0"/>
          </a:p>
        </p:txBody>
      </p:sp>
      <p:sp>
        <p:nvSpPr>
          <p:cNvPr id="43" name="Shape 29"/>
          <p:cNvSpPr/>
          <p:nvPr/>
        </p:nvSpPr>
        <p:spPr>
          <a:xfrm>
            <a:off x="6835140" y="4390175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44" name="Image 12" descr="/private/tmp/claude-501/-Users-thinkitive-Human-Optimization-Lab/b3beee61-c53d-4363-9ecf-97276e8dbff6/scratchpad/deck/s7/51-flourishing-q01-gri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0" y="4413035"/>
            <a:ext cx="685800" cy="1484142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858000" y="5933753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00" dirty="0"/>
          </a:p>
        </p:txBody>
      </p:sp>
      <p:sp>
        <p:nvSpPr>
          <p:cNvPr id="46" name="Shape 31"/>
          <p:cNvSpPr/>
          <p:nvPr/>
        </p:nvSpPr>
        <p:spPr>
          <a:xfrm>
            <a:off x="7658100" y="4390175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47" name="Image 13" descr="/private/tmp/claude-501/-Users-thinkitive-Human-Optimization-Lab/b3beee61-c53d-4363-9ecf-97276e8dbff6/scratchpad/deck/s7/63-flourishing-resul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80960" y="4413035"/>
            <a:ext cx="685800" cy="1484142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7680960" y="5933753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49" name="Shape 33"/>
          <p:cNvSpPr/>
          <p:nvPr/>
        </p:nvSpPr>
        <p:spPr>
          <a:xfrm>
            <a:off x="8481060" y="4390175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50" name="Image 14" descr="/private/tmp/claude-501/-Users-thinkitive-Human-Optimization-Lab/b3beee61-c53d-4363-9ecf-97276e8dbff6/scratchpad/deck/d14/ppt/media/ph31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03920" y="4413035"/>
            <a:ext cx="685800" cy="1484142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8503920" y="5933753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52" name="Shape 35"/>
          <p:cNvSpPr/>
          <p:nvPr/>
        </p:nvSpPr>
        <p:spPr>
          <a:xfrm>
            <a:off x="9304020" y="4390175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53" name="Image 15" descr="/private/tmp/claude-501/-Users-thinkitive-Human-Optimization-Lab/b3beee61-c53d-4363-9ecf-97276e8dbff6/scratchpad/deck/d14/ppt/media/ph3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26880" y="4413035"/>
            <a:ext cx="685800" cy="1484142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9326880" y="5933753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55" name="Shape 37"/>
          <p:cNvSpPr/>
          <p:nvPr/>
        </p:nvSpPr>
        <p:spPr>
          <a:xfrm>
            <a:off x="10126980" y="4390175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56" name="Image 16" descr="/private/tmp/claude-501/-Users-thinkitive-Human-Optimization-Lab/b3beee61-c53d-4363-9ecf-97276e8dbff6/scratchpad/deck/d14/ppt/media/ph33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49840" y="4413035"/>
            <a:ext cx="685800" cy="1484142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10149840" y="5933753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to 43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welcome, any time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Upgrade tab repeats the welcome the patient saw at the end of onboarding: the AI plan match, the three plans and one way forward.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plan match: 81 plans on file, 3 your record supports, each with the number behind it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78 are not a fit for your record today, with See all 81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physician note is gone; Do it later now sits under Build my personalized plan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Repeats the onboarding welcome per 16 Oct; physician note removed, Do it later added (v14 screen 20)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2/42-upgrade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26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Like to Improve?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own goals, step 1 of 4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are now their own step: nine goals in one list, several can be picked, and the ones the record backs start ticked.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weight, metabolic health, cholesterol and heart, muscle, bone, sleep, energy, fitness and VO₂ max, kidney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Weight, metabolic health and cholesterol start ticked, because the record backs them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are a separate step that feeds the plan picks: 16 Oct decision (v14 screen 22)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picked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b3beee61-c53d-4363-9ecf-97276e8dbff6/scratchpad/deck/s3/20-goals-pick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own goal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b3beee61-c53d-4363-9ecf-97276e8dbff6/scratchpad/deck/s3/19-goals-add-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27 OF 54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Updated Your Plans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goals add a plan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plans the record points to, then what the goals added on top, up to five in all. Each row says where it came from.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Lipid control, insulin sensitivity and metabolic health come first, each tagged Record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your goals, we added two: Run a 10k, and Better sleep with a sleep study to set its starting point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goals feed the AI plan picks and the patient can add plans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add two plans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b3beee61-c53d-4363-9ecf-97276e8dbff6/scratchpad/deck/s3/21-goal-pl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the patient added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b3beee61-c53d-4363-9ecf-97276e8dbff6/scratchpad/deck/s3/23-goal-plans-ad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28 OF 54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Your Baseline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record is missing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of 4. Three standard tests give the plan its starting point, each priced, each with a Why?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$189 blood panel, $149 DEXA, $129 RMR: 3 of 3 tests, $467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ticked to start; any of them can be cleared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 says why the tests are needed to personalize the plan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29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Enrollment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or yearly, step 3 of 4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named from the goals, monthly or yearly billing, and the baseline tests, all priced before payment.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$1,080, or $100 a month; yearly members get 10% off their tests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tests $467, annual member discount $46.70 off, total due today $1,500.30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note comparing the two ways to pay is gone; the toggle says Save 10% on its own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Simpler: the monthly versus yearly note removed; tests priced before payment per 16 Oct (v14 screen 26)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3/26-enroll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30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or FSA, like any card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4. An HSA or FSA card is now a way to pay of its own, beside credit card, Apple Pay and Google Pay.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pay, two to a row: Credit card, HSA or FSA, Apple Pay, Google Pay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or FSA takes the same fields as a card, under HSA or FSA card number, secure and encrypted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due today $1,500.30; Complete enrollment stays off until the terms are ticked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HSA or FSA as a way to pay: 16 Oct decision (v14 screen 27)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3/29-payment-hs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31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Complete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Paid, with a receipt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payment goes through, a popup confirms it before the enrolled page: the amount, the card and an itemized receipt to keep.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$1,500.30 paid to Inlay Health with the HSA or FSA card ending 4242, today's date and the receipt number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receipt itemizes the membership, each test and the yearly discount, as HSA and FSA administrators ask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opens You're enrolled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an itemized receipt for HSA and FSA claims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7/33-paid-pop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32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Enrolled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next, in order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membership has started, and the payment is already confirmed. The screen lists each next step with the physician named.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 in Inlay today, then Schedule your tests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 No charge until Dr. Patel approves your plan is gone: the patient has paid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my tests, or Schedule later, which keeps the tests in To do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Drops the no charge until approval line: 16 Oct, no physician approval hold (v14 screen 28)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7/34-enrol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33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Tests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day and a time for each test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paid test with its place, a date and a time. Confirm schedule books them all at once.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panel at Quest Diagnostics, DEXA at Coastal Imaging, RMR at Harborview Longevity Clinic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date opens open weekdays, then the times for that day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schedule books all three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34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Tests Are Scheduled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Booked, then flourishing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schedule lands here: every test with its day, time and place, and a reminder before each one.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panel at Quest Diagnostics, DEXA at Coastal Imaging, RMR at Harborview Longevity Clinic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move any test from To do; the no charge until approval line is gone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 my care now leads through Tell us about you to the flourishing video and questions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to the new flourishing questions; approval line removed, 16 Oct (v14 screen 29a)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7/39-schedule-confir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35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About You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record, then confirmed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profile as the record has it, in three blocks. The patient confirms it, and Confirm now opens Are you flourishing?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information: age 45, weight 213 lb, BMI 32.4, waist 41 in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 edits in a sheet; medical is read from the record, never retyped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opens the flourishing video instead of the assistant's chat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opens the new flourishing intro, per 16 Oct (v14 screen 29b)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7/40-health-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36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Flourishing?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video from Dr. Patel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first, then what: a 30 second video from Dr. Patel on why flourishing matters, then how the questions work.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health is more than your numbers: the captions play over the video, with play, pause and replay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watch the video, answer 45 questions, one at a time, about 5 minutes, see your result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a flourishing intro with a video under 60 seconds (v14 screen 29c)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video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b3beee61-c53d-4363-9ecf-97276e8dbff6/scratchpad/deck/s7/42-flourish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playing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b3beee61-c53d-4363-9ecf-97276e8dbff6/scratchpad/deck/s7/43-flourishing-vid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37 OF 54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Flourishing Question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question, ten buttons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flourishing questions as a questionnaire, not a chat: one question a page, the part of life as a coloured chip, 1 of 45 and a thin bar.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 to 10 scale as ten big buttons, 1 Not at all to 10 Completely; a tap moves on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your answer: the patient speaks or types what is behind it, kept for the physician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saved as it is made; the one optional question has Prefer not to answer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the chat: 16 Oct, mandatory questions with free text or voice answers (v14 screen 29c)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7/51-flourishing-q01-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38 OF 54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Flourishing Result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score per part of life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overall score fills a half dial out of 10, with what it means in one line, then each of the eight parts of life as its own bar.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strength and Room to grow name the highest and lowest parts of life, with their scores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part of your life: physical health, emotions, relationships, purpose and four more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a flourishing result per domain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and extremes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b3beee61-c53d-4363-9ecf-97276e8dbff6/scratchpad/deck/s7/63-flourishing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part of life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b3beee61-c53d-4363-9ecf-97276e8dbff6/scratchpad/deck/s7/63-flourishing-result-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39 OF 54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 Is Ready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Approved, and attributed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once, the first time the Plan tab opens after Dr. Patel sends version 1.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Patel reviewed your results and approved your plan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step is the patient’s: read the plan, then accept it or request a change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my plan opens the plan itself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3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40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Plan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starts until they accept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plan, with two actions side by side over the tab bar: Request a change and Accept plan.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Goals: A1c below 5.7, weight 175 lb, LDL below 100 and blood pressure below 120/80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day: a diet plan up to 1,700 kcal, logged meals, strength workouts and a walk after dinner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change sits beside Accept plan, never behind a menu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41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6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to 43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or Request a Change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forward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Accepting starts the plan at once. A change request sends the patient’s own words to Dr. Patel.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Accept: the Plan tab becomes the live plan, with daily targets and today’s diet plan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change: one question, What would you like changed?, sent to Dr. Patel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accepted, the day starts with Yesterday, the next screen in this journey</a:t>
            </a:r>
            <a:endParaRPr lang="en-US" sz="112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accept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9" name="Image 1" descr="/private/tmp/claude-501/-Users-thinkitive-Human-Optimization-Lab/b3beee61-c53d-4363-9ecf-97276e8dbff6/scratchpad/deck/d14/ppt/media/ph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ask for a change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2" descr="/private/tmp/claude-501/-Users-thinkitive-Human-Optimization-Lab/b3beee61-c53d-4363-9ecf-97276e8dbff6/scratchpad/deck/d14/ppt/media/ph3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42 to 43 OF 54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Use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screens that run every day: yesterday's score, today's plan, measured progress, photographic evidence and the projection that renews the subscription.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44 to 48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b3beee61-c53d-4363-9ecf-97276e8dbff6/scratchpad/deck/d14/ppt/media/ph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b3beee61-c53d-4363-9ecf-97276e8dbff6/scratchpad/deck/d14/ppt/media/ph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b3beee61-c53d-4363-9ecf-97276e8dbff6/scratchpad/deck/d14/ppt/media/ph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930402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7" name="Image 3" descr="/private/tmp/claude-501/-Users-thinkitive-Human-Optimization-Lab/b3beee61-c53d-4363-9ecf-97276e8dbff6/scratchpad/deck/d14/ppt/media/ph3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96112"/>
            <a:ext cx="685800" cy="14841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2688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012698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0" name="Image 4" descr="/private/tmp/claude-501/-Users-thinkitive-Human-Optimization-Lab/b3beee61-c53d-4363-9ecf-97276e8dbff6/scratchpad/deck/d14/ppt/media/ph3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896112"/>
            <a:ext cx="685800" cy="14841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14984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Yesterday: How Did I Do?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screen every morning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score, one insight and four goals — the whole of yesterday in a single screen, with no scrolling required.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 daily goal score, 3 of 4 goals achieved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balance reconciles on screen: 2,240 kcal out, 1,690 in, a 550 deficit against a 500 goal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 names the one miss — 8 g of protein — and what would have closed it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3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44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Personalized Plan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eat the plan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menu is the fastest way to lose a patient. The day’s targets stay fixed — 500 cal deficit, 150 g protein, 1,000 mg calcium, 45 min exercise — but the food itself can come from four different places.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database and today’s plan both add in one tap, already costed in calories, protein and calcium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It covers the meal that was never in anyone’s plan; Import takes the patient who already tracks elsewhere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built plan stays visible but optional: breakfast 420 cal, lunch 510, dinner 620, with any meal swappable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45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97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 the patient shows other people — and the one that renews the subscription.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−12.4 lb, −2.5 in at the waist, −3.1% body fat since starting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Biomarkers moved: A1C 5.9→5.6, triglycerides 142→96, HDL 40→48, BP 134/82→122/76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RMR up 170 kcal (+10%) — measured proof that lean mass was preserved through the loss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46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Check-In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they can see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and side, three dates, with weight and waist under each frame.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1 — 178 lb · Jul 31 — 168.3 lb · Oct 5 — 165.6 lb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Photographs stored securely; the comparison slider is the moment patients share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change is what holds a subscription together when the scale stalls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47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 — Predictive Insights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if they stay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retention screen. It answers the question every patient asks at month three.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 162.8 lb · 60 days 160.9 lb · 120 days 157.5 lb · 1 year maintain 156–158 lb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projection carries a likelihood: 85%, 80%, 75% and 70%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Framed as estimates drawn from similar patients, never as a promise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48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Care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sees the surgery in the record and hands the patient a checklist drawn from their own surgical team’s instructions, with a directory of who is nearby. None of that is sold. Longevity Care, the elective screening catalogue, remains a paid Inlay product.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49 to 54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b3beee61-c53d-4363-9ecf-97276e8dbff6/scratchpad/deck/d14/ppt/media/ph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b3beee61-c53d-4363-9ecf-97276e8dbff6/scratchpad/deck/d14/ppt/media/ph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b3beee61-c53d-4363-9ecf-97276e8dbff6/scratchpad/deck/d14/ppt/media/ph4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930402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7" name="Image 3" descr="/private/tmp/claude-501/-Users-thinkitive-Human-Optimization-Lab/b3beee61-c53d-4363-9ecf-97276e8dbff6/scratchpad/deck/d14/ppt/media/ph4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96112"/>
            <a:ext cx="685800" cy="14841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2688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012698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0" name="Image 4" descr="/private/tmp/claude-501/-Users-thinkitive-Human-Optimization-Lab/b3beee61-c53d-4363-9ecf-97276e8dbff6/scratchpad/deck/d14/ppt/media/ph4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896112"/>
            <a:ext cx="685800" cy="14841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14984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683514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3" name="Image 5" descr="/private/tmp/claude-501/-Users-thinkitive-Human-Optimization-Lab/b3beee61-c53d-4363-9ecf-97276e8dbff6/scratchpad/deck/d14/ppt/media/ph4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654574"/>
            <a:ext cx="685800" cy="148414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85800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Screen — Surgery Detected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that we know them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Inlay sees the surgery in the record, this takes the screen before Home. It says one thing, and that one thing is the whole argument for the free record.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have surgery coming up on Thursday, November 12” — named, dated, five weeks ahead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by Dr. Smith on Sep 28, and the screen says so, because the source is what makes it credible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sold here. The line under the button says the checklist comes from the surgical team, not from us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49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Checklist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Fourteen things, in the right order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by when each one matters rather than listed flat, so the patient sees the three things to do now instead of a wall of instructions five weeks early.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14 done, with the current group open and the rest collapsed until their time comes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is Henry Ford’s own pre-operative instructions and Dr. Smith’s notes — Inlay carries it, Inlay did not write it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box at the foot for local providers, worded as help rather than as a storefront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50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Providers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nearby, and nothing else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Therapy, equipment, transport and home help near Clarkston. The patient arranges and pays directly; Inlay takes no fee and never touches the transaction.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the three clinics already accept Dr. Smith’s order — the one thing only we would know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and Map. No price, no booking, no checkout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“Inlay has no financial relationship with any provider listed here” sits at the foot of the screen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51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Item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Why, not just what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an item gives the reason behind it, which is what turns a list of instructions into something a patient actually follows.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matters, what to do, and what else is worth arranging while they are at it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 and specific: collected from Henry Ford West Bloomfield on the afternoon of November 12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transport box appears here too, because this is the moment the patient needs it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52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Longevity Care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patient who comes looking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elective side, and the one part of Inlay Care that is still sold. Nothing here is triggered by an event — it is for the well patient who wants to find something early.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are well today” is the opening line, which is what makes the rest of the page credible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for you sits above the catalogue, drawn from age, record and family history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is worded as options to consider, never as recommendations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53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Longevity Care — Test Detail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cannot tell you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elective test carries the same six disclosures, the limits included. This is the page that protects the brand when a screening result turns out to be nothing.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$949 standard, $854 for members, with the request routed to the physician rather than left to the patient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physician writes and holds the order; Inlay only connects the patient to the provider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does not rule cancer out, and a positive signal is not a diagnosis” sits on the page, not in the terms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b3beee61-c53d-4363-9ecf-97276e8dbff6/scratchpad/deck/d14/ppt/media/ph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54 OF 54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Taken out of the journey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572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the 16 Oct call there is no physician approval hold: the patient accepts the plan and the doctor is informed.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77240" y="2194560"/>
            <a:ext cx="3291840" cy="3886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pic>
        <p:nvPicPr>
          <p:cNvPr id="6" name="Image 1" descr="/private/tmp/claude-501/-Users-thinkitive-Human-Optimization-Lab/b3beee61-c53d-4363-9ecf-97276e8dbff6/scratchpad/deck/d14/ppt/media/ph30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960120" y="2377440"/>
            <a:ext cx="1463040" cy="316616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560320" y="237744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6E0DD"/>
          </a:solidFill>
          <a:ln w="12700">
            <a:solidFill>
              <a:srgbClr val="F6E0D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560320" y="2377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2560320" y="2788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 Is Being Reviewed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2560320" y="34747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v14 screen 30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2560320" y="379476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Removed: 16 Oct, no physician approval hold; the patient accepts and the doctor is informed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731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OPEN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102412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these screens wait 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48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eligibility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505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to confirm with an ERISA attorney before the HSA or FSA option and receipt ship.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36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Rejecting every plan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3814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patient declines all plans: a refund was suggested, nothing decided.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123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Goal-setting questions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42569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Blanchard is writing about 10 SMART goal questions to replace the goal list.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48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Flourishing questions and licence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4505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set per domain under Dr. Blanchard's review; Harvard licence and benchmark data with HOL.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136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age model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43814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 shown is a labelled sample until the model and its inputs are approved.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123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versus paid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442569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features stay free (trends, appointments, medicines) still to be tested and decided.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Thinkitive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Inlay Health: Optimization Patient Journey 15</dc:title>
  <dc:subject>PptxGenJS Presentation</dc:subject>
  <dc:creator>PptxGenJS</dc:creator>
  <cp:lastModifiedBy>PptxGenJS</cp:lastModifiedBy>
  <cp:revision>1</cp:revision>
  <dcterms:created xsi:type="dcterms:W3CDTF">2026-10-19T13:16:23Z</dcterms:created>
  <dcterms:modified xsi:type="dcterms:W3CDTF">2026-10-19T13:16:23Z</dcterms:modified>
</cp:coreProperties>
</file>