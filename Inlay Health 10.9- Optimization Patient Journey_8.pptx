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S1"/>
    <p:sldId id="257" r:id="rIdS2"/>
    <p:sldId id="258" r:id="rIdS3"/>
    <p:sldId id="259" r:id="rIdS4"/>
    <p:sldId id="260" r:id="rIdS5"/>
    <p:sldId id="261" r:id="rIdS6"/>
    <p:sldId id="262" r:id="rIdS7"/>
    <p:sldId id="263" r:id="rIdS8"/>
    <p:sldId id="264" r:id="rIdS9"/>
    <p:sldId id="265" r:id="rIdS10"/>
    <p:sldId id="266" r:id="rIdS11"/>
    <p:sldId id="267" r:id="rIdS12"/>
    <p:sldId id="268" r:id="rIdS13"/>
    <p:sldId id="269" r:id="rIdS14"/>
    <p:sldId id="270" r:id="rIdS15"/>
    <p:sldId id="271" r:id="rIdS16"/>
    <p:sldId id="272" r:id="rIdS17"/>
    <p:sldId id="273" r:id="rIdS18"/>
    <p:sldId id="274" r:id="rIdS19"/>
    <p:sldId id="275" r:id="rIdS20"/>
    <p:sldId id="276" r:id="rIdS21"/>
    <p:sldId id="277" r:id="rIdS22"/>
    <p:sldId id="278" r:id="rIdS23"/>
    <p:sldId id="279" r:id="rIdS24"/>
    <p:sldId id="280" r:id="rIdS25"/>
    <p:sldId id="281" r:id="rIdS26"/>
    <p:sldId id="282" r:id="rIdS27"/>
    <p:sldId id="283" r:id="rIdS28"/>
    <p:sldId id="284" r:id="rIdS29"/>
    <p:sldId id="285" r:id="rIdS30"/>
    <p:sldId id="286" r:id="rIdS31"/>
    <p:sldId id="287" r:id="rIdS32"/>
    <p:sldId id="288" r:id="rIdS33"/>
    <p:sldId id="289" r:id="rIdS34"/>
    <p:sldId id="290" r:id="rIdS35"/>
    <p:sldId id="291" r:id="rIdS36"/>
    <p:sldId id="292" r:id="rIdS37"/>
    <p:sldId id="293" r:id="rIdS38"/>
    <p:sldId id="294" r:id="rIdS39"/>
    <p:sldId id="295" r:id="rIdS40"/>
    <p:sldId id="296" r:id="rIdS41"/>
    <p:sldId id="297" r:id="rIdS42"/>
    <p:sldId id="298" r:id="rIdS43"/>
    <p:sldId id="299" r:id="rIdS44"/>
    <p:sldId id="300" r:id="rIdS45"/>
    <p:sldId id="301" r:id="rIdS46"/>
    <p:sldId id="302" r:id="rIdS47"/>
    <p:sldId id="303" r:id="rIdS48"/>
    <p:sldId id="304" r:id="rIdS49"/>
    <p:sldId id="305" r:id="rIdS50"/>
    <p:sldId id="306" r:id="rIdS51"/>
    <p:sldId id="307" r:id="rIdS52"/>
    <p:sldId id="308" r:id="rIdS5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2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32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35" Type="http://schemas.openxmlformats.org/officeDocument/2006/relationships/theme" Target="theme/theme1.xml"/>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S5" Type="http://schemas.openxmlformats.org/officeDocument/2006/relationships/slide" Target="slides/slide5.xml"/><Relationship Id="rIdS6" Type="http://schemas.openxmlformats.org/officeDocument/2006/relationships/slide" Target="slides/slide6.xml"/><Relationship Id="rIdS7" Type="http://schemas.openxmlformats.org/officeDocument/2006/relationships/slide" Target="slides/slide7.xml"/><Relationship Id="rIdS8" Type="http://schemas.openxmlformats.org/officeDocument/2006/relationships/slide" Target="slides/slide8.xml"/><Relationship Id="rIdS9" Type="http://schemas.openxmlformats.org/officeDocument/2006/relationships/slide" Target="slides/slide9.xml"/><Relationship Id="rIdS10" Type="http://schemas.openxmlformats.org/officeDocument/2006/relationships/slide" Target="slides/slide10.xml"/><Relationship Id="rIdS11" Type="http://schemas.openxmlformats.org/officeDocument/2006/relationships/slide" Target="slides/slide11.xml"/><Relationship Id="rIdS12" Type="http://schemas.openxmlformats.org/officeDocument/2006/relationships/slide" Target="slides/slide12.xml"/><Relationship Id="rIdS13" Type="http://schemas.openxmlformats.org/officeDocument/2006/relationships/slide" Target="slides/slide13.xml"/><Relationship Id="rIdS14" Type="http://schemas.openxmlformats.org/officeDocument/2006/relationships/slide" Target="slides/slide14.xml"/><Relationship Id="rIdS15" Type="http://schemas.openxmlformats.org/officeDocument/2006/relationships/slide" Target="slides/slide15.xml"/><Relationship Id="rIdS16" Type="http://schemas.openxmlformats.org/officeDocument/2006/relationships/slide" Target="slides/slide16.xml"/><Relationship Id="rIdS17" Type="http://schemas.openxmlformats.org/officeDocument/2006/relationships/slide" Target="slides/slide17.xml"/><Relationship Id="rIdS18" Type="http://schemas.openxmlformats.org/officeDocument/2006/relationships/slide" Target="slides/slide18.xml"/><Relationship Id="rIdS19" Type="http://schemas.openxmlformats.org/officeDocument/2006/relationships/slide" Target="slides/slide19.xml"/><Relationship Id="rIdS20" Type="http://schemas.openxmlformats.org/officeDocument/2006/relationships/slide" Target="slides/slide20.xml"/><Relationship Id="rIdS21" Type="http://schemas.openxmlformats.org/officeDocument/2006/relationships/slide" Target="slides/slide21.xml"/><Relationship Id="rIdS22" Type="http://schemas.openxmlformats.org/officeDocument/2006/relationships/slide" Target="slides/slide22.xml"/><Relationship Id="rIdS23" Type="http://schemas.openxmlformats.org/officeDocument/2006/relationships/slide" Target="slides/slide23.xml"/><Relationship Id="rIdS24" Type="http://schemas.openxmlformats.org/officeDocument/2006/relationships/slide" Target="slides/slide24.xml"/><Relationship Id="rIdS25" Type="http://schemas.openxmlformats.org/officeDocument/2006/relationships/slide" Target="slides/slide25.xml"/><Relationship Id="rIdS26" Type="http://schemas.openxmlformats.org/officeDocument/2006/relationships/slide" Target="slides/slide26.xml"/><Relationship Id="rIdS27" Type="http://schemas.openxmlformats.org/officeDocument/2006/relationships/slide" Target="slides/slide27.xml"/><Relationship Id="rIdS28" Type="http://schemas.openxmlformats.org/officeDocument/2006/relationships/slide" Target="slides/slide28.xml"/><Relationship Id="rIdS29" Type="http://schemas.openxmlformats.org/officeDocument/2006/relationships/slide" Target="slides/slide29.xml"/><Relationship Id="rIdS30" Type="http://schemas.openxmlformats.org/officeDocument/2006/relationships/slide" Target="slides/slide30.xml"/><Relationship Id="rIdS31" Type="http://schemas.openxmlformats.org/officeDocument/2006/relationships/slide" Target="slides/slide31.xml"/><Relationship Id="rIdS32" Type="http://schemas.openxmlformats.org/officeDocument/2006/relationships/slide" Target="slides/slide32.xml"/><Relationship Id="rIdS33" Type="http://schemas.openxmlformats.org/officeDocument/2006/relationships/slide" Target="slides/slide33.xml"/><Relationship Id="rIdS34" Type="http://schemas.openxmlformats.org/officeDocument/2006/relationships/slide" Target="slides/slide34.xml"/><Relationship Id="rIdS35" Type="http://schemas.openxmlformats.org/officeDocument/2006/relationships/slide" Target="slides/slide35.xml"/><Relationship Id="rIdS36" Type="http://schemas.openxmlformats.org/officeDocument/2006/relationships/slide" Target="slides/slide36.xml"/><Relationship Id="rIdS37" Type="http://schemas.openxmlformats.org/officeDocument/2006/relationships/slide" Target="slides/slide37.xml"/><Relationship Id="rIdS38" Type="http://schemas.openxmlformats.org/officeDocument/2006/relationships/slide" Target="slides/slide38.xml"/><Relationship Id="rIdS39" Type="http://schemas.openxmlformats.org/officeDocument/2006/relationships/slide" Target="slides/slide39.xml"/><Relationship Id="rIdS40" Type="http://schemas.openxmlformats.org/officeDocument/2006/relationships/slide" Target="slides/slide40.xml"/><Relationship Id="rIdS41" Type="http://schemas.openxmlformats.org/officeDocument/2006/relationships/slide" Target="slides/slide41.xml"/><Relationship Id="rIdS42" Type="http://schemas.openxmlformats.org/officeDocument/2006/relationships/slide" Target="slides/slide42.xml"/><Relationship Id="rIdS43" Type="http://schemas.openxmlformats.org/officeDocument/2006/relationships/slide" Target="slides/slide43.xml"/><Relationship Id="rIdS44" Type="http://schemas.openxmlformats.org/officeDocument/2006/relationships/slide" Target="slides/slide44.xml"/><Relationship Id="rIdS45" Type="http://schemas.openxmlformats.org/officeDocument/2006/relationships/slide" Target="slides/slide45.xml"/><Relationship Id="rIdS46" Type="http://schemas.openxmlformats.org/officeDocument/2006/relationships/slide" Target="slides/slide46.xml"/><Relationship Id="rIdS47" Type="http://schemas.openxmlformats.org/officeDocument/2006/relationships/slide" Target="slides/slide47.xml"/><Relationship Id="rIdS48" Type="http://schemas.openxmlformats.org/officeDocument/2006/relationships/slide" Target="slides/slide48.xml"/><Relationship Id="rIdS49" Type="http://schemas.openxmlformats.org/officeDocument/2006/relationships/slide" Target="slides/slide49.xml"/><Relationship Id="rIdS50" Type="http://schemas.openxmlformats.org/officeDocument/2006/relationships/slide" Target="slides/slide50.xml"/><Relationship Id="rIdS51" Type="http://schemas.openxmlformats.org/officeDocument/2006/relationships/slide" Target="slides/slide51.xml"/><Relationship Id="rIdS52" Type="http://schemas.openxmlformats.org/officeDocument/2006/relationships/slide" Target="slides/slide52.xml"/><Relationship Id="rIdS53" Type="http://schemas.openxmlformats.org/officeDocument/2006/relationships/slide" Target="slides/slide5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7188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light.png"/><Relationship Id="rId3" Type="http://schemas.openxmlformats.org/officeDocument/2006/relationships/image" Target="../media/tn01.png"/><Relationship Id="rId4" Type="http://schemas.openxmlformats.org/officeDocument/2006/relationships/image" Target="../media/tn02.png"/><Relationship Id="rId5" Type="http://schemas.openxmlformats.org/officeDocument/2006/relationships/image" Target="../media/tn03.png"/><Relationship Id="rId6" Type="http://schemas.openxmlformats.org/officeDocument/2006/relationships/image" Target="../media/tn04.png"/><Relationship Id="rId7" Type="http://schemas.openxmlformats.org/officeDocument/2006/relationships/image" Target="../media/tn05.png"/><Relationship Id="rId8" Type="http://schemas.openxmlformats.org/officeDocument/2006/relationships/image" Target="../media/tn06.png"/><Relationship Id="rId9" Type="http://schemas.openxmlformats.org/officeDocument/2006/relationships/image" Target="../media/tn07.png"/><Relationship Id="rId10" Type="http://schemas.openxmlformats.org/officeDocument/2006/relationships/image" Target="../media/tn08.png"/><Relationship Id="rId11" Type="http://schemas.openxmlformats.org/officeDocument/2006/relationships/image" Target="../media/tn09.png"/><Relationship Id="rId12" Type="http://schemas.openxmlformats.org/officeDocument/2006/relationships/image" Target="../media/tn10.png"/><Relationship Id="rId13" Type="http://schemas.openxmlformats.org/officeDocument/2006/relationships/image" Target="../media/tn11.png"/><Relationship Id="rId14" Type="http://schemas.openxmlformats.org/officeDocument/2006/relationships/image" Target="../media/tn12.png"/><Relationship Id="rId15" Type="http://schemas.openxmlformats.org/officeDocument/2006/relationships/image" Target="../media/tn13.png"/><Relationship Id="rId16" Type="http://schemas.openxmlformats.org/officeDocument/2006/relationships/image" Target="../media/tn14.png"/><Relationship Id="rId17" Type="http://schemas.openxmlformats.org/officeDocument/2006/relationships/image" Target="../media/tn15.png"/><Relationship Id="rId18" Type="http://schemas.openxmlformats.org/officeDocument/2006/relationships/image" Target="../media/tn16.png"/><Relationship Id="rId19" Type="http://schemas.openxmlformats.org/officeDocument/2006/relationships/image" Target="../media/tn17.png"/><Relationship Id="rId20" Type="http://schemas.openxmlformats.org/officeDocument/2006/relationships/image" Target="../media/tn18.png"/><Relationship Id="rId21" Type="http://schemas.openxmlformats.org/officeDocument/2006/relationships/image" Target="../media/tn19.png"/><Relationship Id="rId22" Type="http://schemas.openxmlformats.org/officeDocument/2006/relationships/image" Target="../media/tn20.png"/><Relationship Id="rId23" Type="http://schemas.openxmlformats.org/officeDocument/2006/relationships/image" Target="../media/tn21.png"/><Relationship Id="rId24" Type="http://schemas.openxmlformats.org/officeDocument/2006/relationships/image" Target="../media/tn22.png"/><Relationship Id="rId25" Type="http://schemas.openxmlformats.org/officeDocument/2006/relationships/image" Target="../media/tn23.png"/><Relationship Id="rId26" Type="http://schemas.openxmlformats.org/officeDocument/2006/relationships/image" Target="../media/tn24.png"/><Relationship Id="rId27" Type="http://schemas.openxmlformats.org/officeDocument/2006/relationships/image" Target="../media/tn25.png"/><Relationship Id="rId28" Type="http://schemas.openxmlformats.org/officeDocument/2006/relationships/image" Target="../media/tn26.png"/><Relationship Id="rId29" Type="http://schemas.openxmlformats.org/officeDocument/2006/relationships/image" Target="../media/tn27.png"/><Relationship Id="rId30" Type="http://schemas.openxmlformats.org/officeDocument/2006/relationships/image" Target="../media/tn28.png"/><Relationship Id="rId31" Type="http://schemas.openxmlformats.org/officeDocument/2006/relationships/image" Target="../media/tn29.png"/><Relationship Id="rId32" Type="http://schemas.openxmlformats.org/officeDocument/2006/relationships/image" Target="../media/tn30.png"/><Relationship Id="rId33" Type="http://schemas.openxmlformats.org/officeDocument/2006/relationships/image" Target="../media/tn31.png"/><Relationship Id="rId34" Type="http://schemas.openxmlformats.org/officeDocument/2006/relationships/image" Target="../media/tn32.png"/><Relationship Id="rId35" Type="http://schemas.openxmlformats.org/officeDocument/2006/relationships/image" Target="../media/tn33.png"/><Relationship Id="rId36" Type="http://schemas.openxmlformats.org/officeDocument/2006/relationships/image" Target="../media/tn34.png"/><Relationship Id="rId37" Type="http://schemas.openxmlformats.org/officeDocument/2006/relationships/image" Target="../media/tn35.png"/><Relationship Id="rId38" Type="http://schemas.openxmlformats.org/officeDocument/2006/relationships/image" Target="../media/tn36.png"/><Relationship Id="rId39" Type="http://schemas.openxmlformats.org/officeDocument/2006/relationships/image" Target="../media/tn37.png"/><Relationship Id="rId40" Type="http://schemas.openxmlformats.org/officeDocument/2006/relationships/image" Target="../media/tn38.png"/><Relationship Id="rId41" Type="http://schemas.openxmlformats.org/officeDocument/2006/relationships/image" Target="../media/tn39.png"/><Relationship Id="rId42" Type="http://schemas.openxmlformats.org/officeDocument/2006/relationships/image" Target="../media/tn40.png"/><Relationship Id="rId43" Type="http://schemas.openxmlformats.org/officeDocument/2006/relationships/image" Target="../media/tn41.png"/><Relationship Id="rId44" Type="http://schemas.openxmlformats.org/officeDocument/2006/relationships/image" Target="../media/tn42.png"/><Relationship Id="rId45" Type="http://schemas.openxmlformats.org/officeDocument/2006/relationships/image" Target="../media/tn43.png"/><Relationship Id="rId46" Type="http://schemas.openxmlformats.org/officeDocument/2006/relationships/image" Target="../media/tn44.png"/><Relationship Id="rId47" Type="http://schemas.openxmlformats.org/officeDocument/2006/relationships/image" Target="../media/tn45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tn01.png"/><Relationship Id="rId4" Type="http://schemas.openxmlformats.org/officeDocument/2006/relationships/image" Target="../media/tn02.png"/><Relationship Id="rId5" Type="http://schemas.openxmlformats.org/officeDocument/2006/relationships/image" Target="../media/tn03.png"/><Relationship Id="rId6" Type="http://schemas.openxmlformats.org/officeDocument/2006/relationships/image" Target="../media/tn04.png"/><Relationship Id="rId7" Type="http://schemas.openxmlformats.org/officeDocument/2006/relationships/image" Target="../media/tn05.png"/><Relationship Id="rId8" Type="http://schemas.openxmlformats.org/officeDocument/2006/relationships/image" Target="../media/tn06.png"/><Relationship Id="rId9" Type="http://schemas.openxmlformats.org/officeDocument/2006/relationships/image" Target="../media/tn07.png"/><Relationship Id="rId10" Type="http://schemas.openxmlformats.org/officeDocument/2006/relationships/image" Target="../media/tn08.png"/><Relationship Id="rId11" Type="http://schemas.openxmlformats.org/officeDocument/2006/relationships/image" Target="../media/tn09.png"/><Relationship Id="rId12" Type="http://schemas.openxmlformats.org/officeDocument/2006/relationships/image" Target="../media/tn10.png"/><Relationship Id="rId13" Type="http://schemas.openxmlformats.org/officeDocument/2006/relationships/image" Target="../media/tn11.png"/><Relationship Id="rId14" Type="http://schemas.openxmlformats.org/officeDocument/2006/relationships/image" Target="../media/tn12.png"/><Relationship Id="rId15" Type="http://schemas.openxmlformats.org/officeDocument/2006/relationships/image" Target="../media/tn13.png"/><Relationship Id="rId16" Type="http://schemas.openxmlformats.org/officeDocument/2006/relationships/image" Target="../media/tn14.png"/><Relationship Id="rId17" Type="http://schemas.openxmlformats.org/officeDocument/2006/relationships/image" Target="../media/tn15.png"/><Relationship Id="rId18" Type="http://schemas.openxmlformats.org/officeDocument/2006/relationships/image" Target="../media/tn16.png"/><Relationship Id="rId19" Type="http://schemas.openxmlformats.org/officeDocument/2006/relationships/image" Target="../media/tn17.png"/><Relationship Id="rId20" Type="http://schemas.openxmlformats.org/officeDocument/2006/relationships/image" Target="../media/tn18.png"/><Relationship Id="rId21" Type="http://schemas.openxmlformats.org/officeDocument/2006/relationships/image" Target="../media/tn19.png"/><Relationship Id="rId22" Type="http://schemas.openxmlformats.org/officeDocument/2006/relationships/image" Target="../media/tn20.png"/><Relationship Id="rId23" Type="http://schemas.openxmlformats.org/officeDocument/2006/relationships/image" Target="../media/tn21.png"/><Relationship Id="rId24" Type="http://schemas.openxmlformats.org/officeDocument/2006/relationships/image" Target="../media/tn22.png"/><Relationship Id="rId25" Type="http://schemas.openxmlformats.org/officeDocument/2006/relationships/image" Target="../media/tn23.png"/><Relationship Id="rId26" Type="http://schemas.openxmlformats.org/officeDocument/2006/relationships/image" Target="../media/tn24.png"/><Relationship Id="rId27" Type="http://schemas.openxmlformats.org/officeDocument/2006/relationships/image" Target="../media/tn25.png"/><Relationship Id="rId28" Type="http://schemas.openxmlformats.org/officeDocument/2006/relationships/image" Target="../media/tn26.png"/><Relationship Id="rId29" Type="http://schemas.openxmlformats.org/officeDocument/2006/relationships/image" Target="../media/tn27.png"/><Relationship Id="rId30" Type="http://schemas.openxmlformats.org/officeDocument/2006/relationships/image" Target="../media/tn28.png"/><Relationship Id="rId31" Type="http://schemas.openxmlformats.org/officeDocument/2006/relationships/image" Target="../media/tn29.png"/><Relationship Id="rId32" Type="http://schemas.openxmlformats.org/officeDocument/2006/relationships/image" Target="../media/tn30.png"/><Relationship Id="rId33" Type="http://schemas.openxmlformats.org/officeDocument/2006/relationships/image" Target="../media/tn31.png"/><Relationship Id="rId34" Type="http://schemas.openxmlformats.org/officeDocument/2006/relationships/image" Target="../media/tn32.png"/><Relationship Id="rId35" Type="http://schemas.openxmlformats.org/officeDocument/2006/relationships/image" Target="../media/tn33.png"/><Relationship Id="rId36" Type="http://schemas.openxmlformats.org/officeDocument/2006/relationships/image" Target="../media/tn34.png"/><Relationship Id="rId37" Type="http://schemas.openxmlformats.org/officeDocument/2006/relationships/image" Target="../media/tn35.png"/><Relationship Id="rId38" Type="http://schemas.openxmlformats.org/officeDocument/2006/relationships/image" Target="../media/tn36.png"/><Relationship Id="rId39" Type="http://schemas.openxmlformats.org/officeDocument/2006/relationships/image" Target="../media/tn37.png"/><Relationship Id="rId40" Type="http://schemas.openxmlformats.org/officeDocument/2006/relationships/image" Target="../media/tn38.png"/><Relationship Id="rId41" Type="http://schemas.openxmlformats.org/officeDocument/2006/relationships/image" Target="../media/tn39.png"/><Relationship Id="rId42" Type="http://schemas.openxmlformats.org/officeDocument/2006/relationships/image" Target="../media/tn40.png"/><Relationship Id="rId43" Type="http://schemas.openxmlformats.org/officeDocument/2006/relationships/image" Target="../media/tn41.png"/><Relationship Id="rId44" Type="http://schemas.openxmlformats.org/officeDocument/2006/relationships/image" Target="../media/tn42.png"/><Relationship Id="rId45" Type="http://schemas.openxmlformats.org/officeDocument/2006/relationships/image" Target="../media/tn43.png"/><Relationship Id="rId46" Type="http://schemas.openxmlformats.org/officeDocument/2006/relationships/image" Target="../media/tn44.png"/><Relationship Id="rId47" Type="http://schemas.openxmlformats.org/officeDocument/2006/relationships/image" Target="../media/tn45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n01.png"/><Relationship Id="rId3" Type="http://schemas.openxmlformats.org/officeDocument/2006/relationships/image" Target="../media/tn02.png"/><Relationship Id="rId4" Type="http://schemas.openxmlformats.org/officeDocument/2006/relationships/image" Target="../media/tn03.png"/><Relationship Id="rId5" Type="http://schemas.openxmlformats.org/officeDocument/2006/relationships/image" Target="../media/tn04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0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02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03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04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n05.png"/><Relationship Id="rId3" Type="http://schemas.openxmlformats.org/officeDocument/2006/relationships/image" Target="../media/tn06.png"/><Relationship Id="rId4" Type="http://schemas.openxmlformats.org/officeDocument/2006/relationships/image" Target="../media/tn07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05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06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07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n08.png"/><Relationship Id="rId3" Type="http://schemas.openxmlformats.org/officeDocument/2006/relationships/image" Target="../media/tn09.png"/><Relationship Id="rId4" Type="http://schemas.openxmlformats.org/officeDocument/2006/relationships/image" Target="../media/tn10.png"/><Relationship Id="rId5" Type="http://schemas.openxmlformats.org/officeDocument/2006/relationships/image" Target="../media/tn11.png"/><Relationship Id="rId6" Type="http://schemas.openxmlformats.org/officeDocument/2006/relationships/image" Target="../media/tn12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08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09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10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11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12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n13.png"/><Relationship Id="rId3" Type="http://schemas.openxmlformats.org/officeDocument/2006/relationships/image" Target="../media/tn14.png"/><Relationship Id="rId4" Type="http://schemas.openxmlformats.org/officeDocument/2006/relationships/image" Target="../media/tn15.png"/><Relationship Id="rId5" Type="http://schemas.openxmlformats.org/officeDocument/2006/relationships/image" Target="../media/tn16.png"/><Relationship Id="rId6" Type="http://schemas.openxmlformats.org/officeDocument/2006/relationships/image" Target="../media/tn17.png"/><Relationship Id="rId7" Type="http://schemas.openxmlformats.org/officeDocument/2006/relationships/image" Target="../media/tn18.png"/><Relationship Id="rId8" Type="http://schemas.openxmlformats.org/officeDocument/2006/relationships/image" Target="../media/tn19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13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14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15.pn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16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17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18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19.pn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n20.png"/><Relationship Id="rId3" Type="http://schemas.openxmlformats.org/officeDocument/2006/relationships/image" Target="../media/tn21.png"/><Relationship Id="rId4" Type="http://schemas.openxmlformats.org/officeDocument/2006/relationships/image" Target="../media/tn22.png"/><Relationship Id="rId5" Type="http://schemas.openxmlformats.org/officeDocument/2006/relationships/image" Target="../media/tn23.png"/><Relationship Id="rId6" Type="http://schemas.openxmlformats.org/officeDocument/2006/relationships/image" Target="../media/tn24.png"/><Relationship Id="rId7" Type="http://schemas.openxmlformats.org/officeDocument/2006/relationships/image" Target="../media/tn25.png"/><Relationship Id="rId8" Type="http://schemas.openxmlformats.org/officeDocument/2006/relationships/image" Target="../media/tn26.png"/><Relationship Id="rId9" Type="http://schemas.openxmlformats.org/officeDocument/2006/relationships/image" Target="../media/tn27.png"/><Relationship Id="rId10" Type="http://schemas.openxmlformats.org/officeDocument/2006/relationships/image" Target="../media/tn28.png"/><Relationship Id="rId11" Type="http://schemas.openxmlformats.org/officeDocument/2006/relationships/image" Target="../media/tn29.png"/><Relationship Id="rId12" Type="http://schemas.openxmlformats.org/officeDocument/2006/relationships/image" Target="../media/tn30.png"/><Relationship Id="rId13" Type="http://schemas.openxmlformats.org/officeDocument/2006/relationships/image" Target="../media/tn31.png"/><Relationship Id="rId14" Type="http://schemas.openxmlformats.org/officeDocument/2006/relationships/image" Target="../media/tn32.png"/><Relationship Id="rId15" Type="http://schemas.openxmlformats.org/officeDocument/2006/relationships/image" Target="../media/tn33.png"/><Relationship Id="rId16" Type="http://schemas.openxmlformats.org/officeDocument/2006/relationships/image" Target="../media/tn34.pn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20.png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21.png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22.png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23.png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24.png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25.png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26.png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27.png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28.png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29.png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30.png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31.png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32.png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33.png"/><Relationship Id="rId4" Type="http://schemas.openxmlformats.org/officeDocument/2006/relationships/image" Target="../media/ph34.png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n35.png"/><Relationship Id="rId3" Type="http://schemas.openxmlformats.org/officeDocument/2006/relationships/image" Target="../media/tn36.png"/><Relationship Id="rId4" Type="http://schemas.openxmlformats.org/officeDocument/2006/relationships/image" Target="../media/tn37.png"/><Relationship Id="rId5" Type="http://schemas.openxmlformats.org/officeDocument/2006/relationships/image" Target="../media/tn38.png"/><Relationship Id="rId6" Type="http://schemas.openxmlformats.org/officeDocument/2006/relationships/image" Target="../media/tn39.png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35.png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36.png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37.png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38.png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39.png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n40.png"/><Relationship Id="rId3" Type="http://schemas.openxmlformats.org/officeDocument/2006/relationships/image" Target="../media/tn41.png"/><Relationship Id="rId4" Type="http://schemas.openxmlformats.org/officeDocument/2006/relationships/image" Target="../media/tn42.png"/><Relationship Id="rId5" Type="http://schemas.openxmlformats.org/officeDocument/2006/relationships/image" Target="../media/tn43.png"/><Relationship Id="rId6" Type="http://schemas.openxmlformats.org/officeDocument/2006/relationships/image" Target="../media/tn44.png"/><Relationship Id="rId7" Type="http://schemas.openxmlformats.org/officeDocument/2006/relationships/image" Target="../media/tn45.png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40.png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41.png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42.png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43.png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44.png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64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64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91056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975104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deck/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13232"/>
            <a:ext cx="214884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783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32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PROGRAM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86384" y="210312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kern="0" spc="-1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Patient Journey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822960" y="3127248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Forty-five screens, from the invitation email in the inbox to the morning Inlay sees what is coming next.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41248" y="3931920"/>
            <a:ext cx="38404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50"/>
              </a:spcAft>
              <a:buNone/>
            </a:pPr>
            <a:r>
              <a:rPr lang="en-US" sz="120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Activate &amp; Sign In</a:t>
            </a:r>
            <a:endParaRPr lang="en-US" sz="1200" dirty="0"/>
          </a:p>
          <a:p>
            <a:pPr marL="0" indent="0">
              <a:spcAft>
                <a:spcPts val="450"/>
              </a:spcAft>
              <a:buNone/>
            </a:pPr>
            <a:r>
              <a:rPr lang="en-US" sz="120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Identity &amp; Consent</a:t>
            </a:r>
            <a:endParaRPr lang="en-US" sz="1200" dirty="0"/>
          </a:p>
          <a:p>
            <a:pPr marL="0" indent="0">
              <a:spcAft>
                <a:spcPts val="450"/>
              </a:spcAft>
              <a:buNone/>
            </a:pPr>
            <a:r>
              <a:rPr lang="en-US" sz="120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Onboarding</a:t>
            </a:r>
            <a:endParaRPr lang="en-US" sz="1200" dirty="0"/>
          </a:p>
          <a:p>
            <a:pPr marL="0" indent="0">
              <a:spcAft>
                <a:spcPts val="450"/>
              </a:spcAft>
              <a:buNone/>
            </a:pPr>
            <a:r>
              <a:rPr lang="en-US" sz="120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Dashboard</a:t>
            </a:r>
            <a:endParaRPr lang="en-US" sz="1200" dirty="0"/>
          </a:p>
          <a:p>
            <a:pPr marL="0" indent="0">
              <a:spcAft>
                <a:spcPts val="450"/>
              </a:spcAft>
              <a:buNone/>
            </a:pPr>
            <a:r>
              <a:rPr lang="en-US" sz="120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Free Plan &amp; Upgrade</a:t>
            </a:r>
            <a:endParaRPr lang="en-US" sz="1200" dirty="0"/>
          </a:p>
          <a:p>
            <a:pPr marL="0" indent="0">
              <a:spcAft>
                <a:spcPts val="450"/>
              </a:spcAft>
              <a:buNone/>
            </a:pPr>
            <a:r>
              <a:rPr lang="en-US" sz="120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Daily Use</a:t>
            </a:r>
            <a:endParaRPr lang="en-US" sz="1200" dirty="0"/>
          </a:p>
          <a:p>
            <a:pPr marL="0" indent="0">
              <a:spcAft>
                <a:spcPts val="450"/>
              </a:spcAft>
              <a:buNone/>
            </a:pPr>
            <a:r>
              <a:rPr lang="en-US" sz="120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Inlay Care</a:t>
            </a:r>
            <a:endParaRPr lang="en-US" sz="1200" dirty="0"/>
          </a:p>
        </p:txBody>
      </p:sp>
      <p:pic>
        <p:nvPicPr>
          <p:cNvPr id="12" name="Image 1" descr="deck/tn01.png"/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5230368" y="3611880"/>
            <a:ext cx="274320" cy="594360"/>
          </a:xfrm>
          <a:prstGeom prst="rect">
            <a:avLst/>
          </a:prstGeom>
        </p:spPr>
      </p:pic>
      <p:pic>
        <p:nvPicPr>
          <p:cNvPr id="13" name="Image 1" descr="deck/tn01.png"/>
          <p:cNvPicPr>
            <a:picLocks noChangeAspect="1"/>
          </p:cNvPicPr>
          <p:nvPr/>
        </p:nvPicPr>
        <p:blipFill>
          <a:blip r:embed="rId4">
            <a:alphaModFix amt="92000"/>
          </a:blip>
          <a:stretch>
            <a:fillRect/>
          </a:stretch>
        </p:blipFill>
        <p:spPr>
          <a:xfrm>
            <a:off x="5559552" y="3611880"/>
            <a:ext cx="274320" cy="594360"/>
          </a:xfrm>
          <a:prstGeom prst="rect">
            <a:avLst/>
          </a:prstGeom>
        </p:spPr>
      </p:pic>
      <p:pic>
        <p:nvPicPr>
          <p:cNvPr id="14" name="Image 1" descr="deck/tn01.png"/>
          <p:cNvPicPr>
            <a:picLocks noChangeAspect="1"/>
          </p:cNvPicPr>
          <p:nvPr/>
        </p:nvPicPr>
        <p:blipFill>
          <a:blip r:embed="rId5">
            <a:alphaModFix amt="92000"/>
          </a:blip>
          <a:stretch>
            <a:fillRect/>
          </a:stretch>
        </p:blipFill>
        <p:spPr>
          <a:xfrm>
            <a:off x="5888736" y="3611880"/>
            <a:ext cx="274320" cy="594360"/>
          </a:xfrm>
          <a:prstGeom prst="rect">
            <a:avLst/>
          </a:prstGeom>
        </p:spPr>
      </p:pic>
      <p:pic>
        <p:nvPicPr>
          <p:cNvPr id="15" name="Image 1" descr="deck/tn01.png"/>
          <p:cNvPicPr>
            <a:picLocks noChangeAspect="1"/>
          </p:cNvPicPr>
          <p:nvPr/>
        </p:nvPicPr>
        <p:blipFill>
          <a:blip r:embed="rId6">
            <a:alphaModFix amt="92000"/>
          </a:blip>
          <a:stretch>
            <a:fillRect/>
          </a:stretch>
        </p:blipFill>
        <p:spPr>
          <a:xfrm>
            <a:off x="6217920" y="3611880"/>
            <a:ext cx="274320" cy="594360"/>
          </a:xfrm>
          <a:prstGeom prst="rect">
            <a:avLst/>
          </a:prstGeom>
        </p:spPr>
      </p:pic>
      <p:pic>
        <p:nvPicPr>
          <p:cNvPr id="16" name="Image 1" descr="deck/tn01.png"/>
          <p:cNvPicPr>
            <a:picLocks noChangeAspect="1"/>
          </p:cNvPicPr>
          <p:nvPr/>
        </p:nvPicPr>
        <p:blipFill>
          <a:blip r:embed="rId7">
            <a:alphaModFix amt="92000"/>
          </a:blip>
          <a:stretch>
            <a:fillRect/>
          </a:stretch>
        </p:blipFill>
        <p:spPr>
          <a:xfrm>
            <a:off x="6547104" y="3611880"/>
            <a:ext cx="274320" cy="594360"/>
          </a:xfrm>
          <a:prstGeom prst="rect">
            <a:avLst/>
          </a:prstGeom>
        </p:spPr>
      </p:pic>
      <p:pic>
        <p:nvPicPr>
          <p:cNvPr id="17" name="Image 1" descr="deck/tn01.png"/>
          <p:cNvPicPr>
            <a:picLocks noChangeAspect="1"/>
          </p:cNvPicPr>
          <p:nvPr/>
        </p:nvPicPr>
        <p:blipFill>
          <a:blip r:embed="rId8">
            <a:alphaModFix amt="92000"/>
          </a:blip>
          <a:stretch>
            <a:fillRect/>
          </a:stretch>
        </p:blipFill>
        <p:spPr>
          <a:xfrm>
            <a:off x="6876288" y="3611880"/>
            <a:ext cx="274320" cy="594360"/>
          </a:xfrm>
          <a:prstGeom prst="rect">
            <a:avLst/>
          </a:prstGeom>
        </p:spPr>
      </p:pic>
      <p:pic>
        <p:nvPicPr>
          <p:cNvPr id="18" name="Image 1" descr="deck/tn01.png"/>
          <p:cNvPicPr>
            <a:picLocks noChangeAspect="1"/>
          </p:cNvPicPr>
          <p:nvPr/>
        </p:nvPicPr>
        <p:blipFill>
          <a:blip r:embed="rId9">
            <a:alphaModFix amt="92000"/>
          </a:blip>
          <a:stretch>
            <a:fillRect/>
          </a:stretch>
        </p:blipFill>
        <p:spPr>
          <a:xfrm>
            <a:off x="7205472" y="3611880"/>
            <a:ext cx="274320" cy="594360"/>
          </a:xfrm>
          <a:prstGeom prst="rect">
            <a:avLst/>
          </a:prstGeom>
        </p:spPr>
      </p:pic>
      <p:pic>
        <p:nvPicPr>
          <p:cNvPr id="19" name="Image 1" descr="deck/tn01.png"/>
          <p:cNvPicPr>
            <a:picLocks noChangeAspect="1"/>
          </p:cNvPicPr>
          <p:nvPr/>
        </p:nvPicPr>
        <p:blipFill>
          <a:blip r:embed="rId10">
            <a:alphaModFix amt="92000"/>
          </a:blip>
          <a:stretch>
            <a:fillRect/>
          </a:stretch>
        </p:blipFill>
        <p:spPr>
          <a:xfrm>
            <a:off x="7534656" y="3611880"/>
            <a:ext cx="274320" cy="594360"/>
          </a:xfrm>
          <a:prstGeom prst="rect">
            <a:avLst/>
          </a:prstGeom>
        </p:spPr>
      </p:pic>
      <p:pic>
        <p:nvPicPr>
          <p:cNvPr id="20" name="Image 1" descr="deck/tn01.png"/>
          <p:cNvPicPr>
            <a:picLocks noChangeAspect="1"/>
          </p:cNvPicPr>
          <p:nvPr/>
        </p:nvPicPr>
        <p:blipFill>
          <a:blip r:embed="rId11">
            <a:alphaModFix amt="92000"/>
          </a:blip>
          <a:stretch>
            <a:fillRect/>
          </a:stretch>
        </p:blipFill>
        <p:spPr>
          <a:xfrm>
            <a:off x="7863840" y="3611880"/>
            <a:ext cx="274320" cy="594360"/>
          </a:xfrm>
          <a:prstGeom prst="rect">
            <a:avLst/>
          </a:prstGeom>
        </p:spPr>
      </p:pic>
      <p:pic>
        <p:nvPicPr>
          <p:cNvPr id="21" name="Image 1" descr="deck/tn01.png"/>
          <p:cNvPicPr>
            <a:picLocks noChangeAspect="1"/>
          </p:cNvPicPr>
          <p:nvPr/>
        </p:nvPicPr>
        <p:blipFill>
          <a:blip r:embed="rId12">
            <a:alphaModFix amt="92000"/>
          </a:blip>
          <a:stretch>
            <a:fillRect/>
          </a:stretch>
        </p:blipFill>
        <p:spPr>
          <a:xfrm>
            <a:off x="8193024" y="3611880"/>
            <a:ext cx="274320" cy="594360"/>
          </a:xfrm>
          <a:prstGeom prst="rect">
            <a:avLst/>
          </a:prstGeom>
        </p:spPr>
      </p:pic>
      <p:pic>
        <p:nvPicPr>
          <p:cNvPr id="22" name="Image 1" descr="deck/tn01.png"/>
          <p:cNvPicPr>
            <a:picLocks noChangeAspect="1"/>
          </p:cNvPicPr>
          <p:nvPr/>
        </p:nvPicPr>
        <p:blipFill>
          <a:blip r:embed="rId13">
            <a:alphaModFix amt="92000"/>
          </a:blip>
          <a:stretch>
            <a:fillRect/>
          </a:stretch>
        </p:blipFill>
        <p:spPr>
          <a:xfrm>
            <a:off x="8522208" y="3611880"/>
            <a:ext cx="274320" cy="594360"/>
          </a:xfrm>
          <a:prstGeom prst="rect">
            <a:avLst/>
          </a:prstGeom>
        </p:spPr>
      </p:pic>
      <p:pic>
        <p:nvPicPr>
          <p:cNvPr id="23" name="Image 1" descr="deck/tn01.png"/>
          <p:cNvPicPr>
            <a:picLocks noChangeAspect="1"/>
          </p:cNvPicPr>
          <p:nvPr/>
        </p:nvPicPr>
        <p:blipFill>
          <a:blip r:embed="rId14">
            <a:alphaModFix amt="92000"/>
          </a:blip>
          <a:stretch>
            <a:fillRect/>
          </a:stretch>
        </p:blipFill>
        <p:spPr>
          <a:xfrm>
            <a:off x="8851392" y="3611880"/>
            <a:ext cx="274320" cy="594360"/>
          </a:xfrm>
          <a:prstGeom prst="rect">
            <a:avLst/>
          </a:prstGeom>
        </p:spPr>
      </p:pic>
      <p:pic>
        <p:nvPicPr>
          <p:cNvPr id="24" name="Image 1" descr="deck/tn01.png"/>
          <p:cNvPicPr>
            <a:picLocks noChangeAspect="1"/>
          </p:cNvPicPr>
          <p:nvPr/>
        </p:nvPicPr>
        <p:blipFill>
          <a:blip r:embed="rId15">
            <a:alphaModFix amt="92000"/>
          </a:blip>
          <a:stretch>
            <a:fillRect/>
          </a:stretch>
        </p:blipFill>
        <p:spPr>
          <a:xfrm>
            <a:off x="9180576" y="3611880"/>
            <a:ext cx="274320" cy="594360"/>
          </a:xfrm>
          <a:prstGeom prst="rect">
            <a:avLst/>
          </a:prstGeom>
        </p:spPr>
      </p:pic>
      <p:pic>
        <p:nvPicPr>
          <p:cNvPr id="25" name="Image 1" descr="deck/tn01.png"/>
          <p:cNvPicPr>
            <a:picLocks noChangeAspect="1"/>
          </p:cNvPicPr>
          <p:nvPr/>
        </p:nvPicPr>
        <p:blipFill>
          <a:blip r:embed="rId16">
            <a:alphaModFix amt="92000"/>
          </a:blip>
          <a:stretch>
            <a:fillRect/>
          </a:stretch>
        </p:blipFill>
        <p:spPr>
          <a:xfrm>
            <a:off x="9509760" y="3611880"/>
            <a:ext cx="274320" cy="594360"/>
          </a:xfrm>
          <a:prstGeom prst="rect">
            <a:avLst/>
          </a:prstGeom>
        </p:spPr>
      </p:pic>
      <p:pic>
        <p:nvPicPr>
          <p:cNvPr id="26" name="Image 1" descr="deck/tn01.png"/>
          <p:cNvPicPr>
            <a:picLocks noChangeAspect="1"/>
          </p:cNvPicPr>
          <p:nvPr/>
        </p:nvPicPr>
        <p:blipFill>
          <a:blip r:embed="rId17">
            <a:alphaModFix amt="92000"/>
          </a:blip>
          <a:stretch>
            <a:fillRect/>
          </a:stretch>
        </p:blipFill>
        <p:spPr>
          <a:xfrm>
            <a:off x="9838944" y="3611880"/>
            <a:ext cx="274320" cy="594360"/>
          </a:xfrm>
          <a:prstGeom prst="rect">
            <a:avLst/>
          </a:prstGeom>
        </p:spPr>
      </p:pic>
      <p:pic>
        <p:nvPicPr>
          <p:cNvPr id="27" name="Image 1" descr="deck/tn01.png"/>
          <p:cNvPicPr>
            <a:picLocks noChangeAspect="1"/>
          </p:cNvPicPr>
          <p:nvPr/>
        </p:nvPicPr>
        <p:blipFill>
          <a:blip r:embed="rId18">
            <a:alphaModFix amt="92000"/>
          </a:blip>
          <a:stretch>
            <a:fillRect/>
          </a:stretch>
        </p:blipFill>
        <p:spPr>
          <a:xfrm>
            <a:off x="5230368" y="4261104"/>
            <a:ext cx="274320" cy="594360"/>
          </a:xfrm>
          <a:prstGeom prst="rect">
            <a:avLst/>
          </a:prstGeom>
        </p:spPr>
      </p:pic>
      <p:pic>
        <p:nvPicPr>
          <p:cNvPr id="28" name="Image 1" descr="deck/tn01.png"/>
          <p:cNvPicPr>
            <a:picLocks noChangeAspect="1"/>
          </p:cNvPicPr>
          <p:nvPr/>
        </p:nvPicPr>
        <p:blipFill>
          <a:blip r:embed="rId19">
            <a:alphaModFix amt="92000"/>
          </a:blip>
          <a:stretch>
            <a:fillRect/>
          </a:stretch>
        </p:blipFill>
        <p:spPr>
          <a:xfrm>
            <a:off x="5559552" y="4261104"/>
            <a:ext cx="274320" cy="594360"/>
          </a:xfrm>
          <a:prstGeom prst="rect">
            <a:avLst/>
          </a:prstGeom>
        </p:spPr>
      </p:pic>
      <p:pic>
        <p:nvPicPr>
          <p:cNvPr id="29" name="Image 1" descr="deck/tn01.png"/>
          <p:cNvPicPr>
            <a:picLocks noChangeAspect="1"/>
          </p:cNvPicPr>
          <p:nvPr/>
        </p:nvPicPr>
        <p:blipFill>
          <a:blip r:embed="rId20">
            <a:alphaModFix amt="92000"/>
          </a:blip>
          <a:stretch>
            <a:fillRect/>
          </a:stretch>
        </p:blipFill>
        <p:spPr>
          <a:xfrm>
            <a:off x="5888736" y="4261104"/>
            <a:ext cx="274320" cy="594360"/>
          </a:xfrm>
          <a:prstGeom prst="rect">
            <a:avLst/>
          </a:prstGeom>
        </p:spPr>
      </p:pic>
      <p:pic>
        <p:nvPicPr>
          <p:cNvPr id="30" name="Image 1" descr="deck/tn01.png"/>
          <p:cNvPicPr>
            <a:picLocks noChangeAspect="1"/>
          </p:cNvPicPr>
          <p:nvPr/>
        </p:nvPicPr>
        <p:blipFill>
          <a:blip r:embed="rId21">
            <a:alphaModFix amt="92000"/>
          </a:blip>
          <a:stretch>
            <a:fillRect/>
          </a:stretch>
        </p:blipFill>
        <p:spPr>
          <a:xfrm>
            <a:off x="6217920" y="4261104"/>
            <a:ext cx="274320" cy="594360"/>
          </a:xfrm>
          <a:prstGeom prst="rect">
            <a:avLst/>
          </a:prstGeom>
        </p:spPr>
      </p:pic>
      <p:pic>
        <p:nvPicPr>
          <p:cNvPr id="31" name="Image 1" descr="deck/tn01.png"/>
          <p:cNvPicPr>
            <a:picLocks noChangeAspect="1"/>
          </p:cNvPicPr>
          <p:nvPr/>
        </p:nvPicPr>
        <p:blipFill>
          <a:blip r:embed="rId22">
            <a:alphaModFix amt="92000"/>
          </a:blip>
          <a:stretch>
            <a:fillRect/>
          </a:stretch>
        </p:blipFill>
        <p:spPr>
          <a:xfrm>
            <a:off x="6547104" y="4261104"/>
            <a:ext cx="274320" cy="594360"/>
          </a:xfrm>
          <a:prstGeom prst="rect">
            <a:avLst/>
          </a:prstGeom>
        </p:spPr>
      </p:pic>
      <p:pic>
        <p:nvPicPr>
          <p:cNvPr id="32" name="Image 1" descr="deck/tn01.png"/>
          <p:cNvPicPr>
            <a:picLocks noChangeAspect="1"/>
          </p:cNvPicPr>
          <p:nvPr/>
        </p:nvPicPr>
        <p:blipFill>
          <a:blip r:embed="rId23">
            <a:alphaModFix amt="92000"/>
          </a:blip>
          <a:stretch>
            <a:fillRect/>
          </a:stretch>
        </p:blipFill>
        <p:spPr>
          <a:xfrm>
            <a:off x="6876288" y="4261104"/>
            <a:ext cx="274320" cy="594360"/>
          </a:xfrm>
          <a:prstGeom prst="rect">
            <a:avLst/>
          </a:prstGeom>
        </p:spPr>
      </p:pic>
      <p:pic>
        <p:nvPicPr>
          <p:cNvPr id="33" name="Image 1" descr="deck/tn01.png"/>
          <p:cNvPicPr>
            <a:picLocks noChangeAspect="1"/>
          </p:cNvPicPr>
          <p:nvPr/>
        </p:nvPicPr>
        <p:blipFill>
          <a:blip r:embed="rId24">
            <a:alphaModFix amt="92000"/>
          </a:blip>
          <a:stretch>
            <a:fillRect/>
          </a:stretch>
        </p:blipFill>
        <p:spPr>
          <a:xfrm>
            <a:off x="7205472" y="4261104"/>
            <a:ext cx="274320" cy="594360"/>
          </a:xfrm>
          <a:prstGeom prst="rect">
            <a:avLst/>
          </a:prstGeom>
        </p:spPr>
      </p:pic>
      <p:pic>
        <p:nvPicPr>
          <p:cNvPr id="34" name="Image 1" descr="deck/tn01.png"/>
          <p:cNvPicPr>
            <a:picLocks noChangeAspect="1"/>
          </p:cNvPicPr>
          <p:nvPr/>
        </p:nvPicPr>
        <p:blipFill>
          <a:blip r:embed="rId25">
            <a:alphaModFix amt="92000"/>
          </a:blip>
          <a:stretch>
            <a:fillRect/>
          </a:stretch>
        </p:blipFill>
        <p:spPr>
          <a:xfrm>
            <a:off x="7534656" y="4261104"/>
            <a:ext cx="274320" cy="594360"/>
          </a:xfrm>
          <a:prstGeom prst="rect">
            <a:avLst/>
          </a:prstGeom>
        </p:spPr>
      </p:pic>
      <p:pic>
        <p:nvPicPr>
          <p:cNvPr id="35" name="Image 1" descr="deck/tn01.png"/>
          <p:cNvPicPr>
            <a:picLocks noChangeAspect="1"/>
          </p:cNvPicPr>
          <p:nvPr/>
        </p:nvPicPr>
        <p:blipFill>
          <a:blip r:embed="rId26">
            <a:alphaModFix amt="92000"/>
          </a:blip>
          <a:stretch>
            <a:fillRect/>
          </a:stretch>
        </p:blipFill>
        <p:spPr>
          <a:xfrm>
            <a:off x="7863840" y="4261104"/>
            <a:ext cx="274320" cy="594360"/>
          </a:xfrm>
          <a:prstGeom prst="rect">
            <a:avLst/>
          </a:prstGeom>
        </p:spPr>
      </p:pic>
      <p:pic>
        <p:nvPicPr>
          <p:cNvPr id="36" name="Image 1" descr="deck/tn01.png"/>
          <p:cNvPicPr>
            <a:picLocks noChangeAspect="1"/>
          </p:cNvPicPr>
          <p:nvPr/>
        </p:nvPicPr>
        <p:blipFill>
          <a:blip r:embed="rId27">
            <a:alphaModFix amt="92000"/>
          </a:blip>
          <a:stretch>
            <a:fillRect/>
          </a:stretch>
        </p:blipFill>
        <p:spPr>
          <a:xfrm>
            <a:off x="8193024" y="4261104"/>
            <a:ext cx="274320" cy="594360"/>
          </a:xfrm>
          <a:prstGeom prst="rect">
            <a:avLst/>
          </a:prstGeom>
        </p:spPr>
      </p:pic>
      <p:pic>
        <p:nvPicPr>
          <p:cNvPr id="37" name="Image 1" descr="deck/tn01.png"/>
          <p:cNvPicPr>
            <a:picLocks noChangeAspect="1"/>
          </p:cNvPicPr>
          <p:nvPr/>
        </p:nvPicPr>
        <p:blipFill>
          <a:blip r:embed="rId28">
            <a:alphaModFix amt="92000"/>
          </a:blip>
          <a:stretch>
            <a:fillRect/>
          </a:stretch>
        </p:blipFill>
        <p:spPr>
          <a:xfrm>
            <a:off x="8522208" y="4261104"/>
            <a:ext cx="274320" cy="594360"/>
          </a:xfrm>
          <a:prstGeom prst="rect">
            <a:avLst/>
          </a:prstGeom>
        </p:spPr>
      </p:pic>
      <p:pic>
        <p:nvPicPr>
          <p:cNvPr id="38" name="Image 1" descr="deck/tn01.png"/>
          <p:cNvPicPr>
            <a:picLocks noChangeAspect="1"/>
          </p:cNvPicPr>
          <p:nvPr/>
        </p:nvPicPr>
        <p:blipFill>
          <a:blip r:embed="rId29">
            <a:alphaModFix amt="92000"/>
          </a:blip>
          <a:stretch>
            <a:fillRect/>
          </a:stretch>
        </p:blipFill>
        <p:spPr>
          <a:xfrm>
            <a:off x="8851392" y="4261104"/>
            <a:ext cx="274320" cy="594360"/>
          </a:xfrm>
          <a:prstGeom prst="rect">
            <a:avLst/>
          </a:prstGeom>
        </p:spPr>
      </p:pic>
      <p:pic>
        <p:nvPicPr>
          <p:cNvPr id="39" name="Image 1" descr="deck/tn01.png"/>
          <p:cNvPicPr>
            <a:picLocks noChangeAspect="1"/>
          </p:cNvPicPr>
          <p:nvPr/>
        </p:nvPicPr>
        <p:blipFill>
          <a:blip r:embed="rId30">
            <a:alphaModFix amt="92000"/>
          </a:blip>
          <a:stretch>
            <a:fillRect/>
          </a:stretch>
        </p:blipFill>
        <p:spPr>
          <a:xfrm>
            <a:off x="9180576" y="4261104"/>
            <a:ext cx="274320" cy="594360"/>
          </a:xfrm>
          <a:prstGeom prst="rect">
            <a:avLst/>
          </a:prstGeom>
        </p:spPr>
      </p:pic>
      <p:pic>
        <p:nvPicPr>
          <p:cNvPr id="40" name="Image 1" descr="deck/tn01.png"/>
          <p:cNvPicPr>
            <a:picLocks noChangeAspect="1"/>
          </p:cNvPicPr>
          <p:nvPr/>
        </p:nvPicPr>
        <p:blipFill>
          <a:blip r:embed="rId31">
            <a:alphaModFix amt="92000"/>
          </a:blip>
          <a:stretch>
            <a:fillRect/>
          </a:stretch>
        </p:blipFill>
        <p:spPr>
          <a:xfrm>
            <a:off x="9509760" y="4261104"/>
            <a:ext cx="274320" cy="594360"/>
          </a:xfrm>
          <a:prstGeom prst="rect">
            <a:avLst/>
          </a:prstGeom>
        </p:spPr>
      </p:pic>
      <p:pic>
        <p:nvPicPr>
          <p:cNvPr id="41" name="Image 1" descr="deck/tn01.png"/>
          <p:cNvPicPr>
            <a:picLocks noChangeAspect="1"/>
          </p:cNvPicPr>
          <p:nvPr/>
        </p:nvPicPr>
        <p:blipFill>
          <a:blip r:embed="rId32">
            <a:alphaModFix amt="92000"/>
          </a:blip>
          <a:stretch>
            <a:fillRect/>
          </a:stretch>
        </p:blipFill>
        <p:spPr>
          <a:xfrm>
            <a:off x="9838944" y="4261104"/>
            <a:ext cx="274320" cy="594360"/>
          </a:xfrm>
          <a:prstGeom prst="rect">
            <a:avLst/>
          </a:prstGeom>
        </p:spPr>
      </p:pic>
      <p:pic>
        <p:nvPicPr>
          <p:cNvPr id="42" name="Image 1" descr="deck/tn01.png"/>
          <p:cNvPicPr>
            <a:picLocks noChangeAspect="1"/>
          </p:cNvPicPr>
          <p:nvPr/>
        </p:nvPicPr>
        <p:blipFill>
          <a:blip r:embed="rId33">
            <a:alphaModFix amt="92000"/>
          </a:blip>
          <a:stretch>
            <a:fillRect/>
          </a:stretch>
        </p:blipFill>
        <p:spPr>
          <a:xfrm>
            <a:off x="5230368" y="4910328"/>
            <a:ext cx="274320" cy="594360"/>
          </a:xfrm>
          <a:prstGeom prst="rect">
            <a:avLst/>
          </a:prstGeom>
        </p:spPr>
      </p:pic>
      <p:pic>
        <p:nvPicPr>
          <p:cNvPr id="43" name="Image 1" descr="deck/tn01.png"/>
          <p:cNvPicPr>
            <a:picLocks noChangeAspect="1"/>
          </p:cNvPicPr>
          <p:nvPr/>
        </p:nvPicPr>
        <p:blipFill>
          <a:blip r:embed="rId34">
            <a:alphaModFix amt="92000"/>
          </a:blip>
          <a:stretch>
            <a:fillRect/>
          </a:stretch>
        </p:blipFill>
        <p:spPr>
          <a:xfrm>
            <a:off x="5559552" y="4910328"/>
            <a:ext cx="274320" cy="594360"/>
          </a:xfrm>
          <a:prstGeom prst="rect">
            <a:avLst/>
          </a:prstGeom>
        </p:spPr>
      </p:pic>
      <p:pic>
        <p:nvPicPr>
          <p:cNvPr id="44" name="Image 1" descr="deck/tn01.png"/>
          <p:cNvPicPr>
            <a:picLocks noChangeAspect="1"/>
          </p:cNvPicPr>
          <p:nvPr/>
        </p:nvPicPr>
        <p:blipFill>
          <a:blip r:embed="rId35">
            <a:alphaModFix amt="92000"/>
          </a:blip>
          <a:stretch>
            <a:fillRect/>
          </a:stretch>
        </p:blipFill>
        <p:spPr>
          <a:xfrm>
            <a:off x="5888736" y="4910328"/>
            <a:ext cx="274320" cy="594360"/>
          </a:xfrm>
          <a:prstGeom prst="rect">
            <a:avLst/>
          </a:prstGeom>
        </p:spPr>
      </p:pic>
      <p:pic>
        <p:nvPicPr>
          <p:cNvPr id="45" name="Image 1" descr="deck/tn01.png"/>
          <p:cNvPicPr>
            <a:picLocks noChangeAspect="1"/>
          </p:cNvPicPr>
          <p:nvPr/>
        </p:nvPicPr>
        <p:blipFill>
          <a:blip r:embed="rId36">
            <a:alphaModFix amt="92000"/>
          </a:blip>
          <a:stretch>
            <a:fillRect/>
          </a:stretch>
        </p:blipFill>
        <p:spPr>
          <a:xfrm>
            <a:off x="6217920" y="4910328"/>
            <a:ext cx="274320" cy="594360"/>
          </a:xfrm>
          <a:prstGeom prst="rect">
            <a:avLst/>
          </a:prstGeom>
        </p:spPr>
      </p:pic>
      <p:pic>
        <p:nvPicPr>
          <p:cNvPr id="46" name="Image 1" descr="deck/tn01.png"/>
          <p:cNvPicPr>
            <a:picLocks noChangeAspect="1"/>
          </p:cNvPicPr>
          <p:nvPr/>
        </p:nvPicPr>
        <p:blipFill>
          <a:blip r:embed="rId37">
            <a:alphaModFix amt="92000"/>
          </a:blip>
          <a:stretch>
            <a:fillRect/>
          </a:stretch>
        </p:blipFill>
        <p:spPr>
          <a:xfrm>
            <a:off x="6547104" y="4910328"/>
            <a:ext cx="274320" cy="594360"/>
          </a:xfrm>
          <a:prstGeom prst="rect">
            <a:avLst/>
          </a:prstGeom>
        </p:spPr>
      </p:pic>
      <p:pic>
        <p:nvPicPr>
          <p:cNvPr id="47" name="Image 1" descr="deck/tn01.png"/>
          <p:cNvPicPr>
            <a:picLocks noChangeAspect="1"/>
          </p:cNvPicPr>
          <p:nvPr/>
        </p:nvPicPr>
        <p:blipFill>
          <a:blip r:embed="rId38">
            <a:alphaModFix amt="92000"/>
          </a:blip>
          <a:stretch>
            <a:fillRect/>
          </a:stretch>
        </p:blipFill>
        <p:spPr>
          <a:xfrm>
            <a:off x="6876288" y="4910328"/>
            <a:ext cx="274320" cy="594360"/>
          </a:xfrm>
          <a:prstGeom prst="rect">
            <a:avLst/>
          </a:prstGeom>
        </p:spPr>
      </p:pic>
      <p:pic>
        <p:nvPicPr>
          <p:cNvPr id="48" name="Image 1" descr="deck/tn01.png"/>
          <p:cNvPicPr>
            <a:picLocks noChangeAspect="1"/>
          </p:cNvPicPr>
          <p:nvPr/>
        </p:nvPicPr>
        <p:blipFill>
          <a:blip r:embed="rId39">
            <a:alphaModFix amt="92000"/>
          </a:blip>
          <a:stretch>
            <a:fillRect/>
          </a:stretch>
        </p:blipFill>
        <p:spPr>
          <a:xfrm>
            <a:off x="7205472" y="4910328"/>
            <a:ext cx="274320" cy="594360"/>
          </a:xfrm>
          <a:prstGeom prst="rect">
            <a:avLst/>
          </a:prstGeom>
        </p:spPr>
      </p:pic>
      <p:pic>
        <p:nvPicPr>
          <p:cNvPr id="49" name="Image 1" descr="deck/tn01.png"/>
          <p:cNvPicPr>
            <a:picLocks noChangeAspect="1"/>
          </p:cNvPicPr>
          <p:nvPr/>
        </p:nvPicPr>
        <p:blipFill>
          <a:blip r:embed="rId40">
            <a:alphaModFix amt="92000"/>
          </a:blip>
          <a:stretch>
            <a:fillRect/>
          </a:stretch>
        </p:blipFill>
        <p:spPr>
          <a:xfrm>
            <a:off x="7534656" y="4910328"/>
            <a:ext cx="274320" cy="594360"/>
          </a:xfrm>
          <a:prstGeom prst="rect">
            <a:avLst/>
          </a:prstGeom>
        </p:spPr>
      </p:pic>
      <p:pic>
        <p:nvPicPr>
          <p:cNvPr id="50" name="Image 1" descr="deck/tn01.png"/>
          <p:cNvPicPr>
            <a:picLocks noChangeAspect="1"/>
          </p:cNvPicPr>
          <p:nvPr/>
        </p:nvPicPr>
        <p:blipFill>
          <a:blip r:embed="rId41">
            <a:alphaModFix amt="92000"/>
          </a:blip>
          <a:stretch>
            <a:fillRect/>
          </a:stretch>
        </p:blipFill>
        <p:spPr>
          <a:xfrm>
            <a:off x="7863840" y="4910328"/>
            <a:ext cx="274320" cy="594360"/>
          </a:xfrm>
          <a:prstGeom prst="rect">
            <a:avLst/>
          </a:prstGeom>
        </p:spPr>
      </p:pic>
      <p:pic>
        <p:nvPicPr>
          <p:cNvPr id="51" name="Image 1" descr="deck/tn01.png"/>
          <p:cNvPicPr>
            <a:picLocks noChangeAspect="1"/>
          </p:cNvPicPr>
          <p:nvPr/>
        </p:nvPicPr>
        <p:blipFill>
          <a:blip r:embed="rId42">
            <a:alphaModFix amt="92000"/>
          </a:blip>
          <a:stretch>
            <a:fillRect/>
          </a:stretch>
        </p:blipFill>
        <p:spPr>
          <a:xfrm>
            <a:off x="8193024" y="4910328"/>
            <a:ext cx="274320" cy="594360"/>
          </a:xfrm>
          <a:prstGeom prst="rect">
            <a:avLst/>
          </a:prstGeom>
        </p:spPr>
      </p:pic>
      <p:pic>
        <p:nvPicPr>
          <p:cNvPr id="52" name="Image 1" descr="deck/tn01.png"/>
          <p:cNvPicPr>
            <a:picLocks noChangeAspect="1"/>
          </p:cNvPicPr>
          <p:nvPr/>
        </p:nvPicPr>
        <p:blipFill>
          <a:blip r:embed="rId43">
            <a:alphaModFix amt="92000"/>
          </a:blip>
          <a:stretch>
            <a:fillRect/>
          </a:stretch>
        </p:blipFill>
        <p:spPr>
          <a:xfrm>
            <a:off x="8522208" y="4910328"/>
            <a:ext cx="274320" cy="594360"/>
          </a:xfrm>
          <a:prstGeom prst="rect">
            <a:avLst/>
          </a:prstGeom>
        </p:spPr>
      </p:pic>
      <p:pic>
        <p:nvPicPr>
          <p:cNvPr id="53" name="Image 1" descr="deck/tn01.png"/>
          <p:cNvPicPr>
            <a:picLocks noChangeAspect="1"/>
          </p:cNvPicPr>
          <p:nvPr/>
        </p:nvPicPr>
        <p:blipFill>
          <a:blip r:embed="rId44">
            <a:alphaModFix amt="92000"/>
          </a:blip>
          <a:stretch>
            <a:fillRect/>
          </a:stretch>
        </p:blipFill>
        <p:spPr>
          <a:xfrm>
            <a:off x="8851392" y="4910328"/>
            <a:ext cx="274320" cy="594360"/>
          </a:xfrm>
          <a:prstGeom prst="rect">
            <a:avLst/>
          </a:prstGeom>
        </p:spPr>
      </p:pic>
      <p:pic>
        <p:nvPicPr>
          <p:cNvPr id="54" name="Image 1" descr="deck/tn01.png"/>
          <p:cNvPicPr>
            <a:picLocks noChangeAspect="1"/>
          </p:cNvPicPr>
          <p:nvPr/>
        </p:nvPicPr>
        <p:blipFill>
          <a:blip r:embed="rId45">
            <a:alphaModFix amt="92000"/>
          </a:blip>
          <a:stretch>
            <a:fillRect/>
          </a:stretch>
        </p:blipFill>
        <p:spPr>
          <a:xfrm>
            <a:off x="9180576" y="4910328"/>
            <a:ext cx="274320" cy="594360"/>
          </a:xfrm>
          <a:prstGeom prst="rect">
            <a:avLst/>
          </a:prstGeom>
        </p:spPr>
      </p:pic>
      <p:pic>
        <p:nvPicPr>
          <p:cNvPr id="55" name="Image 1" descr="deck/tn01.png"/>
          <p:cNvPicPr>
            <a:picLocks noChangeAspect="1"/>
          </p:cNvPicPr>
          <p:nvPr/>
        </p:nvPicPr>
        <p:blipFill>
          <a:blip r:embed="rId46">
            <a:alphaModFix amt="92000"/>
          </a:blip>
          <a:stretch>
            <a:fillRect/>
          </a:stretch>
        </p:blipFill>
        <p:spPr>
          <a:xfrm>
            <a:off x="9509760" y="4910328"/>
            <a:ext cx="274320" cy="594360"/>
          </a:xfrm>
          <a:prstGeom prst="rect">
            <a:avLst/>
          </a:prstGeom>
        </p:spPr>
      </p:pic>
      <p:pic>
        <p:nvPicPr>
          <p:cNvPr id="56" name="Image 1" descr="deck/tn01.png"/>
          <p:cNvPicPr>
            <a:picLocks noChangeAspect="1"/>
          </p:cNvPicPr>
          <p:nvPr/>
        </p:nvPicPr>
        <p:blipFill>
          <a:blip r:embed="rId47">
            <a:alphaModFix amt="92000"/>
          </a:blip>
          <a:stretch>
            <a:fillRect/>
          </a:stretch>
        </p:blipFill>
        <p:spPr>
          <a:xfrm>
            <a:off x="9838944" y="4910328"/>
            <a:ext cx="274320" cy="594360"/>
          </a:xfrm>
          <a:prstGeom prst="rect">
            <a:avLst/>
          </a:prstGeom>
        </p:spPr>
      </p:pic>
      <p:sp>
        <p:nvSpPr>
          <p:cNvPr id="57" name="Text 9"/>
          <p:cNvSpPr/>
          <p:nvPr/>
        </p:nvSpPr>
        <p:spPr>
          <a:xfrm>
            <a:off x="5230368" y="5559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6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screens  ·  7 stages</a:t>
            </a:r>
            <a:endParaRPr lang="en-US" sz="900" dirty="0"/>
          </a:p>
        </p:txBody>
      </p:sp>
      <p:sp>
        <p:nvSpPr>
          <p:cNvPr id="58" name="Shape 10"/>
          <p:cNvSpPr/>
          <p:nvPr/>
        </p:nvSpPr>
        <p:spPr>
          <a:xfrm>
            <a:off x="822960" y="5943600"/>
            <a:ext cx="10545775" cy="0"/>
          </a:xfrm>
          <a:prstGeom prst="line">
            <a:avLst/>
          </a:prstGeom>
          <a:noFill/>
          <a:ln w="9525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11"/>
          <p:cNvSpPr/>
          <p:nvPr/>
        </p:nvSpPr>
        <p:spPr>
          <a:xfrm>
            <a:off x="822960" y="60533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discussion draft  ·  October 2026</a:t>
            </a:r>
            <a:endParaRPr lang="en-US" sz="950" dirty="0"/>
          </a:p>
        </p:txBody>
      </p:sp>
      <p:sp>
        <p:nvSpPr>
          <p:cNvPr id="60" name="Text 12"/>
          <p:cNvSpPr/>
          <p:nvPr/>
        </p:nvSpPr>
        <p:spPr>
          <a:xfrm>
            <a:off x="5852160" y="6053328"/>
            <a:ext cx="5513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kern="0" spc="4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1–34 from the current app build; 35–45 carried forward from Journey_7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20624"/>
            <a:ext cx="1444752" cy="3383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914400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kern="0" spc="-7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journey end to end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576072" y="142646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stages. The patient is never asked to do work the record can do for them.</a:t>
            </a:r>
            <a:endParaRPr lang="en-US" sz="1300" dirty="0"/>
          </a:p>
        </p:txBody>
      </p:sp>
      <p:sp>
        <p:nvSpPr>
          <p:cNvPr id="5" name="Shape 54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55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7" name="Text 56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800" dirty="0"/>
          </a:p>
        </p:txBody>
      </p:sp>
      <p:sp>
        <p:nvSpPr>
          <p:cNvPr id="8" name="Text 57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2"/>
          <p:cNvSpPr/>
          <p:nvPr/>
        </p:nvSpPr>
        <p:spPr>
          <a:xfrm>
            <a:off x="566928" y="1938528"/>
            <a:ext cx="1453896" cy="402336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E7ED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3"/>
          <p:cNvSpPr/>
          <p:nvPr/>
        </p:nvSpPr>
        <p:spPr>
          <a:xfrm>
            <a:off x="566928" y="1938528"/>
            <a:ext cx="1453896" cy="59436"/>
          </a:xfrm>
          <a:prstGeom prst="rect">
            <a:avLst/>
          </a:prstGeom>
          <a:solidFill>
            <a:srgbClr val="3E645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4"/>
          <p:cNvSpPr/>
          <p:nvPr/>
        </p:nvSpPr>
        <p:spPr>
          <a:xfrm>
            <a:off x="676656" y="210312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5"/>
          <p:cNvSpPr/>
          <p:nvPr/>
        </p:nvSpPr>
        <p:spPr>
          <a:xfrm>
            <a:off x="676656" y="2359152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9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&amp; SIGN IN</a:t>
            </a:r>
            <a:endParaRPr lang="en-US" sz="1000" dirty="0"/>
          </a:p>
        </p:txBody>
      </p:sp>
      <p:sp>
        <p:nvSpPr>
          <p:cNvPr id="13" name="Text 6"/>
          <p:cNvSpPr/>
          <p:nvPr/>
        </p:nvSpPr>
        <p:spPr>
          <a:xfrm>
            <a:off x="676656" y="2807208"/>
            <a:ext cx="1234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clinic's invitation email to a signed in patient, with one code.</a:t>
            </a:r>
            <a:endParaRPr lang="en-US" sz="920" dirty="0"/>
          </a:p>
        </p:txBody>
      </p:sp>
      <p:pic>
        <p:nvPicPr>
          <p:cNvPr id="14" name="Image 1" descr="deck/tn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3639312"/>
            <a:ext cx="214884" cy="46543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6352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pic>
        <p:nvPicPr>
          <p:cNvPr id="16" name="Image 1" descr="deck/tn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3639312"/>
            <a:ext cx="214884" cy="46543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101498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50" dirty="0"/>
          </a:p>
        </p:txBody>
      </p:sp>
      <p:pic>
        <p:nvPicPr>
          <p:cNvPr id="18" name="Image 1" descr="deck/tn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2164" y="3639312"/>
            <a:ext cx="214884" cy="465430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126644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50" dirty="0"/>
          </a:p>
        </p:txBody>
      </p:sp>
      <p:pic>
        <p:nvPicPr>
          <p:cNvPr id="20" name="Image 1" descr="deck/tn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3624" y="3639312"/>
            <a:ext cx="214884" cy="465430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151790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50" dirty="0"/>
          </a:p>
        </p:txBody>
      </p:sp>
      <p:sp>
        <p:nvSpPr>
          <p:cNvPr id="22" name="Text 14"/>
          <p:cNvSpPr/>
          <p:nvPr/>
        </p:nvSpPr>
        <p:spPr>
          <a:xfrm>
            <a:off x="2020824" y="365760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8D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23" name="Shape 2"/>
          <p:cNvSpPr/>
          <p:nvPr/>
        </p:nvSpPr>
        <p:spPr>
          <a:xfrm>
            <a:off x="2167128" y="1938528"/>
            <a:ext cx="1453896" cy="402336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E7ED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3"/>
          <p:cNvSpPr/>
          <p:nvPr/>
        </p:nvSpPr>
        <p:spPr>
          <a:xfrm>
            <a:off x="2167128" y="1938528"/>
            <a:ext cx="1453896" cy="59436"/>
          </a:xfrm>
          <a:prstGeom prst="rect">
            <a:avLst/>
          </a:prstGeom>
          <a:solidFill>
            <a:srgbClr val="3E645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4"/>
          <p:cNvSpPr/>
          <p:nvPr/>
        </p:nvSpPr>
        <p:spPr>
          <a:xfrm>
            <a:off x="2276856" y="210312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26" name="Text 5"/>
          <p:cNvSpPr/>
          <p:nvPr/>
        </p:nvSpPr>
        <p:spPr>
          <a:xfrm>
            <a:off x="2276856" y="2359152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9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CONSENT</a:t>
            </a:r>
            <a:endParaRPr lang="en-US" sz="1000" dirty="0"/>
          </a:p>
        </p:txBody>
      </p:sp>
      <p:sp>
        <p:nvSpPr>
          <p:cNvPr id="27" name="Text 6"/>
          <p:cNvSpPr/>
          <p:nvPr/>
        </p:nvSpPr>
        <p:spPr>
          <a:xfrm>
            <a:off x="2276856" y="2807208"/>
            <a:ext cx="1234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clinic's details, then one consent before anything is read.</a:t>
            </a:r>
            <a:endParaRPr lang="en-US" sz="920" dirty="0"/>
          </a:p>
        </p:txBody>
      </p:sp>
      <p:pic>
        <p:nvPicPr>
          <p:cNvPr id="28" name="Image 1" descr="deck/tn0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5174" y="3639312"/>
            <a:ext cx="214884" cy="465430"/>
          </a:xfrm>
          <a:prstGeom prst="rect">
            <a:avLst/>
          </a:prstGeom>
        </p:spPr>
      </p:pic>
      <p:sp>
        <p:nvSpPr>
          <p:cNvPr id="29" name="Text 7"/>
          <p:cNvSpPr/>
          <p:nvPr/>
        </p:nvSpPr>
        <p:spPr>
          <a:xfrm>
            <a:off x="248945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50" dirty="0"/>
          </a:p>
        </p:txBody>
      </p:sp>
      <p:pic>
        <p:nvPicPr>
          <p:cNvPr id="30" name="Image 1" descr="deck/tn0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6634" y="3639312"/>
            <a:ext cx="214884" cy="465430"/>
          </a:xfrm>
          <a:prstGeom prst="rect">
            <a:avLst/>
          </a:prstGeom>
        </p:spPr>
      </p:pic>
      <p:sp>
        <p:nvSpPr>
          <p:cNvPr id="31" name="Text 7"/>
          <p:cNvSpPr/>
          <p:nvPr/>
        </p:nvSpPr>
        <p:spPr>
          <a:xfrm>
            <a:off x="274091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50" dirty="0"/>
          </a:p>
        </p:txBody>
      </p:sp>
      <p:pic>
        <p:nvPicPr>
          <p:cNvPr id="32" name="Image 1" descr="deck/tn0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38094" y="3639312"/>
            <a:ext cx="214884" cy="465430"/>
          </a:xfrm>
          <a:prstGeom prst="rect">
            <a:avLst/>
          </a:prstGeom>
        </p:spPr>
      </p:pic>
      <p:sp>
        <p:nvSpPr>
          <p:cNvPr id="33" name="Text 7"/>
          <p:cNvSpPr/>
          <p:nvPr/>
        </p:nvSpPr>
        <p:spPr>
          <a:xfrm>
            <a:off x="299237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50" dirty="0"/>
          </a:p>
        </p:txBody>
      </p:sp>
      <p:sp>
        <p:nvSpPr>
          <p:cNvPr id="34" name="Text 14"/>
          <p:cNvSpPr/>
          <p:nvPr/>
        </p:nvSpPr>
        <p:spPr>
          <a:xfrm>
            <a:off x="3621024" y="365760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8D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35" name="Shape 2"/>
          <p:cNvSpPr/>
          <p:nvPr/>
        </p:nvSpPr>
        <p:spPr>
          <a:xfrm>
            <a:off x="3767328" y="1938528"/>
            <a:ext cx="1453896" cy="402336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E7ED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"/>
          <p:cNvSpPr/>
          <p:nvPr/>
        </p:nvSpPr>
        <p:spPr>
          <a:xfrm>
            <a:off x="3767328" y="1938528"/>
            <a:ext cx="1453896" cy="59436"/>
          </a:xfrm>
          <a:prstGeom prst="rect">
            <a:avLst/>
          </a:prstGeom>
          <a:solidFill>
            <a:srgbClr val="3E645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4"/>
          <p:cNvSpPr/>
          <p:nvPr/>
        </p:nvSpPr>
        <p:spPr>
          <a:xfrm>
            <a:off x="3877056" y="210312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38" name="Text 5"/>
          <p:cNvSpPr/>
          <p:nvPr/>
        </p:nvSpPr>
        <p:spPr>
          <a:xfrm>
            <a:off x="3877056" y="2359152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9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1000" dirty="0"/>
          </a:p>
        </p:txBody>
      </p:sp>
      <p:sp>
        <p:nvSpPr>
          <p:cNvPr id="39" name="Text 6"/>
          <p:cNvSpPr/>
          <p:nvPr/>
        </p:nvSpPr>
        <p:spPr>
          <a:xfrm>
            <a:off x="3877056" y="2807208"/>
            <a:ext cx="1234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why, in a conversation, then the record builds in front of them.</a:t>
            </a:r>
            <a:endParaRPr lang="en-US" sz="920" dirty="0"/>
          </a:p>
        </p:txBody>
      </p:sp>
      <p:pic>
        <p:nvPicPr>
          <p:cNvPr id="40" name="Image 1" descr="deck/tn0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83914" y="3639312"/>
            <a:ext cx="214884" cy="465430"/>
          </a:xfrm>
          <a:prstGeom prst="rect">
            <a:avLst/>
          </a:prstGeom>
        </p:spPr>
      </p:pic>
      <p:sp>
        <p:nvSpPr>
          <p:cNvPr id="41" name="Text 7"/>
          <p:cNvSpPr/>
          <p:nvPr/>
        </p:nvSpPr>
        <p:spPr>
          <a:xfrm>
            <a:off x="383819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650" dirty="0"/>
          </a:p>
        </p:txBody>
      </p:sp>
      <p:pic>
        <p:nvPicPr>
          <p:cNvPr id="42" name="Image 1" descr="deck/tn0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35374" y="3639312"/>
            <a:ext cx="214884" cy="465430"/>
          </a:xfrm>
          <a:prstGeom prst="rect">
            <a:avLst/>
          </a:prstGeom>
        </p:spPr>
      </p:pic>
      <p:sp>
        <p:nvSpPr>
          <p:cNvPr id="43" name="Text 7"/>
          <p:cNvSpPr/>
          <p:nvPr/>
        </p:nvSpPr>
        <p:spPr>
          <a:xfrm>
            <a:off x="408965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650" dirty="0"/>
          </a:p>
        </p:txBody>
      </p:sp>
      <p:pic>
        <p:nvPicPr>
          <p:cNvPr id="44" name="Image 1" descr="deck/tn0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86834" y="3639312"/>
            <a:ext cx="214884" cy="465430"/>
          </a:xfrm>
          <a:prstGeom prst="rect">
            <a:avLst/>
          </a:prstGeom>
        </p:spPr>
      </p:pic>
      <p:sp>
        <p:nvSpPr>
          <p:cNvPr id="45" name="Text 7"/>
          <p:cNvSpPr/>
          <p:nvPr/>
        </p:nvSpPr>
        <p:spPr>
          <a:xfrm>
            <a:off x="434111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50" dirty="0"/>
          </a:p>
        </p:txBody>
      </p:sp>
      <p:pic>
        <p:nvPicPr>
          <p:cNvPr id="46" name="Image 1" descr="deck/tn0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38294" y="3639312"/>
            <a:ext cx="214884" cy="465430"/>
          </a:xfrm>
          <a:prstGeom prst="rect">
            <a:avLst/>
          </a:prstGeom>
        </p:spPr>
      </p:pic>
      <p:sp>
        <p:nvSpPr>
          <p:cNvPr id="47" name="Text 7"/>
          <p:cNvSpPr/>
          <p:nvPr/>
        </p:nvSpPr>
        <p:spPr>
          <a:xfrm>
            <a:off x="459257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650" dirty="0"/>
          </a:p>
        </p:txBody>
      </p:sp>
      <p:pic>
        <p:nvPicPr>
          <p:cNvPr id="48" name="Image 1" descr="deck/tn0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89754" y="3639312"/>
            <a:ext cx="214884" cy="465430"/>
          </a:xfrm>
          <a:prstGeom prst="rect">
            <a:avLst/>
          </a:prstGeom>
        </p:spPr>
      </p:pic>
      <p:sp>
        <p:nvSpPr>
          <p:cNvPr id="49" name="Text 7"/>
          <p:cNvSpPr/>
          <p:nvPr/>
        </p:nvSpPr>
        <p:spPr>
          <a:xfrm>
            <a:off x="484403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650" dirty="0"/>
          </a:p>
        </p:txBody>
      </p:sp>
      <p:sp>
        <p:nvSpPr>
          <p:cNvPr id="50" name="Text 14"/>
          <p:cNvSpPr/>
          <p:nvPr/>
        </p:nvSpPr>
        <p:spPr>
          <a:xfrm>
            <a:off x="5221224" y="365760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8D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51" name="Shape 2"/>
          <p:cNvSpPr/>
          <p:nvPr/>
        </p:nvSpPr>
        <p:spPr>
          <a:xfrm>
            <a:off x="5367528" y="1938528"/>
            <a:ext cx="1453896" cy="402336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E7ED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3"/>
          <p:cNvSpPr/>
          <p:nvPr/>
        </p:nvSpPr>
        <p:spPr>
          <a:xfrm>
            <a:off x="5367528" y="1938528"/>
            <a:ext cx="1453896" cy="59436"/>
          </a:xfrm>
          <a:prstGeom prst="rect">
            <a:avLst/>
          </a:prstGeom>
          <a:solidFill>
            <a:srgbClr val="3E645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"/>
          <p:cNvSpPr/>
          <p:nvPr/>
        </p:nvSpPr>
        <p:spPr>
          <a:xfrm>
            <a:off x="5477256" y="210312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54" name="Text 5"/>
          <p:cNvSpPr/>
          <p:nvPr/>
        </p:nvSpPr>
        <p:spPr>
          <a:xfrm>
            <a:off x="5477256" y="2359152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9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55" name="Text 6"/>
          <p:cNvSpPr/>
          <p:nvPr/>
        </p:nvSpPr>
        <p:spPr>
          <a:xfrm>
            <a:off x="5477256" y="2807208"/>
            <a:ext cx="1234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free record: what needs them, trends, to do and Ask Inlay.</a:t>
            </a:r>
            <a:endParaRPr lang="en-US" sz="920" dirty="0"/>
          </a:p>
        </p:txBody>
      </p:sp>
      <p:pic>
        <p:nvPicPr>
          <p:cNvPr id="56" name="Image 1" descr="deck/tn01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84114" y="3639312"/>
            <a:ext cx="214884" cy="465430"/>
          </a:xfrm>
          <a:prstGeom prst="rect">
            <a:avLst/>
          </a:prstGeom>
        </p:spPr>
      </p:pic>
      <p:sp>
        <p:nvSpPr>
          <p:cNvPr id="57" name="Text 7"/>
          <p:cNvSpPr/>
          <p:nvPr/>
        </p:nvSpPr>
        <p:spPr>
          <a:xfrm>
            <a:off x="543839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650" dirty="0"/>
          </a:p>
        </p:txBody>
      </p:sp>
      <p:pic>
        <p:nvPicPr>
          <p:cNvPr id="58" name="Image 1" descr="deck/tn0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35574" y="3639312"/>
            <a:ext cx="214884" cy="465430"/>
          </a:xfrm>
          <a:prstGeom prst="rect">
            <a:avLst/>
          </a:prstGeom>
        </p:spPr>
      </p:pic>
      <p:sp>
        <p:nvSpPr>
          <p:cNvPr id="59" name="Text 7"/>
          <p:cNvSpPr/>
          <p:nvPr/>
        </p:nvSpPr>
        <p:spPr>
          <a:xfrm>
            <a:off x="568985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650" dirty="0"/>
          </a:p>
        </p:txBody>
      </p:sp>
      <p:pic>
        <p:nvPicPr>
          <p:cNvPr id="60" name="Image 1" descr="deck/tn01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87034" y="3639312"/>
            <a:ext cx="214884" cy="465430"/>
          </a:xfrm>
          <a:prstGeom prst="rect">
            <a:avLst/>
          </a:prstGeom>
        </p:spPr>
      </p:pic>
      <p:sp>
        <p:nvSpPr>
          <p:cNvPr id="61" name="Text 7"/>
          <p:cNvSpPr/>
          <p:nvPr/>
        </p:nvSpPr>
        <p:spPr>
          <a:xfrm>
            <a:off x="594131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650" dirty="0"/>
          </a:p>
        </p:txBody>
      </p:sp>
      <p:pic>
        <p:nvPicPr>
          <p:cNvPr id="62" name="Image 1" descr="deck/tn01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38494" y="3639312"/>
            <a:ext cx="214884" cy="465430"/>
          </a:xfrm>
          <a:prstGeom prst="rect">
            <a:avLst/>
          </a:prstGeom>
        </p:spPr>
      </p:pic>
      <p:sp>
        <p:nvSpPr>
          <p:cNvPr id="63" name="Text 7"/>
          <p:cNvSpPr/>
          <p:nvPr/>
        </p:nvSpPr>
        <p:spPr>
          <a:xfrm>
            <a:off x="619277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650" dirty="0"/>
          </a:p>
        </p:txBody>
      </p:sp>
      <p:pic>
        <p:nvPicPr>
          <p:cNvPr id="64" name="Image 1" descr="deck/tn01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89954" y="3639312"/>
            <a:ext cx="214884" cy="465430"/>
          </a:xfrm>
          <a:prstGeom prst="rect">
            <a:avLst/>
          </a:prstGeom>
        </p:spPr>
      </p:pic>
      <p:sp>
        <p:nvSpPr>
          <p:cNvPr id="65" name="Text 7"/>
          <p:cNvSpPr/>
          <p:nvPr/>
        </p:nvSpPr>
        <p:spPr>
          <a:xfrm>
            <a:off x="644423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650" dirty="0"/>
          </a:p>
        </p:txBody>
      </p:sp>
      <p:pic>
        <p:nvPicPr>
          <p:cNvPr id="66" name="Image 1" descr="deck/tn01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861304" y="4278478"/>
            <a:ext cx="214884" cy="465430"/>
          </a:xfrm>
          <a:prstGeom prst="rect">
            <a:avLst/>
          </a:prstGeom>
        </p:spPr>
      </p:pic>
      <p:sp>
        <p:nvSpPr>
          <p:cNvPr id="67" name="Text 7"/>
          <p:cNvSpPr/>
          <p:nvPr/>
        </p:nvSpPr>
        <p:spPr>
          <a:xfrm>
            <a:off x="5815584" y="4748479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650" dirty="0"/>
          </a:p>
        </p:txBody>
      </p:sp>
      <p:pic>
        <p:nvPicPr>
          <p:cNvPr id="68" name="Image 1" descr="deck/tn01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12764" y="4278478"/>
            <a:ext cx="214884" cy="465430"/>
          </a:xfrm>
          <a:prstGeom prst="rect">
            <a:avLst/>
          </a:prstGeom>
        </p:spPr>
      </p:pic>
      <p:sp>
        <p:nvSpPr>
          <p:cNvPr id="69" name="Text 7"/>
          <p:cNvSpPr/>
          <p:nvPr/>
        </p:nvSpPr>
        <p:spPr>
          <a:xfrm>
            <a:off x="6067044" y="4748479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650" dirty="0"/>
          </a:p>
        </p:txBody>
      </p:sp>
      <p:sp>
        <p:nvSpPr>
          <p:cNvPr id="70" name="Text 14"/>
          <p:cNvSpPr/>
          <p:nvPr/>
        </p:nvSpPr>
        <p:spPr>
          <a:xfrm>
            <a:off x="6821424" y="365760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8D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71" name="Shape 2"/>
          <p:cNvSpPr/>
          <p:nvPr/>
        </p:nvSpPr>
        <p:spPr>
          <a:xfrm>
            <a:off x="6967728" y="1938528"/>
            <a:ext cx="1453896" cy="402336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E7ED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3"/>
          <p:cNvSpPr/>
          <p:nvPr/>
        </p:nvSpPr>
        <p:spPr>
          <a:xfrm>
            <a:off x="6967728" y="1938528"/>
            <a:ext cx="1453896" cy="59436"/>
          </a:xfrm>
          <a:prstGeom prst="rect">
            <a:avLst/>
          </a:prstGeom>
          <a:solidFill>
            <a:srgbClr val="3E645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4"/>
          <p:cNvSpPr/>
          <p:nvPr/>
        </p:nvSpPr>
        <p:spPr>
          <a:xfrm>
            <a:off x="7077456" y="210312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74" name="Text 5"/>
          <p:cNvSpPr/>
          <p:nvPr/>
        </p:nvSpPr>
        <p:spPr>
          <a:xfrm>
            <a:off x="7077456" y="2359152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9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PLAN &amp; UPGRADE</a:t>
            </a:r>
            <a:endParaRPr lang="en-US" sz="1000" dirty="0"/>
          </a:p>
        </p:txBody>
      </p:sp>
      <p:sp>
        <p:nvSpPr>
          <p:cNvPr id="75" name="Text 6"/>
          <p:cNvSpPr/>
          <p:nvPr/>
        </p:nvSpPr>
        <p:spPr>
          <a:xfrm>
            <a:off x="7077456" y="2807208"/>
            <a:ext cx="1234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to payment to Dr. Patel's review, then accept or ask for a change.</a:t>
            </a:r>
            <a:endParaRPr lang="en-US" sz="920" dirty="0"/>
          </a:p>
        </p:txBody>
      </p:sp>
      <p:pic>
        <p:nvPicPr>
          <p:cNvPr id="76" name="Image 1" descr="deck/tn01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84314" y="3639312"/>
            <a:ext cx="214884" cy="465430"/>
          </a:xfrm>
          <a:prstGeom prst="rect">
            <a:avLst/>
          </a:prstGeom>
        </p:spPr>
      </p:pic>
      <p:sp>
        <p:nvSpPr>
          <p:cNvPr id="77" name="Text 7"/>
          <p:cNvSpPr/>
          <p:nvPr/>
        </p:nvSpPr>
        <p:spPr>
          <a:xfrm>
            <a:off x="703859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650" dirty="0"/>
          </a:p>
        </p:txBody>
      </p:sp>
      <p:pic>
        <p:nvPicPr>
          <p:cNvPr id="78" name="Image 1" descr="deck/tn01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335774" y="3639312"/>
            <a:ext cx="214884" cy="465430"/>
          </a:xfrm>
          <a:prstGeom prst="rect">
            <a:avLst/>
          </a:prstGeom>
        </p:spPr>
      </p:pic>
      <p:sp>
        <p:nvSpPr>
          <p:cNvPr id="79" name="Text 7"/>
          <p:cNvSpPr/>
          <p:nvPr/>
        </p:nvSpPr>
        <p:spPr>
          <a:xfrm>
            <a:off x="729005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650" dirty="0"/>
          </a:p>
        </p:txBody>
      </p:sp>
      <p:pic>
        <p:nvPicPr>
          <p:cNvPr id="80" name="Image 1" descr="deck/tn01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587234" y="3639312"/>
            <a:ext cx="214884" cy="465430"/>
          </a:xfrm>
          <a:prstGeom prst="rect">
            <a:avLst/>
          </a:prstGeom>
        </p:spPr>
      </p:pic>
      <p:sp>
        <p:nvSpPr>
          <p:cNvPr id="81" name="Text 7"/>
          <p:cNvSpPr/>
          <p:nvPr/>
        </p:nvSpPr>
        <p:spPr>
          <a:xfrm>
            <a:off x="754151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650" dirty="0"/>
          </a:p>
        </p:txBody>
      </p:sp>
      <p:pic>
        <p:nvPicPr>
          <p:cNvPr id="82" name="Image 1" descr="deck/tn01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38694" y="3639312"/>
            <a:ext cx="214884" cy="465430"/>
          </a:xfrm>
          <a:prstGeom prst="rect">
            <a:avLst/>
          </a:prstGeom>
        </p:spPr>
      </p:pic>
      <p:sp>
        <p:nvSpPr>
          <p:cNvPr id="83" name="Text 7"/>
          <p:cNvSpPr/>
          <p:nvPr/>
        </p:nvSpPr>
        <p:spPr>
          <a:xfrm>
            <a:off x="779297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650" dirty="0"/>
          </a:p>
        </p:txBody>
      </p:sp>
      <p:pic>
        <p:nvPicPr>
          <p:cNvPr id="84" name="Image 1" descr="deck/tn01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90154" y="3639312"/>
            <a:ext cx="214884" cy="465430"/>
          </a:xfrm>
          <a:prstGeom prst="rect">
            <a:avLst/>
          </a:prstGeom>
        </p:spPr>
      </p:pic>
      <p:sp>
        <p:nvSpPr>
          <p:cNvPr id="85" name="Text 7"/>
          <p:cNvSpPr/>
          <p:nvPr/>
        </p:nvSpPr>
        <p:spPr>
          <a:xfrm>
            <a:off x="804443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650" dirty="0"/>
          </a:p>
        </p:txBody>
      </p:sp>
      <p:pic>
        <p:nvPicPr>
          <p:cNvPr id="86" name="Image 1" descr="deck/tn01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084314" y="4278478"/>
            <a:ext cx="214884" cy="465430"/>
          </a:xfrm>
          <a:prstGeom prst="rect">
            <a:avLst/>
          </a:prstGeom>
        </p:spPr>
      </p:pic>
      <p:sp>
        <p:nvSpPr>
          <p:cNvPr id="87" name="Text 7"/>
          <p:cNvSpPr/>
          <p:nvPr/>
        </p:nvSpPr>
        <p:spPr>
          <a:xfrm>
            <a:off x="7038594" y="4748479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650" dirty="0"/>
          </a:p>
        </p:txBody>
      </p:sp>
      <p:pic>
        <p:nvPicPr>
          <p:cNvPr id="88" name="Image 1" descr="deck/tn01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335774" y="4278478"/>
            <a:ext cx="214884" cy="465430"/>
          </a:xfrm>
          <a:prstGeom prst="rect">
            <a:avLst/>
          </a:prstGeom>
        </p:spPr>
      </p:pic>
      <p:sp>
        <p:nvSpPr>
          <p:cNvPr id="89" name="Text 7"/>
          <p:cNvSpPr/>
          <p:nvPr/>
        </p:nvSpPr>
        <p:spPr>
          <a:xfrm>
            <a:off x="7290054" y="4748479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650" dirty="0"/>
          </a:p>
        </p:txBody>
      </p:sp>
      <p:pic>
        <p:nvPicPr>
          <p:cNvPr id="90" name="Image 1" descr="deck/tn01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587234" y="4278478"/>
            <a:ext cx="214884" cy="465430"/>
          </a:xfrm>
          <a:prstGeom prst="rect">
            <a:avLst/>
          </a:prstGeom>
        </p:spPr>
      </p:pic>
      <p:sp>
        <p:nvSpPr>
          <p:cNvPr id="91" name="Text 7"/>
          <p:cNvSpPr/>
          <p:nvPr/>
        </p:nvSpPr>
        <p:spPr>
          <a:xfrm>
            <a:off x="7541514" y="4748479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650" dirty="0"/>
          </a:p>
        </p:txBody>
      </p:sp>
      <p:pic>
        <p:nvPicPr>
          <p:cNvPr id="92" name="Image 1" descr="deck/tn01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38694" y="4278478"/>
            <a:ext cx="214884" cy="465430"/>
          </a:xfrm>
          <a:prstGeom prst="rect">
            <a:avLst/>
          </a:prstGeom>
        </p:spPr>
      </p:pic>
      <p:sp>
        <p:nvSpPr>
          <p:cNvPr id="93" name="Text 7"/>
          <p:cNvSpPr/>
          <p:nvPr/>
        </p:nvSpPr>
        <p:spPr>
          <a:xfrm>
            <a:off x="7792974" y="4748479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650" dirty="0"/>
          </a:p>
        </p:txBody>
      </p:sp>
      <p:pic>
        <p:nvPicPr>
          <p:cNvPr id="94" name="Image 1" descr="deck/tn01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090154" y="4278478"/>
            <a:ext cx="214884" cy="465430"/>
          </a:xfrm>
          <a:prstGeom prst="rect">
            <a:avLst/>
          </a:prstGeom>
        </p:spPr>
      </p:pic>
      <p:sp>
        <p:nvSpPr>
          <p:cNvPr id="95" name="Text 7"/>
          <p:cNvSpPr/>
          <p:nvPr/>
        </p:nvSpPr>
        <p:spPr>
          <a:xfrm>
            <a:off x="8044434" y="4748479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650" dirty="0"/>
          </a:p>
        </p:txBody>
      </p:sp>
      <p:pic>
        <p:nvPicPr>
          <p:cNvPr id="96" name="Image 1" descr="deck/tn01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084314" y="4917643"/>
            <a:ext cx="214884" cy="465430"/>
          </a:xfrm>
          <a:prstGeom prst="rect">
            <a:avLst/>
          </a:prstGeom>
        </p:spPr>
      </p:pic>
      <p:sp>
        <p:nvSpPr>
          <p:cNvPr id="97" name="Text 7"/>
          <p:cNvSpPr/>
          <p:nvPr/>
        </p:nvSpPr>
        <p:spPr>
          <a:xfrm>
            <a:off x="7038594" y="5387645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650" dirty="0"/>
          </a:p>
        </p:txBody>
      </p:sp>
      <p:pic>
        <p:nvPicPr>
          <p:cNvPr id="98" name="Image 1" descr="deck/tn01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335774" y="4917643"/>
            <a:ext cx="214884" cy="465430"/>
          </a:xfrm>
          <a:prstGeom prst="rect">
            <a:avLst/>
          </a:prstGeom>
        </p:spPr>
      </p:pic>
      <p:sp>
        <p:nvSpPr>
          <p:cNvPr id="99" name="Text 7"/>
          <p:cNvSpPr/>
          <p:nvPr/>
        </p:nvSpPr>
        <p:spPr>
          <a:xfrm>
            <a:off x="7290054" y="5387645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650" dirty="0"/>
          </a:p>
        </p:txBody>
      </p:sp>
      <p:pic>
        <p:nvPicPr>
          <p:cNvPr id="100" name="Image 1" descr="deck/tn01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587234" y="4917643"/>
            <a:ext cx="214884" cy="465430"/>
          </a:xfrm>
          <a:prstGeom prst="rect">
            <a:avLst/>
          </a:prstGeom>
        </p:spPr>
      </p:pic>
      <p:sp>
        <p:nvSpPr>
          <p:cNvPr id="101" name="Text 7"/>
          <p:cNvSpPr/>
          <p:nvPr/>
        </p:nvSpPr>
        <p:spPr>
          <a:xfrm>
            <a:off x="7541514" y="5387645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650" dirty="0"/>
          </a:p>
        </p:txBody>
      </p:sp>
      <p:pic>
        <p:nvPicPr>
          <p:cNvPr id="102" name="Image 1" descr="deck/tn01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838694" y="4917643"/>
            <a:ext cx="214884" cy="465430"/>
          </a:xfrm>
          <a:prstGeom prst="rect">
            <a:avLst/>
          </a:prstGeom>
        </p:spPr>
      </p:pic>
      <p:sp>
        <p:nvSpPr>
          <p:cNvPr id="103" name="Text 7"/>
          <p:cNvSpPr/>
          <p:nvPr/>
        </p:nvSpPr>
        <p:spPr>
          <a:xfrm>
            <a:off x="7792974" y="5387645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650" dirty="0"/>
          </a:p>
        </p:txBody>
      </p:sp>
      <p:pic>
        <p:nvPicPr>
          <p:cNvPr id="104" name="Image 1" descr="deck/tn01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090154" y="4917643"/>
            <a:ext cx="214884" cy="465430"/>
          </a:xfrm>
          <a:prstGeom prst="rect">
            <a:avLst/>
          </a:prstGeom>
        </p:spPr>
      </p:pic>
      <p:sp>
        <p:nvSpPr>
          <p:cNvPr id="105" name="Text 7"/>
          <p:cNvSpPr/>
          <p:nvPr/>
        </p:nvSpPr>
        <p:spPr>
          <a:xfrm>
            <a:off x="8044434" y="5387645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650" dirty="0"/>
          </a:p>
        </p:txBody>
      </p:sp>
      <p:sp>
        <p:nvSpPr>
          <p:cNvPr id="106" name="Text 14"/>
          <p:cNvSpPr/>
          <p:nvPr/>
        </p:nvSpPr>
        <p:spPr>
          <a:xfrm>
            <a:off x="8421624" y="365760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8D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107" name="Shape 2"/>
          <p:cNvSpPr/>
          <p:nvPr/>
        </p:nvSpPr>
        <p:spPr>
          <a:xfrm>
            <a:off x="8567928" y="1938528"/>
            <a:ext cx="1453896" cy="402336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E7ED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3"/>
          <p:cNvSpPr/>
          <p:nvPr/>
        </p:nvSpPr>
        <p:spPr>
          <a:xfrm>
            <a:off x="8567928" y="1938528"/>
            <a:ext cx="1453896" cy="59436"/>
          </a:xfrm>
          <a:prstGeom prst="rect">
            <a:avLst/>
          </a:prstGeom>
          <a:solidFill>
            <a:srgbClr val="3E645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4"/>
          <p:cNvSpPr/>
          <p:nvPr/>
        </p:nvSpPr>
        <p:spPr>
          <a:xfrm>
            <a:off x="8677656" y="210312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110" name="Text 5"/>
          <p:cNvSpPr/>
          <p:nvPr/>
        </p:nvSpPr>
        <p:spPr>
          <a:xfrm>
            <a:off x="8677656" y="2359152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9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USE</a:t>
            </a:r>
            <a:endParaRPr lang="en-US" sz="1000" dirty="0"/>
          </a:p>
        </p:txBody>
      </p:sp>
      <p:sp>
        <p:nvSpPr>
          <p:cNvPr id="111" name="Text 6"/>
          <p:cNvSpPr/>
          <p:nvPr/>
        </p:nvSpPr>
        <p:spPr>
          <a:xfrm>
            <a:off x="8677656" y="2807208"/>
            <a:ext cx="1234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Yesterday's score, today's plan, progress, photographs and the projection.</a:t>
            </a:r>
            <a:endParaRPr lang="en-US" sz="920" dirty="0"/>
          </a:p>
        </p:txBody>
      </p:sp>
      <p:pic>
        <p:nvPicPr>
          <p:cNvPr id="112" name="Image 1" descr="deck/tn01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684514" y="3639312"/>
            <a:ext cx="214884" cy="465430"/>
          </a:xfrm>
          <a:prstGeom prst="rect">
            <a:avLst/>
          </a:prstGeom>
        </p:spPr>
      </p:pic>
      <p:sp>
        <p:nvSpPr>
          <p:cNvPr id="113" name="Text 7"/>
          <p:cNvSpPr/>
          <p:nvPr/>
        </p:nvSpPr>
        <p:spPr>
          <a:xfrm>
            <a:off x="863879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650" dirty="0"/>
          </a:p>
        </p:txBody>
      </p:sp>
      <p:pic>
        <p:nvPicPr>
          <p:cNvPr id="114" name="Image 1" descr="deck/tn01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935974" y="3639312"/>
            <a:ext cx="214884" cy="465430"/>
          </a:xfrm>
          <a:prstGeom prst="rect">
            <a:avLst/>
          </a:prstGeom>
        </p:spPr>
      </p:pic>
      <p:sp>
        <p:nvSpPr>
          <p:cNvPr id="115" name="Text 7"/>
          <p:cNvSpPr/>
          <p:nvPr/>
        </p:nvSpPr>
        <p:spPr>
          <a:xfrm>
            <a:off x="889025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650" dirty="0"/>
          </a:p>
        </p:txBody>
      </p:sp>
      <p:pic>
        <p:nvPicPr>
          <p:cNvPr id="116" name="Image 1" descr="deck/tn01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187434" y="3639312"/>
            <a:ext cx="214884" cy="465430"/>
          </a:xfrm>
          <a:prstGeom prst="rect">
            <a:avLst/>
          </a:prstGeom>
        </p:spPr>
      </p:pic>
      <p:sp>
        <p:nvSpPr>
          <p:cNvPr id="117" name="Text 7"/>
          <p:cNvSpPr/>
          <p:nvPr/>
        </p:nvSpPr>
        <p:spPr>
          <a:xfrm>
            <a:off x="914171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650" dirty="0"/>
          </a:p>
        </p:txBody>
      </p:sp>
      <p:pic>
        <p:nvPicPr>
          <p:cNvPr id="118" name="Image 1" descr="deck/tn01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438894" y="3639312"/>
            <a:ext cx="214884" cy="465430"/>
          </a:xfrm>
          <a:prstGeom prst="rect">
            <a:avLst/>
          </a:prstGeom>
        </p:spPr>
      </p:pic>
      <p:sp>
        <p:nvSpPr>
          <p:cNvPr id="119" name="Text 7"/>
          <p:cNvSpPr/>
          <p:nvPr/>
        </p:nvSpPr>
        <p:spPr>
          <a:xfrm>
            <a:off x="939317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650" dirty="0"/>
          </a:p>
        </p:txBody>
      </p:sp>
      <p:pic>
        <p:nvPicPr>
          <p:cNvPr id="120" name="Image 1" descr="deck/tn01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690354" y="3639312"/>
            <a:ext cx="214884" cy="465430"/>
          </a:xfrm>
          <a:prstGeom prst="rect">
            <a:avLst/>
          </a:prstGeom>
        </p:spPr>
      </p:pic>
      <p:sp>
        <p:nvSpPr>
          <p:cNvPr id="121" name="Text 7"/>
          <p:cNvSpPr/>
          <p:nvPr/>
        </p:nvSpPr>
        <p:spPr>
          <a:xfrm>
            <a:off x="964463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650" dirty="0"/>
          </a:p>
        </p:txBody>
      </p:sp>
      <p:sp>
        <p:nvSpPr>
          <p:cNvPr id="122" name="Text 14"/>
          <p:cNvSpPr/>
          <p:nvPr/>
        </p:nvSpPr>
        <p:spPr>
          <a:xfrm>
            <a:off x="10021824" y="365760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8D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123" name="Shape 43"/>
          <p:cNvSpPr/>
          <p:nvPr/>
        </p:nvSpPr>
        <p:spPr>
          <a:xfrm>
            <a:off x="10168128" y="1938528"/>
            <a:ext cx="1453896" cy="402336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E7ED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44"/>
          <p:cNvSpPr/>
          <p:nvPr/>
        </p:nvSpPr>
        <p:spPr>
          <a:xfrm>
            <a:off x="10168128" y="1938528"/>
            <a:ext cx="1453896" cy="59436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4"/>
          <p:cNvSpPr/>
          <p:nvPr/>
        </p:nvSpPr>
        <p:spPr>
          <a:xfrm>
            <a:off x="10277856" y="210312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126" name="Text 5"/>
          <p:cNvSpPr/>
          <p:nvPr/>
        </p:nvSpPr>
        <p:spPr>
          <a:xfrm>
            <a:off x="10277856" y="2359152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9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CARE</a:t>
            </a:r>
            <a:endParaRPr lang="en-US" sz="1000" dirty="0"/>
          </a:p>
        </p:txBody>
      </p:sp>
      <p:sp>
        <p:nvSpPr>
          <p:cNvPr id="127" name="Text 6"/>
          <p:cNvSpPr/>
          <p:nvPr/>
        </p:nvSpPr>
        <p:spPr>
          <a:xfrm>
            <a:off x="10277856" y="2807208"/>
            <a:ext cx="1234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surgery support, alongside Longevity Care, which stays paid.</a:t>
            </a:r>
            <a:endParaRPr lang="en-US" sz="920" dirty="0"/>
          </a:p>
        </p:txBody>
      </p:sp>
      <p:pic>
        <p:nvPicPr>
          <p:cNvPr id="128" name="Image 1" descr="deck/tn01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284714" y="3639312"/>
            <a:ext cx="214884" cy="465430"/>
          </a:xfrm>
          <a:prstGeom prst="rect">
            <a:avLst/>
          </a:prstGeom>
        </p:spPr>
      </p:pic>
      <p:sp>
        <p:nvSpPr>
          <p:cNvPr id="129" name="Text 7"/>
          <p:cNvSpPr/>
          <p:nvPr/>
        </p:nvSpPr>
        <p:spPr>
          <a:xfrm>
            <a:off x="1023899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650" dirty="0"/>
          </a:p>
        </p:txBody>
      </p:sp>
      <p:pic>
        <p:nvPicPr>
          <p:cNvPr id="130" name="Image 1" descr="deck/tn01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0536174" y="3639312"/>
            <a:ext cx="214884" cy="465430"/>
          </a:xfrm>
          <a:prstGeom prst="rect">
            <a:avLst/>
          </a:prstGeom>
        </p:spPr>
      </p:pic>
      <p:sp>
        <p:nvSpPr>
          <p:cNvPr id="131" name="Text 7"/>
          <p:cNvSpPr/>
          <p:nvPr/>
        </p:nvSpPr>
        <p:spPr>
          <a:xfrm>
            <a:off x="1049045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650" dirty="0"/>
          </a:p>
        </p:txBody>
      </p:sp>
      <p:pic>
        <p:nvPicPr>
          <p:cNvPr id="132" name="Image 1" descr="deck/tn01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0787634" y="3639312"/>
            <a:ext cx="214884" cy="465430"/>
          </a:xfrm>
          <a:prstGeom prst="rect">
            <a:avLst/>
          </a:prstGeom>
        </p:spPr>
      </p:pic>
      <p:sp>
        <p:nvSpPr>
          <p:cNvPr id="133" name="Text 7"/>
          <p:cNvSpPr/>
          <p:nvPr/>
        </p:nvSpPr>
        <p:spPr>
          <a:xfrm>
            <a:off x="1074191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650" dirty="0"/>
          </a:p>
        </p:txBody>
      </p:sp>
      <p:pic>
        <p:nvPicPr>
          <p:cNvPr id="134" name="Image 1" descr="deck/tn01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1039094" y="3639312"/>
            <a:ext cx="214884" cy="465430"/>
          </a:xfrm>
          <a:prstGeom prst="rect">
            <a:avLst/>
          </a:prstGeom>
        </p:spPr>
      </p:pic>
      <p:sp>
        <p:nvSpPr>
          <p:cNvPr id="135" name="Text 7"/>
          <p:cNvSpPr/>
          <p:nvPr/>
        </p:nvSpPr>
        <p:spPr>
          <a:xfrm>
            <a:off x="1099337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650" dirty="0"/>
          </a:p>
        </p:txBody>
      </p:sp>
      <p:pic>
        <p:nvPicPr>
          <p:cNvPr id="136" name="Image 1" descr="deck/tn01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1290554" y="3639312"/>
            <a:ext cx="214884" cy="465430"/>
          </a:xfrm>
          <a:prstGeom prst="rect">
            <a:avLst/>
          </a:prstGeom>
        </p:spPr>
      </p:pic>
      <p:sp>
        <p:nvSpPr>
          <p:cNvPr id="137" name="Text 7"/>
          <p:cNvSpPr/>
          <p:nvPr/>
        </p:nvSpPr>
        <p:spPr>
          <a:xfrm>
            <a:off x="1124483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650" dirty="0"/>
          </a:p>
        </p:txBody>
      </p:sp>
      <p:pic>
        <p:nvPicPr>
          <p:cNvPr id="138" name="Image 1" descr="deck/tn01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0787634" y="4278478"/>
            <a:ext cx="214884" cy="465430"/>
          </a:xfrm>
          <a:prstGeom prst="rect">
            <a:avLst/>
          </a:prstGeom>
        </p:spPr>
      </p:pic>
      <p:sp>
        <p:nvSpPr>
          <p:cNvPr id="139" name="Text 7"/>
          <p:cNvSpPr/>
          <p:nvPr/>
        </p:nvSpPr>
        <p:spPr>
          <a:xfrm>
            <a:off x="10741914" y="4748479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E64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64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4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9264" y="2340864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-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&amp; Sign In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3822192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screens from the invitation email to a signed in patient. The clinic sends one code; the patient never invents a username or waits for a call.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5047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1–4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53328" y="2007291"/>
            <a:ext cx="1325880" cy="2815986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deck/tn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188" y="2030151"/>
            <a:ext cx="1280160" cy="277026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076188" y="4850709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Shape 6"/>
          <p:cNvSpPr/>
          <p:nvPr/>
        </p:nvSpPr>
        <p:spPr>
          <a:xfrm>
            <a:off x="7470648" y="2007291"/>
            <a:ext cx="1325880" cy="2815986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deck/tn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508" y="2030151"/>
            <a:ext cx="1280160" cy="277026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93508" y="4850709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Shape 6"/>
          <p:cNvSpPr/>
          <p:nvPr/>
        </p:nvSpPr>
        <p:spPr>
          <a:xfrm>
            <a:off x="8887968" y="2007291"/>
            <a:ext cx="1325880" cy="2815986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0" descr="deck/tn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0828" y="2030151"/>
            <a:ext cx="1280160" cy="2770266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8910828" y="4850709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Shape 6"/>
          <p:cNvSpPr/>
          <p:nvPr/>
        </p:nvSpPr>
        <p:spPr>
          <a:xfrm>
            <a:off x="10305288" y="2007291"/>
            <a:ext cx="1325880" cy="2815986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0" descr="deck/tn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8148" y="2030151"/>
            <a:ext cx="1280160" cy="2770266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10328148" y="4850709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·  ACTIVATE &amp; SIGN IN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Invitation Email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email, one code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clinic invites the patient from the portal. The email carries the store links and a six digit activation code, and nothing else: no link to click, no ID, no password.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 in the clinic’s name: Harborview Longevity Clinic invites Olivia, signed by its clinic manager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admit one card names the patient, the email and the code 731064, valid once, for 48 hours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code that runs out is replaced by the clinic, so help stays with the practice the patient knows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·  ACTIVATE &amp; SIGN IN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Your Account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Email, birth date, one-time code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is checked against the email and date of birth the clinic already holds, so a code on its own cannot open anyone’s record.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fields and one button; the code is verified as soon as the sixth digit is typed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of birth is the second check, taken from the practice record rather than invented at sign up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“Already set a password? Sign in” keeps returning patients off this screen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·  ACTIVATE &amp; SIGN IN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Password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thing the patient chooses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the code is accepted the patient sets a password, with the same rules as the web portals. There is no username to invent and no second factor to set up.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password and confirmation, each with show and hide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Going back cancels the code, so a half finished activation cannot be reused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ID is offered later, from settings, once the patient is signed in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·  ACTIVATE &amp; SIGN IN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Straight back in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Straight after the password is created the email is already filled in, so the new password is all there is to type.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Returning patients land here too: email and password, or Face ID once it is turned on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Forgot password sits under the field rather than behind a menu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session left idle for 15 minutes comes back to this screen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E64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64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4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9264" y="2340864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-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Consent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3822192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patient confirms who they are from the clinic's own record, then gives one consent before anything medical is read.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5047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5–7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90601" y="1883664"/>
            <a:ext cx="1440138" cy="306324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deck/tn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461" y="1906524"/>
            <a:ext cx="1394418" cy="3017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613461" y="4974336"/>
            <a:ext cx="139441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1" name="Shape 6"/>
          <p:cNvSpPr/>
          <p:nvPr/>
        </p:nvSpPr>
        <p:spPr>
          <a:xfrm>
            <a:off x="8122179" y="1883664"/>
            <a:ext cx="1440138" cy="306324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deck/tn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039" y="1906524"/>
            <a:ext cx="1394418" cy="30175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45039" y="4974336"/>
            <a:ext cx="139441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4" name="Shape 6"/>
          <p:cNvSpPr/>
          <p:nvPr/>
        </p:nvSpPr>
        <p:spPr>
          <a:xfrm>
            <a:off x="9653757" y="1883664"/>
            <a:ext cx="1440138" cy="306324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0" descr="deck/tn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6617" y="1906524"/>
            <a:ext cx="1394418" cy="301752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9676617" y="4974336"/>
            <a:ext cx="139441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·  IDENTITY &amp; CONSENT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You?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Confirm, don’t type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details come from the clinic’s record and are shown view only. They are what the national networks match the patient on, so they have to be the practice’s own.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preferred name, sex and age first: who the patient is, the way they would recognise themselves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of birth, mobile, email and home address, then the clinic that shares the record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From your clinic tag says where every field came from; one action, Continue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5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·  IDENTITY &amp; CONSENT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Your Health Records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comes before any data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medical is read until the patient agrees. The screen says who sees the records, what is collected and for how long, in three lines rather than a legal page.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sees them: the patient and Harborview Longevity Clinic. What we collect: visits, labs and 7 more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patient picks how long: 15 days, 1 month or 3 months, each with its end date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boxes, the authorization and the terms, with the full text of each one tap away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6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·  IDENTITY &amp; CONSENT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About Your Care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Inlay may reach them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second consent page covers contact about care: texts, calls and email. Agreeing here signs the consent and starts the record pull.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separate permissions, so a patient can take texts and decline calls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terms are linked from the text option, where carriers expect them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and continue goes straight into the assistant’s first conversation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7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E64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64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4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9264" y="2340864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-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3822192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assistant asks what matters before it shows a single number. Then the record builds while the patient watches.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5047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8–12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37511" y="9006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deck/tn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371" y="923544"/>
            <a:ext cx="1088068" cy="23545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60371" y="33284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11" name="Shape 6"/>
          <p:cNvSpPr/>
          <p:nvPr/>
        </p:nvSpPr>
        <p:spPr>
          <a:xfrm>
            <a:off x="7662740" y="9006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deck/tn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600" y="923544"/>
            <a:ext cx="1088068" cy="23545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685600" y="33284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14" name="Shape 6"/>
          <p:cNvSpPr/>
          <p:nvPr/>
        </p:nvSpPr>
        <p:spPr>
          <a:xfrm>
            <a:off x="8887968" y="9006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0" descr="deck/tn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0828" y="923544"/>
            <a:ext cx="1088068" cy="235458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8910828" y="33284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17" name="Shape 6"/>
          <p:cNvSpPr/>
          <p:nvPr/>
        </p:nvSpPr>
        <p:spPr>
          <a:xfrm>
            <a:off x="10113196" y="9006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0" descr="deck/tn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6056" y="923544"/>
            <a:ext cx="1088068" cy="2354580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10136056" y="33284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20" name="Shape 6"/>
          <p:cNvSpPr/>
          <p:nvPr/>
        </p:nvSpPr>
        <p:spPr>
          <a:xfrm>
            <a:off x="8275354" y="35295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0" descr="deck/tn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8214" y="3552444"/>
            <a:ext cx="1088068" cy="2354580"/>
          </a:xfrm>
          <a:prstGeom prst="rect">
            <a:avLst/>
          </a:prstGeom>
        </p:spPr>
      </p:pic>
      <p:sp>
        <p:nvSpPr>
          <p:cNvPr id="22" name="Text 7"/>
          <p:cNvSpPr/>
          <p:nvPr/>
        </p:nvSpPr>
        <p:spPr>
          <a:xfrm>
            <a:off x="8298214" y="59573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·  ONBOARDING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Why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matters, before any numbers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assistant opens with the patient’s life, not their results. It is a conversation rather than a survey: every question can be answered in a tap, typed, or skipped.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“There are no right answers” and “about ten minutes” set expectations in the first message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answers sit inside each question, and the chat bar stays on screen at every step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motivational interviewing, so the plan later rests on the patient’s own reasons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8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·  ONBOARDING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Why: Importance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it matters, on their scale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Midway through, the assistant asks how important a change is and how confident the patient feels, on five faces from Not at all to Very.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Asked about the patient’s own concern, here blood sugar, which the record shows rising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follow up asks why this answer and not a lower one, which draws out reasons rather than excuses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is asked the same way, and sets how softly the free app later mentions a plan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9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·  ONBOARDING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Why Card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reasons, in their words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conversation ends on one card: the reason for being healthy, what matters most, what to work on first and a first commitment. Every line can be edited.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“To keep up with my kids and feel like myself again” is quoted back, not paraphrased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commitment is specific: walk for 20 minutes after dinner, three evenings a week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card goes into the care plan, and the Human Flourishing Index follows it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10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·  ONBOARDING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Your Record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record builds in front of them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starts the pull from every provider the networks find. The screen tells it the way a patient thinks about it: a running count, one bar, then each kind of record landing.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your providers first, then visits, conditions, medications, labs, vitals and the rest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pull can take minutes, so the patient may leave and is told when it is ready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my dashboard stays off until there is something to show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11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·  ONBOARDING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Record Is Ready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 records from 3 providers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finished record is summarised before the dashboard opens, so the first thing the patient learns is how much of their history Inlay already holds.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results 86, vitals 32, visits 14 and everything else 36, each with its share of the total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providers found, including care outside the patient’s own clinic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action: Go to my dashboard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12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E64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64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4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9264" y="2340864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-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3822192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free record, every day: what needs attention, how results are moving, what is coming up, and an assistant that knows the record.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5047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13–19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37511" y="9006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deck/tn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371" y="923544"/>
            <a:ext cx="1088068" cy="23545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60371" y="33284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11" name="Shape 6"/>
          <p:cNvSpPr/>
          <p:nvPr/>
        </p:nvSpPr>
        <p:spPr>
          <a:xfrm>
            <a:off x="7662740" y="9006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deck/tn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600" y="923544"/>
            <a:ext cx="1088068" cy="23545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685600" y="33284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14" name="Shape 6"/>
          <p:cNvSpPr/>
          <p:nvPr/>
        </p:nvSpPr>
        <p:spPr>
          <a:xfrm>
            <a:off x="8887968" y="9006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0" descr="deck/tn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0828" y="923544"/>
            <a:ext cx="1088068" cy="235458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8910828" y="33284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17" name="Shape 6"/>
          <p:cNvSpPr/>
          <p:nvPr/>
        </p:nvSpPr>
        <p:spPr>
          <a:xfrm>
            <a:off x="10113196" y="9006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0" descr="deck/tn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6056" y="923544"/>
            <a:ext cx="1088068" cy="2354580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10136056" y="33284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  <p:sp>
        <p:nvSpPr>
          <p:cNvPr id="20" name="Shape 6"/>
          <p:cNvSpPr/>
          <p:nvPr/>
        </p:nvSpPr>
        <p:spPr>
          <a:xfrm>
            <a:off x="7050125" y="35295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0" descr="deck/tn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2985" y="3552444"/>
            <a:ext cx="1088068" cy="2354580"/>
          </a:xfrm>
          <a:prstGeom prst="rect">
            <a:avLst/>
          </a:prstGeom>
        </p:spPr>
      </p:pic>
      <p:sp>
        <p:nvSpPr>
          <p:cNvPr id="22" name="Text 7"/>
          <p:cNvSpPr/>
          <p:nvPr/>
        </p:nvSpPr>
        <p:spPr>
          <a:xfrm>
            <a:off x="7072985" y="59573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  <p:sp>
        <p:nvSpPr>
          <p:cNvPr id="23" name="Shape 6"/>
          <p:cNvSpPr/>
          <p:nvPr/>
        </p:nvSpPr>
        <p:spPr>
          <a:xfrm>
            <a:off x="8275354" y="35295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0" descr="deck/tn0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8214" y="3552444"/>
            <a:ext cx="1088068" cy="2354580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8298214" y="59573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  <p:sp>
        <p:nvSpPr>
          <p:cNvPr id="26" name="Shape 6"/>
          <p:cNvSpPr/>
          <p:nvPr/>
        </p:nvSpPr>
        <p:spPr>
          <a:xfrm>
            <a:off x="9500582" y="35295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0" descr="deck/tn0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3442" y="3552444"/>
            <a:ext cx="1088068" cy="2354580"/>
          </a:xfrm>
          <a:prstGeom prst="rect">
            <a:avLst/>
          </a:prstGeom>
        </p:spPr>
      </p:pic>
      <p:sp>
        <p:nvSpPr>
          <p:cNvPr id="28" name="Text 7"/>
          <p:cNvSpPr/>
          <p:nvPr/>
        </p:nvSpPr>
        <p:spPr>
          <a:xfrm>
            <a:off x="9523442" y="59573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·  DASHBOARD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Look: App Tour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tabs, explained once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time Home opens, a three step tour names the tabs. It runs once, over the live dashboard, and can be skipped.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is your day, Record holds results, To do lists what is open, Upgrade shows what a membership adds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tour points at the floating tab bar and the assistant circle beside it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ends it at once; Next walks through the remaining two steps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13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·  DASHBOARD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needs them, first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free home leads with what the patient has to act on, then how their results are moving. Every trend is drawn from their own record.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things need you: a muted red card for pending actions, one tap from the To do list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trend tiles: BMI 32.4, LDL 162 and triglycerides 188 above target, ferritin 46 in range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healthier you is possible” comes after the trends, the one place Home points to a plan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14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·  DASHBOARD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Home: Further Down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Upcoming, new, and medicines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the trends, Home shows what is booked, what has just arrived in the record, and the medicines on file.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Cardiology follow up on Oct 21 with Dr. Lee at Pacific Heart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in your record: urgent care and cardiology visits outside the clinic, now visible to Dr. Patel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differ is flagged on atorvastatin; Ask about your results shows 25% of the week’s AI credit used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15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·  DASHBOARD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result, with its trend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Record tab holds the whole record: biomarkers, tests and orders, medicines, conditions, visits and more, with results grouped by body system.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pills on top, body system chips under them: blood sugar, cholesterol, heart and weight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 has the value, its status, a small trend and the date; out of range results come first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your record takes a result from outside the network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16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·  DASHBOARD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Detail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LDL 162, and how it got there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a result shows the latest value against its range, every past reading on one chart, and where each one came from.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range and trending up: 162 mg/dL against a target under 100, up from 128 in April 2022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results on the chart, each listed with its date and source, Quest Diagnostics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plan adds is listed further down, and the page says plainly that it stays free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17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·  DASHBOARD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open, in order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gaps, bookings and checks in one list, split into overdue, upcoming and completed.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overdue: book a mammogram, due Apr 4, and a follow up visit after urgent care on Jun 3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2 medicines; an echocardiogram and a repeat A1c and lipid panel wait to be booked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Patel’s record review on Dec 8 is listed with No visit needed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18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·  DASHBOARD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Inlay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assistant that knows the record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assistant opens on four plain starting points. Credit is shown as a share of the week used, never as a count of questions.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one of my results, prepare for my next visit, a question about my medicines, something is bothering me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of this week’s AI credit used, on a strip above the composer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information, not medical advice, stated under every conversation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19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E64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64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4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9264" y="2340864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-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Plan &amp; Upgrade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3822192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Upgrade tab to a physician approved plan: goals, the record check, baseline tests, payment, scheduling and review, then accept or ask for a change.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5047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20–34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37258" y="900684"/>
            <a:ext cx="728844" cy="15240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deck/tn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118" y="923544"/>
            <a:ext cx="683124" cy="14782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60118" y="2452116"/>
            <a:ext cx="6831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11" name="Shape 6"/>
          <p:cNvSpPr/>
          <p:nvPr/>
        </p:nvSpPr>
        <p:spPr>
          <a:xfrm>
            <a:off x="7657542" y="900684"/>
            <a:ext cx="728844" cy="15240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deck/tn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402" y="923544"/>
            <a:ext cx="683124" cy="14782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680402" y="2452116"/>
            <a:ext cx="6831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14" name="Shape 6"/>
          <p:cNvSpPr/>
          <p:nvPr/>
        </p:nvSpPr>
        <p:spPr>
          <a:xfrm>
            <a:off x="8477826" y="900684"/>
            <a:ext cx="728844" cy="15240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0" descr="deck/tn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0686" y="923544"/>
            <a:ext cx="683124" cy="147828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8500686" y="2452116"/>
            <a:ext cx="6831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00" dirty="0"/>
          </a:p>
        </p:txBody>
      </p:sp>
      <p:sp>
        <p:nvSpPr>
          <p:cNvPr id="17" name="Shape 6"/>
          <p:cNvSpPr/>
          <p:nvPr/>
        </p:nvSpPr>
        <p:spPr>
          <a:xfrm>
            <a:off x="9298110" y="900684"/>
            <a:ext cx="728844" cy="15240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0" descr="deck/tn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0970" y="923544"/>
            <a:ext cx="683124" cy="1478280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9320970" y="2452116"/>
            <a:ext cx="6831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00" dirty="0"/>
          </a:p>
        </p:txBody>
      </p:sp>
      <p:sp>
        <p:nvSpPr>
          <p:cNvPr id="20" name="Shape 6"/>
          <p:cNvSpPr/>
          <p:nvPr/>
        </p:nvSpPr>
        <p:spPr>
          <a:xfrm>
            <a:off x="10118394" y="900684"/>
            <a:ext cx="728844" cy="15240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0" descr="deck/tn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1254" y="923544"/>
            <a:ext cx="683124" cy="1478280"/>
          </a:xfrm>
          <a:prstGeom prst="rect">
            <a:avLst/>
          </a:prstGeom>
        </p:spPr>
      </p:pic>
      <p:sp>
        <p:nvSpPr>
          <p:cNvPr id="22" name="Text 7"/>
          <p:cNvSpPr/>
          <p:nvPr/>
        </p:nvSpPr>
        <p:spPr>
          <a:xfrm>
            <a:off x="10141254" y="2452116"/>
            <a:ext cx="6831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00" dirty="0"/>
          </a:p>
        </p:txBody>
      </p:sp>
      <p:sp>
        <p:nvSpPr>
          <p:cNvPr id="23" name="Shape 6"/>
          <p:cNvSpPr/>
          <p:nvPr/>
        </p:nvSpPr>
        <p:spPr>
          <a:xfrm>
            <a:off x="6837258" y="2653284"/>
            <a:ext cx="728844" cy="15240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0" descr="deck/tn0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0118" y="2676144"/>
            <a:ext cx="683124" cy="1478280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6860118" y="4204716"/>
            <a:ext cx="6831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00" dirty="0"/>
          </a:p>
        </p:txBody>
      </p:sp>
      <p:sp>
        <p:nvSpPr>
          <p:cNvPr id="26" name="Shape 6"/>
          <p:cNvSpPr/>
          <p:nvPr/>
        </p:nvSpPr>
        <p:spPr>
          <a:xfrm>
            <a:off x="7657542" y="2653284"/>
            <a:ext cx="728844" cy="15240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0" descr="deck/tn0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402" y="2676144"/>
            <a:ext cx="683124" cy="1478280"/>
          </a:xfrm>
          <a:prstGeom prst="rect">
            <a:avLst/>
          </a:prstGeom>
        </p:spPr>
      </p:pic>
      <p:sp>
        <p:nvSpPr>
          <p:cNvPr id="28" name="Text 7"/>
          <p:cNvSpPr/>
          <p:nvPr/>
        </p:nvSpPr>
        <p:spPr>
          <a:xfrm>
            <a:off x="7680402" y="4204716"/>
            <a:ext cx="6831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800" dirty="0"/>
          </a:p>
        </p:txBody>
      </p:sp>
      <p:sp>
        <p:nvSpPr>
          <p:cNvPr id="29" name="Shape 6"/>
          <p:cNvSpPr/>
          <p:nvPr/>
        </p:nvSpPr>
        <p:spPr>
          <a:xfrm>
            <a:off x="8477826" y="2653284"/>
            <a:ext cx="728844" cy="15240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0" descr="deck/tn0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0686" y="2676144"/>
            <a:ext cx="683124" cy="1478280"/>
          </a:xfrm>
          <a:prstGeom prst="rect">
            <a:avLst/>
          </a:prstGeom>
        </p:spPr>
      </p:pic>
      <p:sp>
        <p:nvSpPr>
          <p:cNvPr id="31" name="Text 7"/>
          <p:cNvSpPr/>
          <p:nvPr/>
        </p:nvSpPr>
        <p:spPr>
          <a:xfrm>
            <a:off x="8500686" y="4204716"/>
            <a:ext cx="6831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800" dirty="0"/>
          </a:p>
        </p:txBody>
      </p:sp>
      <p:sp>
        <p:nvSpPr>
          <p:cNvPr id="32" name="Shape 6"/>
          <p:cNvSpPr/>
          <p:nvPr/>
        </p:nvSpPr>
        <p:spPr>
          <a:xfrm>
            <a:off x="9298110" y="2653284"/>
            <a:ext cx="728844" cy="15240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0" descr="deck/tn0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0970" y="2676144"/>
            <a:ext cx="683124" cy="1478280"/>
          </a:xfrm>
          <a:prstGeom prst="rect">
            <a:avLst/>
          </a:prstGeom>
        </p:spPr>
      </p:pic>
      <p:sp>
        <p:nvSpPr>
          <p:cNvPr id="34" name="Text 7"/>
          <p:cNvSpPr/>
          <p:nvPr/>
        </p:nvSpPr>
        <p:spPr>
          <a:xfrm>
            <a:off x="9320970" y="4204716"/>
            <a:ext cx="6831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800" dirty="0"/>
          </a:p>
        </p:txBody>
      </p:sp>
      <p:sp>
        <p:nvSpPr>
          <p:cNvPr id="35" name="Shape 6"/>
          <p:cNvSpPr/>
          <p:nvPr/>
        </p:nvSpPr>
        <p:spPr>
          <a:xfrm>
            <a:off x="10118394" y="2653284"/>
            <a:ext cx="728844" cy="15240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0" descr="deck/tn0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41254" y="2676144"/>
            <a:ext cx="683124" cy="1478280"/>
          </a:xfrm>
          <a:prstGeom prst="rect">
            <a:avLst/>
          </a:prstGeom>
        </p:spPr>
      </p:pic>
      <p:sp>
        <p:nvSpPr>
          <p:cNvPr id="37" name="Text 7"/>
          <p:cNvSpPr/>
          <p:nvPr/>
        </p:nvSpPr>
        <p:spPr>
          <a:xfrm>
            <a:off x="10141254" y="4204716"/>
            <a:ext cx="6831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800" dirty="0"/>
          </a:p>
        </p:txBody>
      </p:sp>
      <p:sp>
        <p:nvSpPr>
          <p:cNvPr id="38" name="Shape 6"/>
          <p:cNvSpPr/>
          <p:nvPr/>
        </p:nvSpPr>
        <p:spPr>
          <a:xfrm>
            <a:off x="6837258" y="4405884"/>
            <a:ext cx="728844" cy="15240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0" descr="deck/tn0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60118" y="4428744"/>
            <a:ext cx="683124" cy="1478280"/>
          </a:xfrm>
          <a:prstGeom prst="rect">
            <a:avLst/>
          </a:prstGeom>
        </p:spPr>
      </p:pic>
      <p:sp>
        <p:nvSpPr>
          <p:cNvPr id="40" name="Text 7"/>
          <p:cNvSpPr/>
          <p:nvPr/>
        </p:nvSpPr>
        <p:spPr>
          <a:xfrm>
            <a:off x="6860118" y="5957316"/>
            <a:ext cx="6831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00" dirty="0"/>
          </a:p>
        </p:txBody>
      </p:sp>
      <p:sp>
        <p:nvSpPr>
          <p:cNvPr id="41" name="Shape 6"/>
          <p:cNvSpPr/>
          <p:nvPr/>
        </p:nvSpPr>
        <p:spPr>
          <a:xfrm>
            <a:off x="7657542" y="4405884"/>
            <a:ext cx="728844" cy="15240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0" descr="deck/tn0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80402" y="4428744"/>
            <a:ext cx="683124" cy="1478280"/>
          </a:xfrm>
          <a:prstGeom prst="rect">
            <a:avLst/>
          </a:prstGeom>
        </p:spPr>
      </p:pic>
      <p:sp>
        <p:nvSpPr>
          <p:cNvPr id="43" name="Text 7"/>
          <p:cNvSpPr/>
          <p:nvPr/>
        </p:nvSpPr>
        <p:spPr>
          <a:xfrm>
            <a:off x="7680402" y="5957316"/>
            <a:ext cx="6831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800" dirty="0"/>
          </a:p>
        </p:txBody>
      </p:sp>
      <p:sp>
        <p:nvSpPr>
          <p:cNvPr id="44" name="Shape 6"/>
          <p:cNvSpPr/>
          <p:nvPr/>
        </p:nvSpPr>
        <p:spPr>
          <a:xfrm>
            <a:off x="8477826" y="4405884"/>
            <a:ext cx="728844" cy="15240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0" descr="deck/tn0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00686" y="4428744"/>
            <a:ext cx="683124" cy="1478280"/>
          </a:xfrm>
          <a:prstGeom prst="rect">
            <a:avLst/>
          </a:prstGeom>
        </p:spPr>
      </p:pic>
      <p:sp>
        <p:nvSpPr>
          <p:cNvPr id="46" name="Text 7"/>
          <p:cNvSpPr/>
          <p:nvPr/>
        </p:nvSpPr>
        <p:spPr>
          <a:xfrm>
            <a:off x="8500686" y="5957316"/>
            <a:ext cx="6831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800" dirty="0"/>
          </a:p>
        </p:txBody>
      </p:sp>
      <p:sp>
        <p:nvSpPr>
          <p:cNvPr id="47" name="Shape 6"/>
          <p:cNvSpPr/>
          <p:nvPr/>
        </p:nvSpPr>
        <p:spPr>
          <a:xfrm>
            <a:off x="9298110" y="4405884"/>
            <a:ext cx="728844" cy="15240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Image 0" descr="deck/tn01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20970" y="4428744"/>
            <a:ext cx="683124" cy="1478280"/>
          </a:xfrm>
          <a:prstGeom prst="rect">
            <a:avLst/>
          </a:prstGeom>
        </p:spPr>
      </p:pic>
      <p:sp>
        <p:nvSpPr>
          <p:cNvPr id="49" name="Text 7"/>
          <p:cNvSpPr/>
          <p:nvPr/>
        </p:nvSpPr>
        <p:spPr>
          <a:xfrm>
            <a:off x="9320970" y="5957316"/>
            <a:ext cx="6831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800" dirty="0"/>
          </a:p>
        </p:txBody>
      </p:sp>
      <p:sp>
        <p:nvSpPr>
          <p:cNvPr id="50" name="Shape 6"/>
          <p:cNvSpPr/>
          <p:nvPr/>
        </p:nvSpPr>
        <p:spPr>
          <a:xfrm>
            <a:off x="10118394" y="4405884"/>
            <a:ext cx="728844" cy="15240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1" name="Image 0" descr="deck/tn0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41254" y="4428744"/>
            <a:ext cx="683124" cy="1478280"/>
          </a:xfrm>
          <a:prstGeom prst="rect">
            <a:avLst/>
          </a:prstGeom>
        </p:spPr>
      </p:pic>
      <p:sp>
        <p:nvSpPr>
          <p:cNvPr id="52" name="Text 7"/>
          <p:cNvSpPr/>
          <p:nvPr/>
        </p:nvSpPr>
        <p:spPr>
          <a:xfrm>
            <a:off x="10141254" y="5957316"/>
            <a:ext cx="6831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from their own data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Upgrade tab opens on the patient’s record, not on a price: three areas worth working on, each with its change over time.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BMI up 2.2 since Mar 2023, LDL up 34 since Apr 2022, triglycerides up 38 since May 2023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my personalized plan stays pinned above the tab bar on every scroll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hero states the promise once: a healthier tomorrow, built from your data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20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 a month, stated once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down: six member benefits, the price, and what stays free. Anything charged separately is said here, before the patient starts.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personalized nutrition and exercise plan, physician review every 3 months, more Ask Inlay credit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at $100, or yearly at $1,020, a 15% saving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stays free, and what is charged separately: tests and imaging, clinic visits, medicines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21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Your Goals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first, not a questionnaire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goals, multi-select. One plan serves several goals rather than forcing a single named program.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chosen here: lose weight, improve metabolic health, improve cholesterol and heart health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opens a sheet for the patient’s own words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of 6, and the header says so from the start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22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Record Supports These Goals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record says the goal is right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chosen goal is checked against the patient’s own record, so the plan confirms a choice already made rather than selling one.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Weight: BMI, triglycerides and blood pressure above range, from the blood panel and vitals, Aug 2026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Metabolic: A1c has risen from 5.6 to 5.9 across the last three results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card is marked Confirmed and cites its source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23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Us About You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Pre-filled, then confirmed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Fifteen fields come from the Inlay record in three blocks. The patient confirms them and edits only what has changed.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information and lifestyle edit in a sheet; medical has no Edit, because it is the record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Diet, meals a day, exercise days, activities, alcohol and sleep in one list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Conditions, medications, supplements and allergies are read from the record, never retyped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24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Your Baseline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tests, each priced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three tests for every member: blood panel, DEXA and RMR. Each carries its price and a Why? that explains it.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$189 blood panel, $149 DEXA, $129 RMR, with a baseline total of $399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ticked to start; any of them can be cleared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skipped test falls back to standard averages, and the screen says so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25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Your Enrollment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month, itemised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named from the goals, its price, the tests ticked on the last step, and the first month’s total.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and metabolic optimization, $100 a month, cancel anytime, no contract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tests selected at $467, plus the first month at $100: $567 in total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included (6) opens the membership’s full list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26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Method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and agree on one screen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month’s total on one row, its breakdown a tap away, then how to pay and the agreement.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card, Apple Pay or Google Pay; the wallets confirm in their own sheet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number, expiry and CVC, marked secure and encrypted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enrollment stays off until there is a way to pay and the terms are ticked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27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You’re Enrolled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next, in order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membership has started. The patient leaves the purchase knowing each step and who does it, with the physician named before the review happens.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Enrolled Oct 9; schedule your tests next; Dr. Patel reviews the plan once results are in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charge until Dr. Patel approves your plan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my tests, or Schedule later, which keeps the tests in To do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28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Tests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day and a time for each test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paid test with its place, a date and a time. Confirm schedule books all three at once.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panel at Quest Diagnostics, DEXA at Coastal Imaging, RMR at Harborview Longevity Clinic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opens a calendar of open weekdays, then the times for that day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 Oct 13, Wed Oct 14 and Thu Oct 15 booked here, all first thing in the morning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29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Plan Is Being Reviewed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Dr. Patel now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is built from the results and sent to the patient’s own physician. The review needs no appointment, and the screen says so.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from your results Oct 9, review by Dr. Patel in progress, then ready for you to accept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you wait: your starting tests, Ask about your plan, membership and billing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patient is told the moment the plan is approved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30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Plan Is Ready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Approved, and attributed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Shown once, the first time the Plan tab opens after Dr. Patel sends version 1.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Patel reviewed your results and approved your plan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step is the patient’s: read the plan, then accept it or request a change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my plan opens the plan itself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31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Your Plan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starts until they accept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plan, with two actions side by side over the tab bar: Request a change and Accept plan.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Goals: A1c below 5.7, weight 175 lb, LDL below 100 and blood pressure below 120/80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day: a diet plan up to 1,700 kcal, logged meals, strength workouts and a walk after dinner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 change sits beside Accept plan, never behind a menu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32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63240" y="2743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60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33–34</a:t>
            </a:r>
            <a:endParaRPr lang="en-US" sz="60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or Request a Change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46634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forward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Accepting starts the plan at once. A change request sends the patient’s own words to Dr. Patel.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Accept: the Plan tab becomes the live plan, with daily targets and today’s diet plan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 change: one question, What would you like changed?, sent to Dr. Patel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accepted, the day starts with Yesterday, the next screen in this journey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33–34 OF 45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6172200" y="896112"/>
            <a:ext cx="2483658" cy="5257800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492" y="946404"/>
            <a:ext cx="2383074" cy="5157216"/>
          </a:xfrm>
          <a:prstGeom prst="rect">
            <a:avLst/>
          </a:prstGeom>
        </p:spPr>
      </p:pic>
      <p:sp>
        <p:nvSpPr>
          <p:cNvPr id="23" name="Text 4"/>
          <p:cNvSpPr/>
          <p:nvPr/>
        </p:nvSpPr>
        <p:spPr>
          <a:xfrm>
            <a:off x="6172200" y="502920"/>
            <a:ext cx="24836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they accept</a:t>
            </a:r>
            <a:endParaRPr lang="en-US" sz="1100" dirty="0"/>
          </a:p>
        </p:txBody>
      </p:sp>
      <p:sp>
        <p:nvSpPr>
          <p:cNvPr id="24" name="Shape 14"/>
          <p:cNvSpPr/>
          <p:nvPr/>
        </p:nvSpPr>
        <p:spPr>
          <a:xfrm>
            <a:off x="8924544" y="896112"/>
            <a:ext cx="2483658" cy="5257800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1" descr="deck/ph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4836" y="946404"/>
            <a:ext cx="2383074" cy="5157216"/>
          </a:xfrm>
          <a:prstGeom prst="rect">
            <a:avLst/>
          </a:prstGeom>
        </p:spPr>
      </p:pic>
      <p:sp>
        <p:nvSpPr>
          <p:cNvPr id="26" name="Text 4"/>
          <p:cNvSpPr/>
          <p:nvPr/>
        </p:nvSpPr>
        <p:spPr>
          <a:xfrm>
            <a:off x="8924544" y="502920"/>
            <a:ext cx="24836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they ask for a change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E64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64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4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9264" y="2340864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-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Use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3822192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screens that run every day: yesterday's score, today's plan, measured progress, photographic evidence and the projection that renews the subscription.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5047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35–39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37511" y="9006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deck/tn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371" y="923544"/>
            <a:ext cx="1088068" cy="23545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60371" y="33284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800" dirty="0"/>
          </a:p>
        </p:txBody>
      </p:sp>
      <p:sp>
        <p:nvSpPr>
          <p:cNvPr id="11" name="Shape 6"/>
          <p:cNvSpPr/>
          <p:nvPr/>
        </p:nvSpPr>
        <p:spPr>
          <a:xfrm>
            <a:off x="7662740" y="9006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deck/tn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600" y="923544"/>
            <a:ext cx="1088068" cy="23545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685600" y="33284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800" dirty="0"/>
          </a:p>
        </p:txBody>
      </p:sp>
      <p:sp>
        <p:nvSpPr>
          <p:cNvPr id="14" name="Shape 6"/>
          <p:cNvSpPr/>
          <p:nvPr/>
        </p:nvSpPr>
        <p:spPr>
          <a:xfrm>
            <a:off x="8887968" y="9006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0" descr="deck/tn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0828" y="923544"/>
            <a:ext cx="1088068" cy="235458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8910828" y="33284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800" dirty="0"/>
          </a:p>
        </p:txBody>
      </p:sp>
      <p:sp>
        <p:nvSpPr>
          <p:cNvPr id="17" name="Shape 6"/>
          <p:cNvSpPr/>
          <p:nvPr/>
        </p:nvSpPr>
        <p:spPr>
          <a:xfrm>
            <a:off x="10113196" y="9006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0" descr="deck/tn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6056" y="923544"/>
            <a:ext cx="1088068" cy="2354580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10136056" y="33284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800" dirty="0"/>
          </a:p>
        </p:txBody>
      </p:sp>
      <p:sp>
        <p:nvSpPr>
          <p:cNvPr id="20" name="Shape 6"/>
          <p:cNvSpPr/>
          <p:nvPr/>
        </p:nvSpPr>
        <p:spPr>
          <a:xfrm>
            <a:off x="8275354" y="35295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0" descr="deck/tn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8214" y="3552444"/>
            <a:ext cx="1088068" cy="2354580"/>
          </a:xfrm>
          <a:prstGeom prst="rect">
            <a:avLst/>
          </a:prstGeom>
        </p:spPr>
      </p:pic>
      <p:sp>
        <p:nvSpPr>
          <p:cNvPr id="22" name="Text 7"/>
          <p:cNvSpPr/>
          <p:nvPr/>
        </p:nvSpPr>
        <p:spPr>
          <a:xfrm>
            <a:off x="8298214" y="59573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  ·  DAILY USE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Yesterday: How Did I Do?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screen every morning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score, one insight and four goals — the whole of yesterday in a single screen, with no scrolling required.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 daily goal score, 3 of 4 goals achieved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balance reconciles on screen: 2,240 kcal out, 1,690 in, a 550 deficit against a 500 goal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 names the one miss — 8 g of protein — and what would have closed it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35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  ·  DAILY USE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Personalized Plan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eat the plan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fixed menu is the fastest way to lose a patient. The day’s targets stay fixed — 500 cal deficit, 150 g protein, 1,000 mg calcium, 45 min exercise — but the food itself can come from four different places.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Meal database and today’s plan both add in one tap, already costed in calories, protein and calcium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It covers the meal that was never in anyone’s plan; Import takes the patient who already tracks elsewhere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built plan stays visible but optional: breakfast 420 cal, lunch 510, dinner 620, with any meal swappable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36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  ·  DAILY USE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97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screen the patient shows other people — and the one that renews the subscription.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−12.4 lb, −2.5 in at the waist, −3.1% body fat since starting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Biomarkers moved: A1C 5.9→5.6, triglycerides 142→96, HDL 40→48, BP 134/82→122/76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RMR up 170 kcal (+10%) — measured proof that lean mass was preserved through the loss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37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  ·  DAILY USE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Check-In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they can see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and side, three dates, with weight and waist under each frame.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1 — 178 lb · Jul 31 — 168.3 lb · Oct 5 — 165.6 lb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Photographs stored securely; the comparison slider is the moment patients share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change is what holds a subscription together when the scale stalls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38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  ·  DAILY USE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Inlay — Predictive Insights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goes if they stay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retention screen. It answers the question every patient asks at month three.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days 162.8 lb · 60 days 160.9 lb · 120 days 157.5 lb · 1 year maintain 156–158 lb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projection carries a likelihood: 85%, 80%, 75% and 70%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Framed as estimates drawn from similar patients, never as a promise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39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E64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64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4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9264" y="2340864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-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Care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3822192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sees the surgery in the record and hands the patient a checklist drawn from their own surgical team’s instructions, with a directory of who is nearby. None of that is sold. Longevity Care, the elective screening catalogue, remains a paid Inlay product.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5047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40–45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37511" y="9006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deck/tn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371" y="923544"/>
            <a:ext cx="1088068" cy="23545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60371" y="33284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800" dirty="0"/>
          </a:p>
        </p:txBody>
      </p:sp>
      <p:sp>
        <p:nvSpPr>
          <p:cNvPr id="11" name="Shape 6"/>
          <p:cNvSpPr/>
          <p:nvPr/>
        </p:nvSpPr>
        <p:spPr>
          <a:xfrm>
            <a:off x="7662740" y="9006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deck/tn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600" y="923544"/>
            <a:ext cx="1088068" cy="23545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685600" y="33284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800" dirty="0"/>
          </a:p>
        </p:txBody>
      </p:sp>
      <p:sp>
        <p:nvSpPr>
          <p:cNvPr id="14" name="Shape 6"/>
          <p:cNvSpPr/>
          <p:nvPr/>
        </p:nvSpPr>
        <p:spPr>
          <a:xfrm>
            <a:off x="8887968" y="9006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0" descr="deck/tn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0828" y="923544"/>
            <a:ext cx="1088068" cy="235458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8910828" y="33284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800" dirty="0"/>
          </a:p>
        </p:txBody>
      </p:sp>
      <p:sp>
        <p:nvSpPr>
          <p:cNvPr id="17" name="Shape 6"/>
          <p:cNvSpPr/>
          <p:nvPr/>
        </p:nvSpPr>
        <p:spPr>
          <a:xfrm>
            <a:off x="10113196" y="9006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0" descr="deck/tn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6056" y="923544"/>
            <a:ext cx="1088068" cy="2354580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10136056" y="33284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800" dirty="0"/>
          </a:p>
        </p:txBody>
      </p:sp>
      <p:sp>
        <p:nvSpPr>
          <p:cNvPr id="20" name="Shape 6"/>
          <p:cNvSpPr/>
          <p:nvPr/>
        </p:nvSpPr>
        <p:spPr>
          <a:xfrm>
            <a:off x="7662740" y="35295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0" descr="deck/tn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5600" y="3552444"/>
            <a:ext cx="1088068" cy="2354580"/>
          </a:xfrm>
          <a:prstGeom prst="rect">
            <a:avLst/>
          </a:prstGeom>
        </p:spPr>
      </p:pic>
      <p:sp>
        <p:nvSpPr>
          <p:cNvPr id="22" name="Text 7"/>
          <p:cNvSpPr/>
          <p:nvPr/>
        </p:nvSpPr>
        <p:spPr>
          <a:xfrm>
            <a:off x="7685600" y="59573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800" dirty="0"/>
          </a:p>
        </p:txBody>
      </p:sp>
      <p:sp>
        <p:nvSpPr>
          <p:cNvPr id="23" name="Shape 6"/>
          <p:cNvSpPr/>
          <p:nvPr/>
        </p:nvSpPr>
        <p:spPr>
          <a:xfrm>
            <a:off x="8887968" y="35295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0" descr="deck/tn0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0828" y="3552444"/>
            <a:ext cx="1088068" cy="2354580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8910828" y="59573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07  ·  INLAY CARE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Screen — Surgery Detected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that we know them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Inlay sees the surgery in the record, this takes the screen before Home. It says one thing, and that one thing is the whole argument for the free record.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have surgery coming up on Thursday, November 12” — named, dated, five weeks ahead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by Dr. Smith on Sep 28, and the screen says so, because the source is what makes it credible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sold here. The line under the button says the checklist comes from the surgical team, not from us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40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07  ·  INLAY CARE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 Checklist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Fourteen things, in the right order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Grouped by when each one matters rather than listed flat, so the patient sees the three things to do now instead of a wall of instructions five weeks early.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14 done, with the current group open and the rest collapsed until their time comes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is Henry Ford’s own pre-operative instructions and Dr. Smith’s notes — Inlay carries it, Inlay did not write it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box at the foot for local providers, worded as help rather than as a storefront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41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07  ·  INLAY CARE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Providers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nearby, and nothing else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Therapy, equipment, transport and home help near Clarkston. The patient arranges and pays directly; Inlay takes no fee and never touches the transaction.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of the three clinics already accept Dr. Smith’s order — the one thing only we would know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and Map. No price, no booking, no checkout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“Inlay has no financial relationship with any provider listed here” sits at the foot of the screen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42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07  ·  INLAY CARE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Item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Why, not just what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an item gives the reason behind it, which is what turns a list of instructions into something a patient actually follows.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matters, what to do, and what else is worth arranging while they are at it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Dated and specific: collected from Henry Ford West Bloomfield on the afternoon of November 12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transport box appears here too, because this is the moment the patient needs it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43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07  ·  INLAY CARE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Longevity Care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patient who comes looking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elective side, and the one part of Inlay Care that is still sold. Nothing here is triggered by an event — it is for the well patient who wants to find something early.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are well today” is the opening line, which is what makes the rest of the page credible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for you sits above the catalogue, drawn from age, record and family history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is worded as options to consider, never as recommendations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44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07  ·  INLAY CARE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Longevity Care — Test Detail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cannot tell you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elective test carries the same six disclosures, the limits included. This is the page that protects the brand when a screening result turns out to be nothing.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$949 standard, $854 for members, with the request routed to the physician rather than left to the patient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physician writes and holds the order; Inlay only connects the patient to the provider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“It does not rule cancer out, and a positive signal is not a diagnosis” sits on the page, not in the terms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45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2913</Words>
  <Application>Microsoft Macintosh PowerPoint</Application>
  <PresentationFormat>Widescreen</PresentationFormat>
  <Paragraphs>384</Paragraphs>
  <Slides>53</Slides>
  <Notes>0</Notes>
  <HiddenSlides>0</HiddenSlides>
  <MMClips>0</MMClips>
  <ScaleCrop>false</ScaleCrop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Inlay Health — Optimization Patient Journey, App Screens</dc:title>
  <dc:subject>PptxGenJS Presentation</dc:subject>
  <dc:creator>Inlay Health</dc:creator>
  <cp:lastModifiedBy>edward santangelo</cp:lastModifiedBy>
  <cp:revision>2</cp:revision>
  <dcterms:created xsi:type="dcterms:W3CDTF">2026-10-08T16:00:19Z</dcterms:created>
  <dcterms:modified xsi:type="dcterms:W3CDTF">2026-10-08T16:04:56Z</dcterms:modified>
</cp:coreProperties>
</file>