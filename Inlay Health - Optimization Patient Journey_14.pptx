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  <p:sldId id="273" r:id="rIdS18"/>
    <p:sldId id="274" r:id="rIdS19"/>
    <p:sldId id="275" r:id="rIdS20"/>
    <p:sldId id="276" r:id="rIdS21"/>
    <p:sldId id="277" r:id="rIdS22"/>
    <p:sldId id="278" r:id="rIdS23"/>
    <p:sldId id="279" r:id="rIdS24"/>
    <p:sldId id="280" r:id="rIdS25"/>
    <p:sldId id="281" r:id="rIdS26"/>
    <p:sldId id="282" r:id="rIdS27"/>
    <p:sldId id="284" r:id="rIdS29"/>
    <p:sldId id="287" r:id="rIdS32"/>
    <p:sldId id="288" r:id="rIdS33"/>
    <p:sldId id="289" r:id="rIdS34"/>
    <p:sldId id="290" r:id="rIdS35"/>
    <p:sldId id="291" r:id="rIdS36"/>
    <p:sldId id="500" r:id="rIdN60"/>
    <p:sldId id="501" r:id="rIdN61"/>
    <p:sldId id="502" r:id="rIdN62"/>
    <p:sldId id="292" r:id="rIdS37"/>
    <p:sldId id="293" r:id="rIdS38"/>
    <p:sldId id="294" r:id="rIdS39"/>
    <p:sldId id="295" r:id="rIdS40"/>
    <p:sldId id="296" r:id="rIdS41"/>
    <p:sldId id="297" r:id="rIdS42"/>
    <p:sldId id="298" r:id="rIdS43"/>
    <p:sldId id="299" r:id="rIdS44"/>
    <p:sldId id="300" r:id="rIdS45"/>
    <p:sldId id="301" r:id="rIdS46"/>
    <p:sldId id="302" r:id="rIdS47"/>
    <p:sldId id="303" r:id="rIdS48"/>
    <p:sldId id="304" r:id="rIdS49"/>
    <p:sldId id="305" r:id="rIdS50"/>
    <p:sldId id="306" r:id="rIdS51"/>
    <p:sldId id="307" r:id="rIdS52"/>
    <p:sldId id="308" r:id="rIdS5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32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Relationship Id="rIdS20" Type="http://schemas.openxmlformats.org/officeDocument/2006/relationships/slide" Target="slides/slide20.xml"/><Relationship Id="rIdS21" Type="http://schemas.openxmlformats.org/officeDocument/2006/relationships/slide" Target="slides/slide21.xml"/><Relationship Id="rIdS22" Type="http://schemas.openxmlformats.org/officeDocument/2006/relationships/slide" Target="slides/slide22.xml"/><Relationship Id="rIdS23" Type="http://schemas.openxmlformats.org/officeDocument/2006/relationships/slide" Target="slides/slide23.xml"/><Relationship Id="rIdS24" Type="http://schemas.openxmlformats.org/officeDocument/2006/relationships/slide" Target="slides/slide24.xml"/><Relationship Id="rIdS25" Type="http://schemas.openxmlformats.org/officeDocument/2006/relationships/slide" Target="slides/slide25.xml"/><Relationship Id="rIdS26" Type="http://schemas.openxmlformats.org/officeDocument/2006/relationships/slide" Target="slides/slide26.xml"/><Relationship Id="rIdS27" Type="http://schemas.openxmlformats.org/officeDocument/2006/relationships/slide" Target="slides/slide27.xml"/><Relationship Id="rIdS29" Type="http://schemas.openxmlformats.org/officeDocument/2006/relationships/slide" Target="slides/slide29.xml"/><Relationship Id="rIdS32" Type="http://schemas.openxmlformats.org/officeDocument/2006/relationships/slide" Target="slides/slide32.xml"/><Relationship Id="rIdS33" Type="http://schemas.openxmlformats.org/officeDocument/2006/relationships/slide" Target="slides/slide33.xml"/><Relationship Id="rIdS34" Type="http://schemas.openxmlformats.org/officeDocument/2006/relationships/slide" Target="slides/slide34.xml"/><Relationship Id="rIdS35" Type="http://schemas.openxmlformats.org/officeDocument/2006/relationships/slide" Target="slides/slide35.xml"/><Relationship Id="rIdS36" Type="http://schemas.openxmlformats.org/officeDocument/2006/relationships/slide" Target="slides/slide36.xml"/><Relationship Id="rIdS37" Type="http://schemas.openxmlformats.org/officeDocument/2006/relationships/slide" Target="slides/slide37.xml"/><Relationship Id="rIdS38" Type="http://schemas.openxmlformats.org/officeDocument/2006/relationships/slide" Target="slides/slide38.xml"/><Relationship Id="rIdS39" Type="http://schemas.openxmlformats.org/officeDocument/2006/relationships/slide" Target="slides/slide39.xml"/><Relationship Id="rIdS40" Type="http://schemas.openxmlformats.org/officeDocument/2006/relationships/slide" Target="slides/slide40.xml"/><Relationship Id="rIdS41" Type="http://schemas.openxmlformats.org/officeDocument/2006/relationships/slide" Target="slides/slide41.xml"/><Relationship Id="rIdS42" Type="http://schemas.openxmlformats.org/officeDocument/2006/relationships/slide" Target="slides/slide42.xml"/><Relationship Id="rIdS43" Type="http://schemas.openxmlformats.org/officeDocument/2006/relationships/slide" Target="slides/slide43.xml"/><Relationship Id="rIdS44" Type="http://schemas.openxmlformats.org/officeDocument/2006/relationships/slide" Target="slides/slide44.xml"/><Relationship Id="rIdS45" Type="http://schemas.openxmlformats.org/officeDocument/2006/relationships/slide" Target="slides/slide45.xml"/><Relationship Id="rIdS46" Type="http://schemas.openxmlformats.org/officeDocument/2006/relationships/slide" Target="slides/slide46.xml"/><Relationship Id="rIdS47" Type="http://schemas.openxmlformats.org/officeDocument/2006/relationships/slide" Target="slides/slide47.xml"/><Relationship Id="rIdS48" Type="http://schemas.openxmlformats.org/officeDocument/2006/relationships/slide" Target="slides/slide48.xml"/><Relationship Id="rIdS49" Type="http://schemas.openxmlformats.org/officeDocument/2006/relationships/slide" Target="slides/slide49.xml"/><Relationship Id="rIdS50" Type="http://schemas.openxmlformats.org/officeDocument/2006/relationships/slide" Target="slides/slide50.xml"/><Relationship Id="rIdS51" Type="http://schemas.openxmlformats.org/officeDocument/2006/relationships/slide" Target="slides/slide51.xml"/><Relationship Id="rIdS52" Type="http://schemas.openxmlformats.org/officeDocument/2006/relationships/slide" Target="slides/slide52.xml"/><Relationship Id="rIdS53" Type="http://schemas.openxmlformats.org/officeDocument/2006/relationships/slide" Target="slides/slide53.xml"/><Relationship Id="rIdN60" Type="http://schemas.openxmlformats.org/officeDocument/2006/relationships/slide" Target="slides/slide60.xml"/><Relationship Id="rIdN61" Type="http://schemas.openxmlformats.org/officeDocument/2006/relationships/slide" Target="slides/slide61.xml"/><Relationship Id="rIdN62" Type="http://schemas.openxmlformats.org/officeDocument/2006/relationships/slide" Target="slides/slide6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188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light.png"/><Relationship Id="rId3" Type="http://schemas.openxmlformats.org/officeDocument/2006/relationships/image" Target="../media/tn01.png"/><Relationship Id="rId4" Type="http://schemas.openxmlformats.org/officeDocument/2006/relationships/image" Target="../media/tn02.png"/><Relationship Id="rId5" Type="http://schemas.openxmlformats.org/officeDocument/2006/relationships/image" Target="../media/tn03.png"/><Relationship Id="rId6" Type="http://schemas.openxmlformats.org/officeDocument/2006/relationships/image" Target="../media/tn04.png"/><Relationship Id="rId7" Type="http://schemas.openxmlformats.org/officeDocument/2006/relationships/image" Target="../media/tn05.png"/><Relationship Id="rId8" Type="http://schemas.openxmlformats.org/officeDocument/2006/relationships/image" Target="../media/tn06.png"/><Relationship Id="rId9" Type="http://schemas.openxmlformats.org/officeDocument/2006/relationships/image" Target="../media/tn07.png"/><Relationship Id="rId10" Type="http://schemas.openxmlformats.org/officeDocument/2006/relationships/image" Target="../media/tn08.png"/><Relationship Id="rId11" Type="http://schemas.openxmlformats.org/officeDocument/2006/relationships/image" Target="../media/tn09.png"/><Relationship Id="rId12" Type="http://schemas.openxmlformats.org/officeDocument/2006/relationships/image" Target="../media/tn10.png"/><Relationship Id="rId13" Type="http://schemas.openxmlformats.org/officeDocument/2006/relationships/image" Target="../media/tn11.png"/><Relationship Id="rId14" Type="http://schemas.openxmlformats.org/officeDocument/2006/relationships/image" Target="../media/tn12.png"/><Relationship Id="rId15" Type="http://schemas.openxmlformats.org/officeDocument/2006/relationships/image" Target="../media/tn13.png"/><Relationship Id="rId16" Type="http://schemas.openxmlformats.org/officeDocument/2006/relationships/image" Target="../media/tn14.png"/><Relationship Id="rId17" Type="http://schemas.openxmlformats.org/officeDocument/2006/relationships/image" Target="../media/tn15.png"/><Relationship Id="rId18" Type="http://schemas.openxmlformats.org/officeDocument/2006/relationships/image" Target="../media/tn16.png"/><Relationship Id="rId19" Type="http://schemas.openxmlformats.org/officeDocument/2006/relationships/image" Target="../media/tn17.png"/><Relationship Id="rId20" Type="http://schemas.openxmlformats.org/officeDocument/2006/relationships/image" Target="../media/tn18.png"/><Relationship Id="rId21" Type="http://schemas.openxmlformats.org/officeDocument/2006/relationships/image" Target="../media/tn19.png"/><Relationship Id="rId22" Type="http://schemas.openxmlformats.org/officeDocument/2006/relationships/image" Target="../media/tn20.png"/><Relationship Id="rId23" Type="http://schemas.openxmlformats.org/officeDocument/2006/relationships/image" Target="../media/tn21.png"/><Relationship Id="rId24" Type="http://schemas.openxmlformats.org/officeDocument/2006/relationships/image" Target="../media/tn22.png"/><Relationship Id="rId25" Type="http://schemas.openxmlformats.org/officeDocument/2006/relationships/image" Target="../media/tn23.png"/><Relationship Id="rId26" Type="http://schemas.openxmlformats.org/officeDocument/2006/relationships/image" Target="../media/tn24.png"/><Relationship Id="rId27" Type="http://schemas.openxmlformats.org/officeDocument/2006/relationships/image" Target="../media/tn25.png"/><Relationship Id="rId28" Type="http://schemas.openxmlformats.org/officeDocument/2006/relationships/image" Target="../media/tn26.png"/><Relationship Id="rId29" Type="http://schemas.openxmlformats.org/officeDocument/2006/relationships/image" Target="../media/tn27.png"/><Relationship Id="rId30" Type="http://schemas.openxmlformats.org/officeDocument/2006/relationships/image" Target="../media/tn28.png"/><Relationship Id="rId31" Type="http://schemas.openxmlformats.org/officeDocument/2006/relationships/image" Target="../media/tn29.png"/><Relationship Id="rId32" Type="http://schemas.openxmlformats.org/officeDocument/2006/relationships/image" Target="../media/tn30.png"/><Relationship Id="rId33" Type="http://schemas.openxmlformats.org/officeDocument/2006/relationships/image" Target="../media/tn31.png"/><Relationship Id="rId34" Type="http://schemas.openxmlformats.org/officeDocument/2006/relationships/image" Target="../media/tn32.png"/><Relationship Id="rId35" Type="http://schemas.openxmlformats.org/officeDocument/2006/relationships/image" Target="../media/tn33.png"/><Relationship Id="rId36" Type="http://schemas.openxmlformats.org/officeDocument/2006/relationships/image" Target="../media/tn34.png"/><Relationship Id="rId37" Type="http://schemas.openxmlformats.org/officeDocument/2006/relationships/image" Target="../media/tn35.png"/><Relationship Id="rId38" Type="http://schemas.openxmlformats.org/officeDocument/2006/relationships/image" Target="../media/tn36.png"/><Relationship Id="rId39" Type="http://schemas.openxmlformats.org/officeDocument/2006/relationships/image" Target="../media/tn37.png"/><Relationship Id="rId40" Type="http://schemas.openxmlformats.org/officeDocument/2006/relationships/image" Target="../media/tn38.png"/><Relationship Id="rId41" Type="http://schemas.openxmlformats.org/officeDocument/2006/relationships/image" Target="../media/tn39.png"/><Relationship Id="rId42" Type="http://schemas.openxmlformats.org/officeDocument/2006/relationships/image" Target="../media/tn40.png"/><Relationship Id="rId43" Type="http://schemas.openxmlformats.org/officeDocument/2006/relationships/image" Target="../media/tn41.png"/><Relationship Id="rId44" Type="http://schemas.openxmlformats.org/officeDocument/2006/relationships/image" Target="../media/tn42.png"/><Relationship Id="rId45" Type="http://schemas.openxmlformats.org/officeDocument/2006/relationships/image" Target="../media/tn43.png"/><Relationship Id="rId46" Type="http://schemas.openxmlformats.org/officeDocument/2006/relationships/image" Target="../media/tn44.png"/><Relationship Id="rId47" Type="http://schemas.openxmlformats.org/officeDocument/2006/relationships/image" Target="../media/tn4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tn01.png"/><Relationship Id="rId4" Type="http://schemas.openxmlformats.org/officeDocument/2006/relationships/image" Target="../media/tn02.png"/><Relationship Id="rId5" Type="http://schemas.openxmlformats.org/officeDocument/2006/relationships/image" Target="../media/tn03.png"/><Relationship Id="rId6" Type="http://schemas.openxmlformats.org/officeDocument/2006/relationships/image" Target="../media/tn04.png"/><Relationship Id="rId7" Type="http://schemas.openxmlformats.org/officeDocument/2006/relationships/image" Target="../media/tn05.png"/><Relationship Id="rId8" Type="http://schemas.openxmlformats.org/officeDocument/2006/relationships/image" Target="../media/tn06.png"/><Relationship Id="rId9" Type="http://schemas.openxmlformats.org/officeDocument/2006/relationships/image" Target="../media/tn07.png"/><Relationship Id="rId10" Type="http://schemas.openxmlformats.org/officeDocument/2006/relationships/image" Target="../media/tn08.png"/><Relationship Id="rId11" Type="http://schemas.openxmlformats.org/officeDocument/2006/relationships/image" Target="../media/tn09.png"/><Relationship Id="rId12" Type="http://schemas.openxmlformats.org/officeDocument/2006/relationships/image" Target="../media/tn10.png"/><Relationship Id="rId13" Type="http://schemas.openxmlformats.org/officeDocument/2006/relationships/image" Target="../media/tn11.png"/><Relationship Id="rId14" Type="http://schemas.openxmlformats.org/officeDocument/2006/relationships/image" Target="../media/tn12.png"/><Relationship Id="rId15" Type="http://schemas.openxmlformats.org/officeDocument/2006/relationships/image" Target="../media/tn13.png"/><Relationship Id="rId16" Type="http://schemas.openxmlformats.org/officeDocument/2006/relationships/image" Target="../media/tn14.png"/><Relationship Id="rId17" Type="http://schemas.openxmlformats.org/officeDocument/2006/relationships/image" Target="../media/tn15.png"/><Relationship Id="rId18" Type="http://schemas.openxmlformats.org/officeDocument/2006/relationships/image" Target="../media/tn16.png"/><Relationship Id="rId19" Type="http://schemas.openxmlformats.org/officeDocument/2006/relationships/image" Target="../media/tn17.png"/><Relationship Id="rId20" Type="http://schemas.openxmlformats.org/officeDocument/2006/relationships/image" Target="../media/tn18.png"/><Relationship Id="rId21" Type="http://schemas.openxmlformats.org/officeDocument/2006/relationships/image" Target="../media/tn19.png"/><Relationship Id="rId22" Type="http://schemas.openxmlformats.org/officeDocument/2006/relationships/image" Target="../media/tn20.png"/><Relationship Id="rId23" Type="http://schemas.openxmlformats.org/officeDocument/2006/relationships/image" Target="../media/tn21.png"/><Relationship Id="rId24" Type="http://schemas.openxmlformats.org/officeDocument/2006/relationships/image" Target="../media/tn22.png"/><Relationship Id="rId25" Type="http://schemas.openxmlformats.org/officeDocument/2006/relationships/image" Target="../media/tn23.png"/><Relationship Id="rId26" Type="http://schemas.openxmlformats.org/officeDocument/2006/relationships/image" Target="../media/tn24.png"/><Relationship Id="rId27" Type="http://schemas.openxmlformats.org/officeDocument/2006/relationships/image" Target="../media/tn25.png"/><Relationship Id="rId28" Type="http://schemas.openxmlformats.org/officeDocument/2006/relationships/image" Target="../media/tn26.png"/><Relationship Id="rId29" Type="http://schemas.openxmlformats.org/officeDocument/2006/relationships/image" Target="../media/tn27.png"/><Relationship Id="rId30" Type="http://schemas.openxmlformats.org/officeDocument/2006/relationships/image" Target="../media/tn28.png"/><Relationship Id="rId31" Type="http://schemas.openxmlformats.org/officeDocument/2006/relationships/image" Target="../media/tn29.png"/><Relationship Id="rId32" Type="http://schemas.openxmlformats.org/officeDocument/2006/relationships/image" Target="../media/tn30.png"/><Relationship Id="rId33" Type="http://schemas.openxmlformats.org/officeDocument/2006/relationships/image" Target="../media/tn31.png"/><Relationship Id="rId34" Type="http://schemas.openxmlformats.org/officeDocument/2006/relationships/image" Target="../media/tn32.png"/><Relationship Id="rId35" Type="http://schemas.openxmlformats.org/officeDocument/2006/relationships/image" Target="../media/tn33.png"/><Relationship Id="rId36" Type="http://schemas.openxmlformats.org/officeDocument/2006/relationships/image" Target="../media/tn34.png"/><Relationship Id="rId37" Type="http://schemas.openxmlformats.org/officeDocument/2006/relationships/image" Target="../media/tn35.png"/><Relationship Id="rId38" Type="http://schemas.openxmlformats.org/officeDocument/2006/relationships/image" Target="../media/tn36.png"/><Relationship Id="rId39" Type="http://schemas.openxmlformats.org/officeDocument/2006/relationships/image" Target="../media/tn37.png"/><Relationship Id="rId40" Type="http://schemas.openxmlformats.org/officeDocument/2006/relationships/image" Target="../media/tn38.png"/><Relationship Id="rId41" Type="http://schemas.openxmlformats.org/officeDocument/2006/relationships/image" Target="../media/tn39.png"/><Relationship Id="rId42" Type="http://schemas.openxmlformats.org/officeDocument/2006/relationships/image" Target="../media/tn40.png"/><Relationship Id="rId43" Type="http://schemas.openxmlformats.org/officeDocument/2006/relationships/image" Target="../media/tn41.png"/><Relationship Id="rId44" Type="http://schemas.openxmlformats.org/officeDocument/2006/relationships/image" Target="../media/tn42.png"/><Relationship Id="rId45" Type="http://schemas.openxmlformats.org/officeDocument/2006/relationships/image" Target="../media/tn43.png"/><Relationship Id="rId46" Type="http://schemas.openxmlformats.org/officeDocument/2006/relationships/image" Target="../media/tn44.png"/><Relationship Id="rId47" Type="http://schemas.openxmlformats.org/officeDocument/2006/relationships/image" Target="../media/tn4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01.png"/><Relationship Id="rId3" Type="http://schemas.openxmlformats.org/officeDocument/2006/relationships/image" Target="../media/tn02.png"/><Relationship Id="rId4" Type="http://schemas.openxmlformats.org/officeDocument/2006/relationships/image" Target="../media/tn03.png"/><Relationship Id="rId5" Type="http://schemas.openxmlformats.org/officeDocument/2006/relationships/image" Target="../media/tn04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3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4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05.png"/><Relationship Id="rId3" Type="http://schemas.openxmlformats.org/officeDocument/2006/relationships/image" Target="../media/tn06.png"/><Relationship Id="rId4" Type="http://schemas.openxmlformats.org/officeDocument/2006/relationships/image" Target="../media/tn07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5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7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08.png"/><Relationship Id="rId3" Type="http://schemas.openxmlformats.org/officeDocument/2006/relationships/image" Target="../media/tn09.png"/><Relationship Id="rId4" Type="http://schemas.openxmlformats.org/officeDocument/2006/relationships/image" Target="../media/tn10.png"/><Relationship Id="rId5" Type="http://schemas.openxmlformats.org/officeDocument/2006/relationships/image" Target="../media/tn11.png"/><Relationship Id="rId6" Type="http://schemas.openxmlformats.org/officeDocument/2006/relationships/image" Target="../media/tn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8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09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0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1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13.png"/><Relationship Id="rId3" Type="http://schemas.openxmlformats.org/officeDocument/2006/relationships/image" Target="../media/tn14.png"/><Relationship Id="rId4" Type="http://schemas.openxmlformats.org/officeDocument/2006/relationships/image" Target="../media/tn15.png"/><Relationship Id="rId5" Type="http://schemas.openxmlformats.org/officeDocument/2006/relationships/image" Target="../media/tn16.png"/><Relationship Id="rId6" Type="http://schemas.openxmlformats.org/officeDocument/2006/relationships/image" Target="../media/tn17.png"/><Relationship Id="rId7" Type="http://schemas.openxmlformats.org/officeDocument/2006/relationships/image" Target="../media/tn18.png"/><Relationship Id="rId8" Type="http://schemas.openxmlformats.org/officeDocument/2006/relationships/image" Target="../media/tn19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4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5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6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7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19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20.png"/><Relationship Id="rId3" Type="http://schemas.openxmlformats.org/officeDocument/2006/relationships/image" Target="../media/tn21.png"/><Relationship Id="rId4" Type="http://schemas.openxmlformats.org/officeDocument/2006/relationships/image" Target="../media/tn22.png"/><Relationship Id="rId5" Type="http://schemas.openxmlformats.org/officeDocument/2006/relationships/image" Target="../media/tn23.png"/><Relationship Id="rId6" Type="http://schemas.openxmlformats.org/officeDocument/2006/relationships/image" Target="../media/tn24.png"/><Relationship Id="rId7" Type="http://schemas.openxmlformats.org/officeDocument/2006/relationships/image" Target="../media/tn25.png"/><Relationship Id="rId8" Type="http://schemas.openxmlformats.org/officeDocument/2006/relationships/image" Target="../media/tn26.png"/><Relationship Id="rId9" Type="http://schemas.openxmlformats.org/officeDocument/2006/relationships/image" Target="../media/tn27.png"/><Relationship Id="rId10" Type="http://schemas.openxmlformats.org/officeDocument/2006/relationships/image" Target="../media/tn28.png"/><Relationship Id="rId11" Type="http://schemas.openxmlformats.org/officeDocument/2006/relationships/image" Target="../media/tn29.png"/><Relationship Id="rId12" Type="http://schemas.openxmlformats.org/officeDocument/2006/relationships/image" Target="../media/tn30.png"/><Relationship Id="rId13" Type="http://schemas.openxmlformats.org/officeDocument/2006/relationships/image" Target="../media/tn31.png"/><Relationship Id="rId14" Type="http://schemas.openxmlformats.org/officeDocument/2006/relationships/image" Target="../media/tn32.png"/><Relationship Id="rId15" Type="http://schemas.openxmlformats.org/officeDocument/2006/relationships/image" Target="../media/tn33.png"/><Relationship Id="rId16" Type="http://schemas.openxmlformats.org/officeDocument/2006/relationships/image" Target="../media/tn34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0.pn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2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5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6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7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8.pn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29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0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2.pn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3.png"/><Relationship Id="rId4" Type="http://schemas.openxmlformats.org/officeDocument/2006/relationships/image" Target="../media/ph34.png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35.png"/><Relationship Id="rId3" Type="http://schemas.openxmlformats.org/officeDocument/2006/relationships/image" Target="../media/tn36.png"/><Relationship Id="rId4" Type="http://schemas.openxmlformats.org/officeDocument/2006/relationships/image" Target="../media/tn37.png"/><Relationship Id="rId5" Type="http://schemas.openxmlformats.org/officeDocument/2006/relationships/image" Target="../media/tn38.png"/><Relationship Id="rId6" Type="http://schemas.openxmlformats.org/officeDocument/2006/relationships/image" Target="../media/tn39.png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5.png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6.pn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7.pn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8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39.png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n40.png"/><Relationship Id="rId3" Type="http://schemas.openxmlformats.org/officeDocument/2006/relationships/image" Target="../media/tn41.png"/><Relationship Id="rId4" Type="http://schemas.openxmlformats.org/officeDocument/2006/relationships/image" Target="../media/tn42.png"/><Relationship Id="rId5" Type="http://schemas.openxmlformats.org/officeDocument/2006/relationships/image" Target="../media/tn43.png"/><Relationship Id="rId6" Type="http://schemas.openxmlformats.org/officeDocument/2006/relationships/image" Target="../media/tn44.png"/><Relationship Id="rId7" Type="http://schemas.openxmlformats.org/officeDocument/2006/relationships/image" Target="../media/tn45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0.png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1.png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2.png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3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4.png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ph45.png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new0.png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new1.png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_dark.png"/><Relationship Id="rId3" Type="http://schemas.openxmlformats.org/officeDocument/2006/relationships/image" Target="../media/new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07008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91056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75104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deck/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13232"/>
            <a:ext cx="214884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PROGRAM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6384" y="21031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kern="0" spc="-1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Journey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22960" y="3127248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Forty-five screens, from the invitation email in the inbox to the morning Inlay sees what is coming next.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41248" y="393192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Activate &amp; Sign In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Identity &amp; Consent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Onboarding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Dashboard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Free Plan &amp; Upgrade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Daily Use</a:t>
            </a:r>
            <a:endParaRPr lang="en-US" sz="1200" dirty="0"/>
          </a:p>
          <a:p>
            <a:pPr marL="0" indent="0">
              <a:spcAft>
                <a:spcPts val="450"/>
              </a:spcAft>
              <a:buNone/>
            </a:pPr>
            <a:r>
              <a:rPr lang="en-US" sz="1200" dirty="0">
                <a:solidFill>
                  <a:srgbClr val="C3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Inlay Care</a:t>
            </a:r>
            <a:endParaRPr lang="en-US" sz="1200" dirty="0"/>
          </a:p>
        </p:txBody>
      </p:sp>
      <p:pic>
        <p:nvPicPr>
          <p:cNvPr id="12" name="Image 1" descr="deck/tn01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5230368" y="3611880"/>
            <a:ext cx="274320" cy="594360"/>
          </a:xfrm>
          <a:prstGeom prst="rect">
            <a:avLst/>
          </a:prstGeom>
        </p:spPr>
      </p:pic>
      <p:pic>
        <p:nvPicPr>
          <p:cNvPr id="13" name="Image 1" descr="deck/tn01.png"/>
          <p:cNvPicPr>
            <a:picLocks noChangeAspect="1"/>
          </p:cNvPicPr>
          <p:nvPr/>
        </p:nvPicPr>
        <p:blipFill>
          <a:blip r:embed="rId4">
            <a:alphaModFix amt="92000"/>
          </a:blip>
          <a:stretch>
            <a:fillRect/>
          </a:stretch>
        </p:blipFill>
        <p:spPr>
          <a:xfrm>
            <a:off x="5559552" y="3611880"/>
            <a:ext cx="274320" cy="594360"/>
          </a:xfrm>
          <a:prstGeom prst="rect">
            <a:avLst/>
          </a:prstGeom>
        </p:spPr>
      </p:pic>
      <p:pic>
        <p:nvPicPr>
          <p:cNvPr id="14" name="Image 1" descr="deck/tn01.png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5888736" y="3611880"/>
            <a:ext cx="274320" cy="594360"/>
          </a:xfrm>
          <a:prstGeom prst="rect">
            <a:avLst/>
          </a:prstGeom>
        </p:spPr>
      </p:pic>
      <p:pic>
        <p:nvPicPr>
          <p:cNvPr id="15" name="Image 1" descr="deck/tn01.png"/>
          <p:cNvPicPr>
            <a:picLocks noChangeAspect="1"/>
          </p:cNvPicPr>
          <p:nvPr/>
        </p:nvPicPr>
        <p:blipFill>
          <a:blip r:embed="rId6">
            <a:alphaModFix amt="92000"/>
          </a:blip>
          <a:stretch>
            <a:fillRect/>
          </a:stretch>
        </p:blipFill>
        <p:spPr>
          <a:xfrm>
            <a:off x="6217920" y="3611880"/>
            <a:ext cx="274320" cy="594360"/>
          </a:xfrm>
          <a:prstGeom prst="rect">
            <a:avLst/>
          </a:prstGeom>
        </p:spPr>
      </p:pic>
      <p:pic>
        <p:nvPicPr>
          <p:cNvPr id="16" name="Image 1" descr="deck/tn01.png"/>
          <p:cNvPicPr>
            <a:picLocks noChangeAspect="1"/>
          </p:cNvPicPr>
          <p:nvPr/>
        </p:nvPicPr>
        <p:blipFill>
          <a:blip r:embed="rId7">
            <a:alphaModFix amt="92000"/>
          </a:blip>
          <a:stretch>
            <a:fillRect/>
          </a:stretch>
        </p:blipFill>
        <p:spPr>
          <a:xfrm>
            <a:off x="6547104" y="3611880"/>
            <a:ext cx="274320" cy="594360"/>
          </a:xfrm>
          <a:prstGeom prst="rect">
            <a:avLst/>
          </a:prstGeom>
        </p:spPr>
      </p:pic>
      <p:pic>
        <p:nvPicPr>
          <p:cNvPr id="17" name="Image 1" descr="deck/tn01.png"/>
          <p:cNvPicPr>
            <a:picLocks noChangeAspect="1"/>
          </p:cNvPicPr>
          <p:nvPr/>
        </p:nvPicPr>
        <p:blipFill>
          <a:blip r:embed="rId8">
            <a:alphaModFix amt="92000"/>
          </a:blip>
          <a:stretch>
            <a:fillRect/>
          </a:stretch>
        </p:blipFill>
        <p:spPr>
          <a:xfrm>
            <a:off x="6876288" y="3611880"/>
            <a:ext cx="274320" cy="594360"/>
          </a:xfrm>
          <a:prstGeom prst="rect">
            <a:avLst/>
          </a:prstGeom>
        </p:spPr>
      </p:pic>
      <p:pic>
        <p:nvPicPr>
          <p:cNvPr id="18" name="Image 1" descr="deck/tn01.png"/>
          <p:cNvPicPr>
            <a:picLocks noChangeAspect="1"/>
          </p:cNvPicPr>
          <p:nvPr/>
        </p:nvPicPr>
        <p:blipFill>
          <a:blip r:embed="rId9">
            <a:alphaModFix amt="92000"/>
          </a:blip>
          <a:stretch>
            <a:fillRect/>
          </a:stretch>
        </p:blipFill>
        <p:spPr>
          <a:xfrm>
            <a:off x="7205472" y="3611880"/>
            <a:ext cx="274320" cy="594360"/>
          </a:xfrm>
          <a:prstGeom prst="rect">
            <a:avLst/>
          </a:prstGeom>
        </p:spPr>
      </p:pic>
      <p:pic>
        <p:nvPicPr>
          <p:cNvPr id="19" name="Image 1" descr="deck/tn01.png"/>
          <p:cNvPicPr>
            <a:picLocks noChangeAspect="1"/>
          </p:cNvPicPr>
          <p:nvPr/>
        </p:nvPicPr>
        <p:blipFill>
          <a:blip r:embed="rId10">
            <a:alphaModFix amt="92000"/>
          </a:blip>
          <a:stretch>
            <a:fillRect/>
          </a:stretch>
        </p:blipFill>
        <p:spPr>
          <a:xfrm>
            <a:off x="7534656" y="3611880"/>
            <a:ext cx="274320" cy="594360"/>
          </a:xfrm>
          <a:prstGeom prst="rect">
            <a:avLst/>
          </a:prstGeom>
        </p:spPr>
      </p:pic>
      <p:pic>
        <p:nvPicPr>
          <p:cNvPr id="20" name="Image 1" descr="deck/tn01.png"/>
          <p:cNvPicPr>
            <a:picLocks noChangeAspect="1"/>
          </p:cNvPicPr>
          <p:nvPr/>
        </p:nvPicPr>
        <p:blipFill>
          <a:blip r:embed="rId11">
            <a:alphaModFix amt="92000"/>
          </a:blip>
          <a:stretch>
            <a:fillRect/>
          </a:stretch>
        </p:blipFill>
        <p:spPr>
          <a:xfrm>
            <a:off x="7863840" y="3611880"/>
            <a:ext cx="274320" cy="594360"/>
          </a:xfrm>
          <a:prstGeom prst="rect">
            <a:avLst/>
          </a:prstGeom>
        </p:spPr>
      </p:pic>
      <p:pic>
        <p:nvPicPr>
          <p:cNvPr id="21" name="Image 1" descr="deck/tn01.png"/>
          <p:cNvPicPr>
            <a:picLocks noChangeAspect="1"/>
          </p:cNvPicPr>
          <p:nvPr/>
        </p:nvPicPr>
        <p:blipFill>
          <a:blip r:embed="rId12">
            <a:alphaModFix amt="92000"/>
          </a:blip>
          <a:stretch>
            <a:fillRect/>
          </a:stretch>
        </p:blipFill>
        <p:spPr>
          <a:xfrm>
            <a:off x="8193024" y="3611880"/>
            <a:ext cx="274320" cy="594360"/>
          </a:xfrm>
          <a:prstGeom prst="rect">
            <a:avLst/>
          </a:prstGeom>
        </p:spPr>
      </p:pic>
      <p:pic>
        <p:nvPicPr>
          <p:cNvPr id="22" name="Image 1" descr="deck/tn01.png"/>
          <p:cNvPicPr>
            <a:picLocks noChangeAspect="1"/>
          </p:cNvPicPr>
          <p:nvPr/>
        </p:nvPicPr>
        <p:blipFill>
          <a:blip r:embed="rId13">
            <a:alphaModFix amt="92000"/>
          </a:blip>
          <a:stretch>
            <a:fillRect/>
          </a:stretch>
        </p:blipFill>
        <p:spPr>
          <a:xfrm>
            <a:off x="8522208" y="3611880"/>
            <a:ext cx="274320" cy="594360"/>
          </a:xfrm>
          <a:prstGeom prst="rect">
            <a:avLst/>
          </a:prstGeom>
        </p:spPr>
      </p:pic>
      <p:pic>
        <p:nvPicPr>
          <p:cNvPr id="23" name="Image 1" descr="deck/tn01.png"/>
          <p:cNvPicPr>
            <a:picLocks noChangeAspect="1"/>
          </p:cNvPicPr>
          <p:nvPr/>
        </p:nvPicPr>
        <p:blipFill>
          <a:blip r:embed="rId14">
            <a:alphaModFix amt="92000"/>
          </a:blip>
          <a:stretch>
            <a:fillRect/>
          </a:stretch>
        </p:blipFill>
        <p:spPr>
          <a:xfrm>
            <a:off x="8851392" y="3611880"/>
            <a:ext cx="274320" cy="594360"/>
          </a:xfrm>
          <a:prstGeom prst="rect">
            <a:avLst/>
          </a:prstGeom>
        </p:spPr>
      </p:pic>
      <p:pic>
        <p:nvPicPr>
          <p:cNvPr id="24" name="Image 1" descr="deck/tn01.png"/>
          <p:cNvPicPr>
            <a:picLocks noChangeAspect="1"/>
          </p:cNvPicPr>
          <p:nvPr/>
        </p:nvPicPr>
        <p:blipFill>
          <a:blip r:embed="rId15">
            <a:alphaModFix amt="92000"/>
          </a:blip>
          <a:stretch>
            <a:fillRect/>
          </a:stretch>
        </p:blipFill>
        <p:spPr>
          <a:xfrm>
            <a:off x="9180576" y="3611880"/>
            <a:ext cx="274320" cy="594360"/>
          </a:xfrm>
          <a:prstGeom prst="rect">
            <a:avLst/>
          </a:prstGeom>
        </p:spPr>
      </p:pic>
      <p:pic>
        <p:nvPicPr>
          <p:cNvPr id="25" name="Image 1" descr="deck/tn01.png"/>
          <p:cNvPicPr>
            <a:picLocks noChangeAspect="1"/>
          </p:cNvPicPr>
          <p:nvPr/>
        </p:nvPicPr>
        <p:blipFill>
          <a:blip r:embed="rId16">
            <a:alphaModFix amt="92000"/>
          </a:blip>
          <a:stretch>
            <a:fillRect/>
          </a:stretch>
        </p:blipFill>
        <p:spPr>
          <a:xfrm>
            <a:off x="9509760" y="3611880"/>
            <a:ext cx="274320" cy="594360"/>
          </a:xfrm>
          <a:prstGeom prst="rect">
            <a:avLst/>
          </a:prstGeom>
        </p:spPr>
      </p:pic>
      <p:pic>
        <p:nvPicPr>
          <p:cNvPr id="26" name="Image 1" descr="deck/tn01.png"/>
          <p:cNvPicPr>
            <a:picLocks noChangeAspect="1"/>
          </p:cNvPicPr>
          <p:nvPr/>
        </p:nvPicPr>
        <p:blipFill>
          <a:blip r:embed="rId17">
            <a:alphaModFix amt="92000"/>
          </a:blip>
          <a:stretch>
            <a:fillRect/>
          </a:stretch>
        </p:blipFill>
        <p:spPr>
          <a:xfrm>
            <a:off x="9838944" y="3611880"/>
            <a:ext cx="274320" cy="594360"/>
          </a:xfrm>
          <a:prstGeom prst="rect">
            <a:avLst/>
          </a:prstGeom>
        </p:spPr>
      </p:pic>
      <p:pic>
        <p:nvPicPr>
          <p:cNvPr id="27" name="Image 1" descr="deck/tn01.png"/>
          <p:cNvPicPr>
            <a:picLocks noChangeAspect="1"/>
          </p:cNvPicPr>
          <p:nvPr/>
        </p:nvPicPr>
        <p:blipFill>
          <a:blip r:embed="rId18">
            <a:alphaModFix amt="92000"/>
          </a:blip>
          <a:stretch>
            <a:fillRect/>
          </a:stretch>
        </p:blipFill>
        <p:spPr>
          <a:xfrm>
            <a:off x="5230368" y="4261104"/>
            <a:ext cx="274320" cy="594360"/>
          </a:xfrm>
          <a:prstGeom prst="rect">
            <a:avLst/>
          </a:prstGeom>
        </p:spPr>
      </p:pic>
      <p:pic>
        <p:nvPicPr>
          <p:cNvPr id="28" name="Image 1" descr="deck/tn01.png"/>
          <p:cNvPicPr>
            <a:picLocks noChangeAspect="1"/>
          </p:cNvPicPr>
          <p:nvPr/>
        </p:nvPicPr>
        <p:blipFill>
          <a:blip r:embed="rId19">
            <a:alphaModFix amt="92000"/>
          </a:blip>
          <a:stretch>
            <a:fillRect/>
          </a:stretch>
        </p:blipFill>
        <p:spPr>
          <a:xfrm>
            <a:off x="5559552" y="4261104"/>
            <a:ext cx="274320" cy="594360"/>
          </a:xfrm>
          <a:prstGeom prst="rect">
            <a:avLst/>
          </a:prstGeom>
        </p:spPr>
      </p:pic>
      <p:pic>
        <p:nvPicPr>
          <p:cNvPr id="29" name="Image 1" descr="deck/tn01.png"/>
          <p:cNvPicPr>
            <a:picLocks noChangeAspect="1"/>
          </p:cNvPicPr>
          <p:nvPr/>
        </p:nvPicPr>
        <p:blipFill>
          <a:blip r:embed="rId20">
            <a:alphaModFix amt="92000"/>
          </a:blip>
          <a:stretch>
            <a:fillRect/>
          </a:stretch>
        </p:blipFill>
        <p:spPr>
          <a:xfrm>
            <a:off x="5888736" y="4261104"/>
            <a:ext cx="274320" cy="594360"/>
          </a:xfrm>
          <a:prstGeom prst="rect">
            <a:avLst/>
          </a:prstGeom>
        </p:spPr>
      </p:pic>
      <p:pic>
        <p:nvPicPr>
          <p:cNvPr id="30" name="Image 1" descr="deck/tn01.png"/>
          <p:cNvPicPr>
            <a:picLocks noChangeAspect="1"/>
          </p:cNvPicPr>
          <p:nvPr/>
        </p:nvPicPr>
        <p:blipFill>
          <a:blip r:embed="rId21">
            <a:alphaModFix amt="92000"/>
          </a:blip>
          <a:stretch>
            <a:fillRect/>
          </a:stretch>
        </p:blipFill>
        <p:spPr>
          <a:xfrm>
            <a:off x="6217920" y="4261104"/>
            <a:ext cx="274320" cy="594360"/>
          </a:xfrm>
          <a:prstGeom prst="rect">
            <a:avLst/>
          </a:prstGeom>
        </p:spPr>
      </p:pic>
      <p:pic>
        <p:nvPicPr>
          <p:cNvPr id="31" name="Image 1" descr="deck/tn01.png"/>
          <p:cNvPicPr>
            <a:picLocks noChangeAspect="1"/>
          </p:cNvPicPr>
          <p:nvPr/>
        </p:nvPicPr>
        <p:blipFill>
          <a:blip r:embed="rId22">
            <a:alphaModFix amt="92000"/>
          </a:blip>
          <a:stretch>
            <a:fillRect/>
          </a:stretch>
        </p:blipFill>
        <p:spPr>
          <a:xfrm>
            <a:off x="6547104" y="4261104"/>
            <a:ext cx="274320" cy="594360"/>
          </a:xfrm>
          <a:prstGeom prst="rect">
            <a:avLst/>
          </a:prstGeom>
        </p:spPr>
      </p:pic>
      <p:pic>
        <p:nvPicPr>
          <p:cNvPr id="32" name="Image 1" descr="deck/tn01.png"/>
          <p:cNvPicPr>
            <a:picLocks noChangeAspect="1"/>
          </p:cNvPicPr>
          <p:nvPr/>
        </p:nvPicPr>
        <p:blipFill>
          <a:blip r:embed="rId23">
            <a:alphaModFix amt="92000"/>
          </a:blip>
          <a:stretch>
            <a:fillRect/>
          </a:stretch>
        </p:blipFill>
        <p:spPr>
          <a:xfrm>
            <a:off x="6876288" y="4261104"/>
            <a:ext cx="274320" cy="594360"/>
          </a:xfrm>
          <a:prstGeom prst="rect">
            <a:avLst/>
          </a:prstGeom>
        </p:spPr>
      </p:pic>
      <p:pic>
        <p:nvPicPr>
          <p:cNvPr id="33" name="Image 1" descr="deck/tn01.png"/>
          <p:cNvPicPr>
            <a:picLocks noChangeAspect="1"/>
          </p:cNvPicPr>
          <p:nvPr/>
        </p:nvPicPr>
        <p:blipFill>
          <a:blip r:embed="rId24">
            <a:alphaModFix amt="92000"/>
          </a:blip>
          <a:stretch>
            <a:fillRect/>
          </a:stretch>
        </p:blipFill>
        <p:spPr>
          <a:xfrm>
            <a:off x="7205472" y="4261104"/>
            <a:ext cx="274320" cy="594360"/>
          </a:xfrm>
          <a:prstGeom prst="rect">
            <a:avLst/>
          </a:prstGeom>
        </p:spPr>
      </p:pic>
      <p:pic>
        <p:nvPicPr>
          <p:cNvPr id="34" name="Image 1" descr="deck/tn01.png"/>
          <p:cNvPicPr>
            <a:picLocks noChangeAspect="1"/>
          </p:cNvPicPr>
          <p:nvPr/>
        </p:nvPicPr>
        <p:blipFill>
          <a:blip r:embed="rId25">
            <a:alphaModFix amt="92000"/>
          </a:blip>
          <a:stretch>
            <a:fillRect/>
          </a:stretch>
        </p:blipFill>
        <p:spPr>
          <a:xfrm>
            <a:off x="7534656" y="4261104"/>
            <a:ext cx="274320" cy="594360"/>
          </a:xfrm>
          <a:prstGeom prst="rect">
            <a:avLst/>
          </a:prstGeom>
        </p:spPr>
      </p:pic>
      <p:pic>
        <p:nvPicPr>
          <p:cNvPr id="35" name="Image 1" descr="deck/tn01.png"/>
          <p:cNvPicPr>
            <a:picLocks noChangeAspect="1"/>
          </p:cNvPicPr>
          <p:nvPr/>
        </p:nvPicPr>
        <p:blipFill>
          <a:blip r:embed="rId26">
            <a:alphaModFix amt="92000"/>
          </a:blip>
          <a:stretch>
            <a:fillRect/>
          </a:stretch>
        </p:blipFill>
        <p:spPr>
          <a:xfrm>
            <a:off x="7863840" y="4261104"/>
            <a:ext cx="274320" cy="594360"/>
          </a:xfrm>
          <a:prstGeom prst="rect">
            <a:avLst/>
          </a:prstGeom>
        </p:spPr>
      </p:pic>
      <p:pic>
        <p:nvPicPr>
          <p:cNvPr id="36" name="Image 1" descr="deck/tn01.png"/>
          <p:cNvPicPr>
            <a:picLocks noChangeAspect="1"/>
          </p:cNvPicPr>
          <p:nvPr/>
        </p:nvPicPr>
        <p:blipFill>
          <a:blip r:embed="rId27">
            <a:alphaModFix amt="92000"/>
          </a:blip>
          <a:stretch>
            <a:fillRect/>
          </a:stretch>
        </p:blipFill>
        <p:spPr>
          <a:xfrm>
            <a:off x="8193024" y="4261104"/>
            <a:ext cx="274320" cy="594360"/>
          </a:xfrm>
          <a:prstGeom prst="rect">
            <a:avLst/>
          </a:prstGeom>
        </p:spPr>
      </p:pic>
      <p:pic>
        <p:nvPicPr>
          <p:cNvPr id="37" name="Image 1" descr="deck/tn01.png"/>
          <p:cNvPicPr>
            <a:picLocks noChangeAspect="1"/>
          </p:cNvPicPr>
          <p:nvPr/>
        </p:nvPicPr>
        <p:blipFill>
          <a:blip r:embed="rId28">
            <a:alphaModFix amt="92000"/>
          </a:blip>
          <a:stretch>
            <a:fillRect/>
          </a:stretch>
        </p:blipFill>
        <p:spPr>
          <a:xfrm>
            <a:off x="8522208" y="4261104"/>
            <a:ext cx="274320" cy="594360"/>
          </a:xfrm>
          <a:prstGeom prst="rect">
            <a:avLst/>
          </a:prstGeom>
        </p:spPr>
      </p:pic>
      <p:pic>
        <p:nvPicPr>
          <p:cNvPr id="38" name="Image 1" descr="deck/tn01.png"/>
          <p:cNvPicPr>
            <a:picLocks noChangeAspect="1"/>
          </p:cNvPicPr>
          <p:nvPr/>
        </p:nvPicPr>
        <p:blipFill>
          <a:blip r:embed="rId29">
            <a:alphaModFix amt="92000"/>
          </a:blip>
          <a:stretch>
            <a:fillRect/>
          </a:stretch>
        </p:blipFill>
        <p:spPr>
          <a:xfrm>
            <a:off x="8851392" y="4261104"/>
            <a:ext cx="274320" cy="594360"/>
          </a:xfrm>
          <a:prstGeom prst="rect">
            <a:avLst/>
          </a:prstGeom>
        </p:spPr>
      </p:pic>
      <p:pic>
        <p:nvPicPr>
          <p:cNvPr id="39" name="Image 1" descr="deck/tn01.png"/>
          <p:cNvPicPr>
            <a:picLocks noChangeAspect="1"/>
          </p:cNvPicPr>
          <p:nvPr/>
        </p:nvPicPr>
        <p:blipFill>
          <a:blip r:embed="rId30">
            <a:alphaModFix amt="92000"/>
          </a:blip>
          <a:stretch>
            <a:fillRect/>
          </a:stretch>
        </p:blipFill>
        <p:spPr>
          <a:xfrm>
            <a:off x="9180576" y="4261104"/>
            <a:ext cx="274320" cy="594360"/>
          </a:xfrm>
          <a:prstGeom prst="rect">
            <a:avLst/>
          </a:prstGeom>
        </p:spPr>
      </p:pic>
      <p:pic>
        <p:nvPicPr>
          <p:cNvPr id="40" name="Image 1" descr="deck/tn01.png"/>
          <p:cNvPicPr>
            <a:picLocks noChangeAspect="1"/>
          </p:cNvPicPr>
          <p:nvPr/>
        </p:nvPicPr>
        <p:blipFill>
          <a:blip r:embed="rId31">
            <a:alphaModFix amt="92000"/>
          </a:blip>
          <a:stretch>
            <a:fillRect/>
          </a:stretch>
        </p:blipFill>
        <p:spPr>
          <a:xfrm>
            <a:off x="9509760" y="4261104"/>
            <a:ext cx="274320" cy="594360"/>
          </a:xfrm>
          <a:prstGeom prst="rect">
            <a:avLst/>
          </a:prstGeom>
        </p:spPr>
      </p:pic>
      <p:pic>
        <p:nvPicPr>
          <p:cNvPr id="41" name="Image 1" descr="deck/tn01.png"/>
          <p:cNvPicPr>
            <a:picLocks noChangeAspect="1"/>
          </p:cNvPicPr>
          <p:nvPr/>
        </p:nvPicPr>
        <p:blipFill>
          <a:blip r:embed="rId32">
            <a:alphaModFix amt="92000"/>
          </a:blip>
          <a:stretch>
            <a:fillRect/>
          </a:stretch>
        </p:blipFill>
        <p:spPr>
          <a:xfrm>
            <a:off x="9838944" y="4261104"/>
            <a:ext cx="274320" cy="594360"/>
          </a:xfrm>
          <a:prstGeom prst="rect">
            <a:avLst/>
          </a:prstGeom>
        </p:spPr>
      </p:pic>
      <p:pic>
        <p:nvPicPr>
          <p:cNvPr id="42" name="Image 1" descr="deck/tn01.png"/>
          <p:cNvPicPr>
            <a:picLocks noChangeAspect="1"/>
          </p:cNvPicPr>
          <p:nvPr/>
        </p:nvPicPr>
        <p:blipFill>
          <a:blip r:embed="rId33">
            <a:alphaModFix amt="92000"/>
          </a:blip>
          <a:stretch>
            <a:fillRect/>
          </a:stretch>
        </p:blipFill>
        <p:spPr>
          <a:xfrm>
            <a:off x="5230368" y="4910328"/>
            <a:ext cx="274320" cy="594360"/>
          </a:xfrm>
          <a:prstGeom prst="rect">
            <a:avLst/>
          </a:prstGeom>
        </p:spPr>
      </p:pic>
      <p:pic>
        <p:nvPicPr>
          <p:cNvPr id="43" name="Image 1" descr="deck/tn01.png"/>
          <p:cNvPicPr>
            <a:picLocks noChangeAspect="1"/>
          </p:cNvPicPr>
          <p:nvPr/>
        </p:nvPicPr>
        <p:blipFill>
          <a:blip r:embed="rId34">
            <a:alphaModFix amt="92000"/>
          </a:blip>
          <a:stretch>
            <a:fillRect/>
          </a:stretch>
        </p:blipFill>
        <p:spPr>
          <a:xfrm>
            <a:off x="5559552" y="4910328"/>
            <a:ext cx="274320" cy="594360"/>
          </a:xfrm>
          <a:prstGeom prst="rect">
            <a:avLst/>
          </a:prstGeom>
        </p:spPr>
      </p:pic>
      <p:pic>
        <p:nvPicPr>
          <p:cNvPr id="44" name="Image 1" descr="deck/tn01.png"/>
          <p:cNvPicPr>
            <a:picLocks noChangeAspect="1"/>
          </p:cNvPicPr>
          <p:nvPr/>
        </p:nvPicPr>
        <p:blipFill>
          <a:blip r:embed="rId35">
            <a:alphaModFix amt="92000"/>
          </a:blip>
          <a:stretch>
            <a:fillRect/>
          </a:stretch>
        </p:blipFill>
        <p:spPr>
          <a:xfrm>
            <a:off x="5888736" y="4910328"/>
            <a:ext cx="274320" cy="594360"/>
          </a:xfrm>
          <a:prstGeom prst="rect">
            <a:avLst/>
          </a:prstGeom>
        </p:spPr>
      </p:pic>
      <p:pic>
        <p:nvPicPr>
          <p:cNvPr id="45" name="Image 1" descr="deck/tn01.png"/>
          <p:cNvPicPr>
            <a:picLocks noChangeAspect="1"/>
          </p:cNvPicPr>
          <p:nvPr/>
        </p:nvPicPr>
        <p:blipFill>
          <a:blip r:embed="rId36">
            <a:alphaModFix amt="92000"/>
          </a:blip>
          <a:stretch>
            <a:fillRect/>
          </a:stretch>
        </p:blipFill>
        <p:spPr>
          <a:xfrm>
            <a:off x="6217920" y="4910328"/>
            <a:ext cx="274320" cy="594360"/>
          </a:xfrm>
          <a:prstGeom prst="rect">
            <a:avLst/>
          </a:prstGeom>
        </p:spPr>
      </p:pic>
      <p:pic>
        <p:nvPicPr>
          <p:cNvPr id="46" name="Image 1" descr="deck/tn01.png"/>
          <p:cNvPicPr>
            <a:picLocks noChangeAspect="1"/>
          </p:cNvPicPr>
          <p:nvPr/>
        </p:nvPicPr>
        <p:blipFill>
          <a:blip r:embed="rId37">
            <a:alphaModFix amt="92000"/>
          </a:blip>
          <a:stretch>
            <a:fillRect/>
          </a:stretch>
        </p:blipFill>
        <p:spPr>
          <a:xfrm>
            <a:off x="6547104" y="4910328"/>
            <a:ext cx="274320" cy="594360"/>
          </a:xfrm>
          <a:prstGeom prst="rect">
            <a:avLst/>
          </a:prstGeom>
        </p:spPr>
      </p:pic>
      <p:pic>
        <p:nvPicPr>
          <p:cNvPr id="47" name="Image 1" descr="deck/tn01.png"/>
          <p:cNvPicPr>
            <a:picLocks noChangeAspect="1"/>
          </p:cNvPicPr>
          <p:nvPr/>
        </p:nvPicPr>
        <p:blipFill>
          <a:blip r:embed="rId38">
            <a:alphaModFix amt="92000"/>
          </a:blip>
          <a:stretch>
            <a:fillRect/>
          </a:stretch>
        </p:blipFill>
        <p:spPr>
          <a:xfrm>
            <a:off x="6876288" y="4910328"/>
            <a:ext cx="274320" cy="594360"/>
          </a:xfrm>
          <a:prstGeom prst="rect">
            <a:avLst/>
          </a:prstGeom>
        </p:spPr>
      </p:pic>
      <p:pic>
        <p:nvPicPr>
          <p:cNvPr id="48" name="Image 1" descr="deck/tn01.png"/>
          <p:cNvPicPr>
            <a:picLocks noChangeAspect="1"/>
          </p:cNvPicPr>
          <p:nvPr/>
        </p:nvPicPr>
        <p:blipFill>
          <a:blip r:embed="rId39">
            <a:alphaModFix amt="92000"/>
          </a:blip>
          <a:stretch>
            <a:fillRect/>
          </a:stretch>
        </p:blipFill>
        <p:spPr>
          <a:xfrm>
            <a:off x="7205472" y="4910328"/>
            <a:ext cx="274320" cy="594360"/>
          </a:xfrm>
          <a:prstGeom prst="rect">
            <a:avLst/>
          </a:prstGeom>
        </p:spPr>
      </p:pic>
      <p:pic>
        <p:nvPicPr>
          <p:cNvPr id="49" name="Image 1" descr="deck/tn01.png"/>
          <p:cNvPicPr>
            <a:picLocks noChangeAspect="1"/>
          </p:cNvPicPr>
          <p:nvPr/>
        </p:nvPicPr>
        <p:blipFill>
          <a:blip r:embed="rId40">
            <a:alphaModFix amt="92000"/>
          </a:blip>
          <a:stretch>
            <a:fillRect/>
          </a:stretch>
        </p:blipFill>
        <p:spPr>
          <a:xfrm>
            <a:off x="7534656" y="4910328"/>
            <a:ext cx="274320" cy="594360"/>
          </a:xfrm>
          <a:prstGeom prst="rect">
            <a:avLst/>
          </a:prstGeom>
        </p:spPr>
      </p:pic>
      <p:pic>
        <p:nvPicPr>
          <p:cNvPr id="50" name="Image 1" descr="deck/tn01.png"/>
          <p:cNvPicPr>
            <a:picLocks noChangeAspect="1"/>
          </p:cNvPicPr>
          <p:nvPr/>
        </p:nvPicPr>
        <p:blipFill>
          <a:blip r:embed="rId41">
            <a:alphaModFix amt="92000"/>
          </a:blip>
          <a:stretch>
            <a:fillRect/>
          </a:stretch>
        </p:blipFill>
        <p:spPr>
          <a:xfrm>
            <a:off x="7863840" y="4910328"/>
            <a:ext cx="274320" cy="594360"/>
          </a:xfrm>
          <a:prstGeom prst="rect">
            <a:avLst/>
          </a:prstGeom>
        </p:spPr>
      </p:pic>
      <p:pic>
        <p:nvPicPr>
          <p:cNvPr id="51" name="Image 1" descr="deck/tn01.png"/>
          <p:cNvPicPr>
            <a:picLocks noChangeAspect="1"/>
          </p:cNvPicPr>
          <p:nvPr/>
        </p:nvPicPr>
        <p:blipFill>
          <a:blip r:embed="rId42">
            <a:alphaModFix amt="92000"/>
          </a:blip>
          <a:stretch>
            <a:fillRect/>
          </a:stretch>
        </p:blipFill>
        <p:spPr>
          <a:xfrm>
            <a:off x="8193024" y="4910328"/>
            <a:ext cx="274320" cy="594360"/>
          </a:xfrm>
          <a:prstGeom prst="rect">
            <a:avLst/>
          </a:prstGeom>
        </p:spPr>
      </p:pic>
      <p:pic>
        <p:nvPicPr>
          <p:cNvPr id="52" name="Image 1" descr="deck/tn01.png"/>
          <p:cNvPicPr>
            <a:picLocks noChangeAspect="1"/>
          </p:cNvPicPr>
          <p:nvPr/>
        </p:nvPicPr>
        <p:blipFill>
          <a:blip r:embed="rId43">
            <a:alphaModFix amt="92000"/>
          </a:blip>
          <a:stretch>
            <a:fillRect/>
          </a:stretch>
        </p:blipFill>
        <p:spPr>
          <a:xfrm>
            <a:off x="8522208" y="4910328"/>
            <a:ext cx="274320" cy="594360"/>
          </a:xfrm>
          <a:prstGeom prst="rect">
            <a:avLst/>
          </a:prstGeom>
        </p:spPr>
      </p:pic>
      <p:pic>
        <p:nvPicPr>
          <p:cNvPr id="53" name="Image 1" descr="deck/tn01.png"/>
          <p:cNvPicPr>
            <a:picLocks noChangeAspect="1"/>
          </p:cNvPicPr>
          <p:nvPr/>
        </p:nvPicPr>
        <p:blipFill>
          <a:blip r:embed="rId44">
            <a:alphaModFix amt="92000"/>
          </a:blip>
          <a:stretch>
            <a:fillRect/>
          </a:stretch>
        </p:blipFill>
        <p:spPr>
          <a:xfrm>
            <a:off x="8851392" y="4910328"/>
            <a:ext cx="274320" cy="594360"/>
          </a:xfrm>
          <a:prstGeom prst="rect">
            <a:avLst/>
          </a:prstGeom>
        </p:spPr>
      </p:pic>
      <p:pic>
        <p:nvPicPr>
          <p:cNvPr id="54" name="Image 1" descr="deck/tn01.png"/>
          <p:cNvPicPr>
            <a:picLocks noChangeAspect="1"/>
          </p:cNvPicPr>
          <p:nvPr/>
        </p:nvPicPr>
        <p:blipFill>
          <a:blip r:embed="rId45">
            <a:alphaModFix amt="92000"/>
          </a:blip>
          <a:stretch>
            <a:fillRect/>
          </a:stretch>
        </p:blipFill>
        <p:spPr>
          <a:xfrm>
            <a:off x="9180576" y="4910328"/>
            <a:ext cx="274320" cy="594360"/>
          </a:xfrm>
          <a:prstGeom prst="rect">
            <a:avLst/>
          </a:prstGeom>
        </p:spPr>
      </p:pic>
      <p:pic>
        <p:nvPicPr>
          <p:cNvPr id="55" name="Image 1" descr="deck/tn01.png"/>
          <p:cNvPicPr>
            <a:picLocks noChangeAspect="1"/>
          </p:cNvPicPr>
          <p:nvPr/>
        </p:nvPicPr>
        <p:blipFill>
          <a:blip r:embed="rId46">
            <a:alphaModFix amt="92000"/>
          </a:blip>
          <a:stretch>
            <a:fillRect/>
          </a:stretch>
        </p:blipFill>
        <p:spPr>
          <a:xfrm>
            <a:off x="9509760" y="4910328"/>
            <a:ext cx="274320" cy="594360"/>
          </a:xfrm>
          <a:prstGeom prst="rect">
            <a:avLst/>
          </a:prstGeom>
        </p:spPr>
      </p:pic>
      <p:pic>
        <p:nvPicPr>
          <p:cNvPr id="56" name="Image 1" descr="deck/tn01.png"/>
          <p:cNvPicPr>
            <a:picLocks noChangeAspect="1"/>
          </p:cNvPicPr>
          <p:nvPr/>
        </p:nvPicPr>
        <p:blipFill>
          <a:blip r:embed="rId47">
            <a:alphaModFix amt="92000"/>
          </a:blip>
          <a:stretch>
            <a:fillRect/>
          </a:stretch>
        </p:blipFill>
        <p:spPr>
          <a:xfrm>
            <a:off x="9838944" y="4910328"/>
            <a:ext cx="274320" cy="594360"/>
          </a:xfrm>
          <a:prstGeom prst="rect">
            <a:avLst/>
          </a:prstGeom>
        </p:spPr>
      </p:pic>
      <p:sp>
        <p:nvSpPr>
          <p:cNvPr id="57" name="Text 9"/>
          <p:cNvSpPr/>
          <p:nvPr/>
        </p:nvSpPr>
        <p:spPr>
          <a:xfrm>
            <a:off x="5230368" y="5559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6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screens  ·  7 stages</a:t>
            </a:r>
            <a:endParaRPr lang="en-US" sz="900" dirty="0"/>
          </a:p>
        </p:txBody>
      </p:sp>
      <p:sp>
        <p:nvSpPr>
          <p:cNvPr id="58" name="Shape 10"/>
          <p:cNvSpPr/>
          <p:nvPr/>
        </p:nvSpPr>
        <p:spPr>
          <a:xfrm>
            <a:off x="822960" y="5943600"/>
            <a:ext cx="10545775" cy="0"/>
          </a:xfrm>
          <a:prstGeom prst="line">
            <a:avLst/>
          </a:prstGeom>
          <a:noFill/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1"/>
          <p:cNvSpPr/>
          <p:nvPr/>
        </p:nvSpPr>
        <p:spPr>
          <a:xfrm>
            <a:off x="822960" y="6053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discussion draft  ·  October 2026</a:t>
            </a:r>
            <a:endParaRPr lang="en-US" sz="950" dirty="0"/>
          </a:p>
        </p:txBody>
      </p:sp>
      <p:sp>
        <p:nvSpPr>
          <p:cNvPr id="60" name="Text 12"/>
          <p:cNvSpPr/>
          <p:nvPr/>
        </p:nvSpPr>
        <p:spPr>
          <a:xfrm>
            <a:off x="5852160" y="6053328"/>
            <a:ext cx="5513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kern="0" spc="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flow 1–19 updated to the 16 Oct app build; paid flow 20–45 unchanged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20624"/>
            <a:ext cx="1444752" cy="338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1440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kern="0" spc="-7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end to end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76072" y="14264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stages. The patient is never asked to do work the record can do for them.</a:t>
            </a:r>
            <a:endParaRPr lang="en-US" sz="1300" dirty="0"/>
          </a:p>
        </p:txBody>
      </p:sp>
      <p:sp>
        <p:nvSpPr>
          <p:cNvPr id="5" name="Shape 54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5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7" name="Text 56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00" dirty="0"/>
          </a:p>
        </p:txBody>
      </p:sp>
      <p:sp>
        <p:nvSpPr>
          <p:cNvPr id="8" name="Text 57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2"/>
          <p:cNvSpPr/>
          <p:nvPr/>
        </p:nvSpPr>
        <p:spPr>
          <a:xfrm>
            <a:off x="5669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"/>
          <p:cNvSpPr/>
          <p:nvPr/>
        </p:nvSpPr>
        <p:spPr>
          <a:xfrm>
            <a:off x="5669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/>
          <p:nvPr/>
        </p:nvSpPr>
        <p:spPr>
          <a:xfrm>
            <a:off x="6766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5"/>
          <p:cNvSpPr/>
          <p:nvPr/>
        </p:nvSpPr>
        <p:spPr>
          <a:xfrm>
            <a:off x="6766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&amp; SIGN IN</a:t>
            </a:r>
            <a:endParaRPr lang="en-US" sz="1000" dirty="0"/>
          </a:p>
        </p:txBody>
      </p:sp>
      <p:sp>
        <p:nvSpPr>
          <p:cNvPr id="13" name="Text 6"/>
          <p:cNvSpPr/>
          <p:nvPr/>
        </p:nvSpPr>
        <p:spPr>
          <a:xfrm>
            <a:off x="6766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clinic's invitation email to a signed in patient, with one code.</a:t>
            </a:r>
            <a:endParaRPr lang="en-US" sz="920" dirty="0"/>
          </a:p>
        </p:txBody>
      </p:sp>
      <p:pic>
        <p:nvPicPr>
          <p:cNvPr id="14" name="Image 1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639312"/>
            <a:ext cx="214884" cy="46543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6352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pic>
        <p:nvPicPr>
          <p:cNvPr id="16" name="Image 1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639312"/>
            <a:ext cx="214884" cy="46543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01498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pic>
        <p:nvPicPr>
          <p:cNvPr id="18" name="Image 1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3639312"/>
            <a:ext cx="214884" cy="46543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26644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pic>
        <p:nvPicPr>
          <p:cNvPr id="20" name="Image 1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624" y="3639312"/>
            <a:ext cx="214884" cy="465430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151790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2" name="Text 14"/>
          <p:cNvSpPr/>
          <p:nvPr/>
        </p:nvSpPr>
        <p:spPr>
          <a:xfrm>
            <a:off x="20208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Shape 2"/>
          <p:cNvSpPr/>
          <p:nvPr/>
        </p:nvSpPr>
        <p:spPr>
          <a:xfrm>
            <a:off x="21671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3"/>
          <p:cNvSpPr/>
          <p:nvPr/>
        </p:nvSpPr>
        <p:spPr>
          <a:xfrm>
            <a:off x="21671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4"/>
          <p:cNvSpPr/>
          <p:nvPr/>
        </p:nvSpPr>
        <p:spPr>
          <a:xfrm>
            <a:off x="22768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5"/>
          <p:cNvSpPr/>
          <p:nvPr/>
        </p:nvSpPr>
        <p:spPr>
          <a:xfrm>
            <a:off x="22768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CONSENT</a:t>
            </a:r>
            <a:endParaRPr lang="en-US" sz="1000" dirty="0"/>
          </a:p>
        </p:txBody>
      </p:sp>
      <p:sp>
        <p:nvSpPr>
          <p:cNvPr id="27" name="Text 6"/>
          <p:cNvSpPr/>
          <p:nvPr/>
        </p:nvSpPr>
        <p:spPr>
          <a:xfrm>
            <a:off x="22768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clinic's details, then one consent before anything is read.</a:t>
            </a:r>
            <a:endParaRPr lang="en-US" sz="920" dirty="0"/>
          </a:p>
        </p:txBody>
      </p:sp>
      <p:pic>
        <p:nvPicPr>
          <p:cNvPr id="28" name="Image 1" descr="deck/tn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5174" y="3639312"/>
            <a:ext cx="214884" cy="465430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24894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 dirty="0"/>
          </a:p>
        </p:txBody>
      </p:sp>
      <p:pic>
        <p:nvPicPr>
          <p:cNvPr id="30" name="Image 1" descr="deck/tn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6634" y="3639312"/>
            <a:ext cx="214884" cy="465430"/>
          </a:xfrm>
          <a:prstGeom prst="rect">
            <a:avLst/>
          </a:prstGeom>
        </p:spPr>
      </p:pic>
      <p:sp>
        <p:nvSpPr>
          <p:cNvPr id="31" name="Text 7"/>
          <p:cNvSpPr/>
          <p:nvPr/>
        </p:nvSpPr>
        <p:spPr>
          <a:xfrm>
            <a:off x="27409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50" dirty="0"/>
          </a:p>
        </p:txBody>
      </p:sp>
      <p:pic>
        <p:nvPicPr>
          <p:cNvPr id="32" name="Image 1" descr="deck/tn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8094" y="3639312"/>
            <a:ext cx="214884" cy="465430"/>
          </a:xfrm>
          <a:prstGeom prst="rect">
            <a:avLst/>
          </a:prstGeom>
        </p:spPr>
      </p:pic>
      <p:sp>
        <p:nvSpPr>
          <p:cNvPr id="33" name="Text 7"/>
          <p:cNvSpPr/>
          <p:nvPr/>
        </p:nvSpPr>
        <p:spPr>
          <a:xfrm>
            <a:off x="29923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50" dirty="0"/>
          </a:p>
        </p:txBody>
      </p:sp>
      <p:sp>
        <p:nvSpPr>
          <p:cNvPr id="34" name="Text 14"/>
          <p:cNvSpPr/>
          <p:nvPr/>
        </p:nvSpPr>
        <p:spPr>
          <a:xfrm>
            <a:off x="36210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2"/>
          <p:cNvSpPr/>
          <p:nvPr/>
        </p:nvSpPr>
        <p:spPr>
          <a:xfrm>
            <a:off x="37673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"/>
          <p:cNvSpPr/>
          <p:nvPr/>
        </p:nvSpPr>
        <p:spPr>
          <a:xfrm>
            <a:off x="37673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4"/>
          <p:cNvSpPr/>
          <p:nvPr/>
        </p:nvSpPr>
        <p:spPr>
          <a:xfrm>
            <a:off x="38770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8" name="Text 5"/>
          <p:cNvSpPr/>
          <p:nvPr/>
        </p:nvSpPr>
        <p:spPr>
          <a:xfrm>
            <a:off x="38770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9" name="Text 6"/>
          <p:cNvSpPr/>
          <p:nvPr/>
        </p:nvSpPr>
        <p:spPr>
          <a:xfrm>
            <a:off x="38770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life questions, three picked, then the record builds in front of them.</a:t>
            </a:r>
            <a:endParaRPr lang="en-US" sz="920" dirty="0"/>
          </a:p>
        </p:txBody>
      </p:sp>
      <p:pic>
        <p:nvPicPr>
          <p:cNvPr id="40" name="Image 1" descr="deck/tn0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3914" y="3639312"/>
            <a:ext cx="214884" cy="465430"/>
          </a:xfrm>
          <a:prstGeom prst="rect">
            <a:avLst/>
          </a:prstGeom>
        </p:spPr>
      </p:pic>
      <p:sp>
        <p:nvSpPr>
          <p:cNvPr id="41" name="Text 7"/>
          <p:cNvSpPr/>
          <p:nvPr/>
        </p:nvSpPr>
        <p:spPr>
          <a:xfrm>
            <a:off x="38381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50" dirty="0"/>
          </a:p>
        </p:txBody>
      </p:sp>
      <p:pic>
        <p:nvPicPr>
          <p:cNvPr id="42" name="Image 1" descr="deck/tn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5374" y="3639312"/>
            <a:ext cx="214884" cy="465430"/>
          </a:xfrm>
          <a:prstGeom prst="rect">
            <a:avLst/>
          </a:prstGeom>
        </p:spPr>
      </p:pic>
      <p:sp>
        <p:nvSpPr>
          <p:cNvPr id="43" name="Text 7"/>
          <p:cNvSpPr/>
          <p:nvPr/>
        </p:nvSpPr>
        <p:spPr>
          <a:xfrm>
            <a:off x="40896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50" dirty="0"/>
          </a:p>
        </p:txBody>
      </p:sp>
      <p:pic>
        <p:nvPicPr>
          <p:cNvPr id="44" name="Image 1" descr="deck/tn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6834" y="3639312"/>
            <a:ext cx="214884" cy="465430"/>
          </a:xfrm>
          <a:prstGeom prst="rect">
            <a:avLst/>
          </a:prstGeom>
        </p:spPr>
      </p:pic>
      <p:sp>
        <p:nvSpPr>
          <p:cNvPr id="45" name="Text 7"/>
          <p:cNvSpPr/>
          <p:nvPr/>
        </p:nvSpPr>
        <p:spPr>
          <a:xfrm>
            <a:off x="43411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 dirty="0"/>
          </a:p>
        </p:txBody>
      </p:sp>
      <p:pic>
        <p:nvPicPr>
          <p:cNvPr id="46" name="Image 1" descr="deck/tn0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8294" y="3639312"/>
            <a:ext cx="214884" cy="465430"/>
          </a:xfrm>
          <a:prstGeom prst="rect">
            <a:avLst/>
          </a:prstGeom>
        </p:spPr>
      </p:pic>
      <p:sp>
        <p:nvSpPr>
          <p:cNvPr id="47" name="Text 7"/>
          <p:cNvSpPr/>
          <p:nvPr/>
        </p:nvSpPr>
        <p:spPr>
          <a:xfrm>
            <a:off x="45925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 dirty="0"/>
          </a:p>
        </p:txBody>
      </p:sp>
      <p:pic>
        <p:nvPicPr>
          <p:cNvPr id="48" name="Image 1" descr="deck/tn0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89754" y="3639312"/>
            <a:ext cx="214884" cy="465430"/>
          </a:xfrm>
          <a:prstGeom prst="rect">
            <a:avLst/>
          </a:prstGeom>
        </p:spPr>
      </p:pic>
      <p:sp>
        <p:nvSpPr>
          <p:cNvPr id="49" name="Text 7"/>
          <p:cNvSpPr/>
          <p:nvPr/>
        </p:nvSpPr>
        <p:spPr>
          <a:xfrm>
            <a:off x="48440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 dirty="0"/>
          </a:p>
        </p:txBody>
      </p:sp>
      <p:sp>
        <p:nvSpPr>
          <p:cNvPr id="50" name="Text 14"/>
          <p:cNvSpPr/>
          <p:nvPr/>
        </p:nvSpPr>
        <p:spPr>
          <a:xfrm>
            <a:off x="52212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51" name="Shape 2"/>
          <p:cNvSpPr/>
          <p:nvPr/>
        </p:nvSpPr>
        <p:spPr>
          <a:xfrm>
            <a:off x="53675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3"/>
          <p:cNvSpPr/>
          <p:nvPr/>
        </p:nvSpPr>
        <p:spPr>
          <a:xfrm>
            <a:off x="53675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"/>
          <p:cNvSpPr/>
          <p:nvPr/>
        </p:nvSpPr>
        <p:spPr>
          <a:xfrm>
            <a:off x="54772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4" name="Text 5"/>
          <p:cNvSpPr/>
          <p:nvPr/>
        </p:nvSpPr>
        <p:spPr>
          <a:xfrm>
            <a:off x="54772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55" name="Text 6"/>
          <p:cNvSpPr/>
          <p:nvPr/>
        </p:nvSpPr>
        <p:spPr>
          <a:xfrm>
            <a:off x="54772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record: what needs them, trends, to do and Ask Inlay.</a:t>
            </a:r>
            <a:endParaRPr lang="en-US" sz="920" dirty="0"/>
          </a:p>
        </p:txBody>
      </p:sp>
      <p:pic>
        <p:nvPicPr>
          <p:cNvPr id="56" name="Image 1" descr="deck/tn0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4114" y="3639312"/>
            <a:ext cx="214884" cy="465430"/>
          </a:xfrm>
          <a:prstGeom prst="rect">
            <a:avLst/>
          </a:prstGeom>
        </p:spPr>
      </p:pic>
      <p:sp>
        <p:nvSpPr>
          <p:cNvPr id="57" name="Text 7"/>
          <p:cNvSpPr/>
          <p:nvPr/>
        </p:nvSpPr>
        <p:spPr>
          <a:xfrm>
            <a:off x="54383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 dirty="0"/>
          </a:p>
        </p:txBody>
      </p:sp>
      <p:pic>
        <p:nvPicPr>
          <p:cNvPr id="58" name="Image 1" descr="deck/tn0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35574" y="3639312"/>
            <a:ext cx="214884" cy="465430"/>
          </a:xfrm>
          <a:prstGeom prst="rect">
            <a:avLst/>
          </a:prstGeom>
        </p:spPr>
      </p:pic>
      <p:sp>
        <p:nvSpPr>
          <p:cNvPr id="59" name="Text 7"/>
          <p:cNvSpPr/>
          <p:nvPr/>
        </p:nvSpPr>
        <p:spPr>
          <a:xfrm>
            <a:off x="56898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650" dirty="0"/>
          </a:p>
        </p:txBody>
      </p:sp>
      <p:pic>
        <p:nvPicPr>
          <p:cNvPr id="60" name="Image 1" descr="deck/tn0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87034" y="3639312"/>
            <a:ext cx="214884" cy="465430"/>
          </a:xfrm>
          <a:prstGeom prst="rect">
            <a:avLst/>
          </a:prstGeom>
        </p:spPr>
      </p:pic>
      <p:sp>
        <p:nvSpPr>
          <p:cNvPr id="61" name="Text 7"/>
          <p:cNvSpPr/>
          <p:nvPr/>
        </p:nvSpPr>
        <p:spPr>
          <a:xfrm>
            <a:off x="59413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650" dirty="0"/>
          </a:p>
        </p:txBody>
      </p:sp>
      <p:pic>
        <p:nvPicPr>
          <p:cNvPr id="62" name="Image 1" descr="deck/tn0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8494" y="3639312"/>
            <a:ext cx="214884" cy="465430"/>
          </a:xfrm>
          <a:prstGeom prst="rect">
            <a:avLst/>
          </a:prstGeom>
        </p:spPr>
      </p:pic>
      <p:sp>
        <p:nvSpPr>
          <p:cNvPr id="63" name="Text 7"/>
          <p:cNvSpPr/>
          <p:nvPr/>
        </p:nvSpPr>
        <p:spPr>
          <a:xfrm>
            <a:off x="61927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50" dirty="0"/>
          </a:p>
        </p:txBody>
      </p:sp>
      <p:pic>
        <p:nvPicPr>
          <p:cNvPr id="64" name="Image 1" descr="deck/tn0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9954" y="3639312"/>
            <a:ext cx="214884" cy="465430"/>
          </a:xfrm>
          <a:prstGeom prst="rect">
            <a:avLst/>
          </a:prstGeom>
        </p:spPr>
      </p:pic>
      <p:sp>
        <p:nvSpPr>
          <p:cNvPr id="65" name="Text 7"/>
          <p:cNvSpPr/>
          <p:nvPr/>
        </p:nvSpPr>
        <p:spPr>
          <a:xfrm>
            <a:off x="64442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650" dirty="0"/>
          </a:p>
        </p:txBody>
      </p:sp>
      <p:pic>
        <p:nvPicPr>
          <p:cNvPr id="66" name="Image 1" descr="deck/tn0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61304" y="4278478"/>
            <a:ext cx="214884" cy="465430"/>
          </a:xfrm>
          <a:prstGeom prst="rect">
            <a:avLst/>
          </a:prstGeom>
        </p:spPr>
      </p:pic>
      <p:sp>
        <p:nvSpPr>
          <p:cNvPr id="67" name="Text 7"/>
          <p:cNvSpPr/>
          <p:nvPr/>
        </p:nvSpPr>
        <p:spPr>
          <a:xfrm>
            <a:off x="581558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650" dirty="0"/>
          </a:p>
        </p:txBody>
      </p:sp>
      <p:pic>
        <p:nvPicPr>
          <p:cNvPr id="68" name="Image 1" descr="deck/tn0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12764" y="4278478"/>
            <a:ext cx="214884" cy="465430"/>
          </a:xfrm>
          <a:prstGeom prst="rect">
            <a:avLst/>
          </a:prstGeom>
        </p:spPr>
      </p:pic>
      <p:sp>
        <p:nvSpPr>
          <p:cNvPr id="69" name="Text 7"/>
          <p:cNvSpPr/>
          <p:nvPr/>
        </p:nvSpPr>
        <p:spPr>
          <a:xfrm>
            <a:off x="606704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650" dirty="0"/>
          </a:p>
        </p:txBody>
      </p:sp>
      <p:sp>
        <p:nvSpPr>
          <p:cNvPr id="70" name="Text 14"/>
          <p:cNvSpPr/>
          <p:nvPr/>
        </p:nvSpPr>
        <p:spPr>
          <a:xfrm>
            <a:off x="68214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71" name="Shape 2"/>
          <p:cNvSpPr/>
          <p:nvPr/>
        </p:nvSpPr>
        <p:spPr>
          <a:xfrm>
            <a:off x="69677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3"/>
          <p:cNvSpPr/>
          <p:nvPr/>
        </p:nvSpPr>
        <p:spPr>
          <a:xfrm>
            <a:off x="69677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4"/>
          <p:cNvSpPr/>
          <p:nvPr/>
        </p:nvSpPr>
        <p:spPr>
          <a:xfrm>
            <a:off x="70774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74" name="Text 5"/>
          <p:cNvSpPr/>
          <p:nvPr/>
        </p:nvSpPr>
        <p:spPr>
          <a:xfrm>
            <a:off x="70774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 &amp; UPGRADE</a:t>
            </a:r>
            <a:endParaRPr lang="en-US" sz="1000" dirty="0"/>
          </a:p>
        </p:txBody>
      </p:sp>
      <p:sp>
        <p:nvSpPr>
          <p:cNvPr id="75" name="Text 6"/>
          <p:cNvSpPr/>
          <p:nvPr/>
        </p:nvSpPr>
        <p:spPr>
          <a:xfrm>
            <a:off x="70774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to payment to Dr. Patel's review, then accept or ask for a change.</a:t>
            </a:r>
            <a:endParaRPr lang="en-US" sz="920" dirty="0"/>
          </a:p>
        </p:txBody>
      </p:sp>
      <p:pic>
        <p:nvPicPr>
          <p:cNvPr id="76" name="Image 1" descr="deck/tn0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84314" y="3639312"/>
            <a:ext cx="214884" cy="465430"/>
          </a:xfrm>
          <a:prstGeom prst="rect">
            <a:avLst/>
          </a:prstGeom>
        </p:spPr>
      </p:pic>
      <p:sp>
        <p:nvSpPr>
          <p:cNvPr id="77" name="Text 7"/>
          <p:cNvSpPr/>
          <p:nvPr/>
        </p:nvSpPr>
        <p:spPr>
          <a:xfrm>
            <a:off x="70385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650" dirty="0"/>
          </a:p>
        </p:txBody>
      </p:sp>
      <p:pic>
        <p:nvPicPr>
          <p:cNvPr id="78" name="Image 1" descr="deck/tn0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35774" y="3639312"/>
            <a:ext cx="214884" cy="465430"/>
          </a:xfrm>
          <a:prstGeom prst="rect">
            <a:avLst/>
          </a:prstGeom>
        </p:spPr>
      </p:pic>
      <p:sp>
        <p:nvSpPr>
          <p:cNvPr id="79" name="Text 7"/>
          <p:cNvSpPr/>
          <p:nvPr/>
        </p:nvSpPr>
        <p:spPr>
          <a:xfrm>
            <a:off x="72900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650" dirty="0"/>
          </a:p>
        </p:txBody>
      </p:sp>
      <p:pic>
        <p:nvPicPr>
          <p:cNvPr id="80" name="Image 1" descr="deck/tn0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87234" y="3639312"/>
            <a:ext cx="214884" cy="465430"/>
          </a:xfrm>
          <a:prstGeom prst="rect">
            <a:avLst/>
          </a:prstGeom>
        </p:spPr>
      </p:pic>
      <p:sp>
        <p:nvSpPr>
          <p:cNvPr id="81" name="Text 7"/>
          <p:cNvSpPr/>
          <p:nvPr/>
        </p:nvSpPr>
        <p:spPr>
          <a:xfrm>
            <a:off x="75415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650" dirty="0"/>
          </a:p>
        </p:txBody>
      </p:sp>
      <p:pic>
        <p:nvPicPr>
          <p:cNvPr id="82" name="Image 1" descr="deck/tn01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38694" y="3639312"/>
            <a:ext cx="214884" cy="465430"/>
          </a:xfrm>
          <a:prstGeom prst="rect">
            <a:avLst/>
          </a:prstGeom>
        </p:spPr>
      </p:pic>
      <p:sp>
        <p:nvSpPr>
          <p:cNvPr id="83" name="Text 7"/>
          <p:cNvSpPr/>
          <p:nvPr/>
        </p:nvSpPr>
        <p:spPr>
          <a:xfrm>
            <a:off x="77929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650" dirty="0"/>
          </a:p>
        </p:txBody>
      </p:sp>
      <p:pic>
        <p:nvPicPr>
          <p:cNvPr id="84" name="Image 1" descr="deck/tn0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90154" y="3639312"/>
            <a:ext cx="214884" cy="465430"/>
          </a:xfrm>
          <a:prstGeom prst="rect">
            <a:avLst/>
          </a:prstGeom>
        </p:spPr>
      </p:pic>
      <p:sp>
        <p:nvSpPr>
          <p:cNvPr id="85" name="Text 7"/>
          <p:cNvSpPr/>
          <p:nvPr/>
        </p:nvSpPr>
        <p:spPr>
          <a:xfrm>
            <a:off x="80444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650" dirty="0"/>
          </a:p>
        </p:txBody>
      </p:sp>
      <p:pic>
        <p:nvPicPr>
          <p:cNvPr id="86" name="Image 1" descr="deck/tn0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84314" y="4278478"/>
            <a:ext cx="214884" cy="465430"/>
          </a:xfrm>
          <a:prstGeom prst="rect">
            <a:avLst/>
          </a:prstGeom>
        </p:spPr>
      </p:pic>
      <p:sp>
        <p:nvSpPr>
          <p:cNvPr id="87" name="Text 7"/>
          <p:cNvSpPr/>
          <p:nvPr/>
        </p:nvSpPr>
        <p:spPr>
          <a:xfrm>
            <a:off x="703859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50" dirty="0"/>
          </a:p>
        </p:txBody>
      </p:sp>
      <p:pic>
        <p:nvPicPr>
          <p:cNvPr id="88" name="Image 1" descr="deck/tn01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35774" y="4278478"/>
            <a:ext cx="214884" cy="465430"/>
          </a:xfrm>
          <a:prstGeom prst="rect">
            <a:avLst/>
          </a:prstGeom>
        </p:spPr>
      </p:pic>
      <p:sp>
        <p:nvSpPr>
          <p:cNvPr id="89" name="Text 7"/>
          <p:cNvSpPr/>
          <p:nvPr/>
        </p:nvSpPr>
        <p:spPr>
          <a:xfrm>
            <a:off x="729005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650" dirty="0"/>
          </a:p>
        </p:txBody>
      </p:sp>
      <p:pic>
        <p:nvPicPr>
          <p:cNvPr id="90" name="Image 1" descr="deck/tn0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87234" y="4278478"/>
            <a:ext cx="214884" cy="465430"/>
          </a:xfrm>
          <a:prstGeom prst="rect">
            <a:avLst/>
          </a:prstGeom>
        </p:spPr>
      </p:pic>
      <p:sp>
        <p:nvSpPr>
          <p:cNvPr id="91" name="Text 7"/>
          <p:cNvSpPr/>
          <p:nvPr/>
        </p:nvSpPr>
        <p:spPr>
          <a:xfrm>
            <a:off x="754151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650" dirty="0"/>
          </a:p>
        </p:txBody>
      </p:sp>
      <p:pic>
        <p:nvPicPr>
          <p:cNvPr id="92" name="Image 1" descr="deck/tn0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38694" y="4278478"/>
            <a:ext cx="214884" cy="465430"/>
          </a:xfrm>
          <a:prstGeom prst="rect">
            <a:avLst/>
          </a:prstGeom>
        </p:spPr>
      </p:pic>
      <p:sp>
        <p:nvSpPr>
          <p:cNvPr id="93" name="Text 7"/>
          <p:cNvSpPr/>
          <p:nvPr/>
        </p:nvSpPr>
        <p:spPr>
          <a:xfrm>
            <a:off x="779297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650" dirty="0"/>
          </a:p>
        </p:txBody>
      </p:sp>
      <p:pic>
        <p:nvPicPr>
          <p:cNvPr id="94" name="Image 1" descr="deck/tn01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90154" y="4278478"/>
            <a:ext cx="214884" cy="465430"/>
          </a:xfrm>
          <a:prstGeom prst="rect">
            <a:avLst/>
          </a:prstGeom>
        </p:spPr>
      </p:pic>
      <p:sp>
        <p:nvSpPr>
          <p:cNvPr id="95" name="Text 7"/>
          <p:cNvSpPr/>
          <p:nvPr/>
        </p:nvSpPr>
        <p:spPr>
          <a:xfrm>
            <a:off x="804443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50" dirty="0"/>
          </a:p>
        </p:txBody>
      </p:sp>
      <p:pic>
        <p:nvPicPr>
          <p:cNvPr id="96" name="Image 1" descr="deck/tn01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084314" y="4917643"/>
            <a:ext cx="214884" cy="465430"/>
          </a:xfrm>
          <a:prstGeom prst="rect">
            <a:avLst/>
          </a:prstGeom>
        </p:spPr>
      </p:pic>
      <p:sp>
        <p:nvSpPr>
          <p:cNvPr id="97" name="Text 7"/>
          <p:cNvSpPr/>
          <p:nvPr/>
        </p:nvSpPr>
        <p:spPr>
          <a:xfrm>
            <a:off x="703859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650" dirty="0"/>
          </a:p>
        </p:txBody>
      </p:sp>
      <p:pic>
        <p:nvPicPr>
          <p:cNvPr id="98" name="Image 1" descr="deck/tn0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335774" y="4917643"/>
            <a:ext cx="214884" cy="465430"/>
          </a:xfrm>
          <a:prstGeom prst="rect">
            <a:avLst/>
          </a:prstGeom>
        </p:spPr>
      </p:pic>
      <p:sp>
        <p:nvSpPr>
          <p:cNvPr id="99" name="Text 7"/>
          <p:cNvSpPr/>
          <p:nvPr/>
        </p:nvSpPr>
        <p:spPr>
          <a:xfrm>
            <a:off x="729005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650" dirty="0"/>
          </a:p>
        </p:txBody>
      </p:sp>
      <p:pic>
        <p:nvPicPr>
          <p:cNvPr id="100" name="Image 1" descr="deck/tn01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87234" y="4917643"/>
            <a:ext cx="214884" cy="465430"/>
          </a:xfrm>
          <a:prstGeom prst="rect">
            <a:avLst/>
          </a:prstGeom>
        </p:spPr>
      </p:pic>
      <p:sp>
        <p:nvSpPr>
          <p:cNvPr id="101" name="Text 7"/>
          <p:cNvSpPr/>
          <p:nvPr/>
        </p:nvSpPr>
        <p:spPr>
          <a:xfrm>
            <a:off x="754151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50" dirty="0"/>
          </a:p>
        </p:txBody>
      </p:sp>
      <p:pic>
        <p:nvPicPr>
          <p:cNvPr id="102" name="Image 1" descr="deck/tn01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838694" y="4917643"/>
            <a:ext cx="214884" cy="465430"/>
          </a:xfrm>
          <a:prstGeom prst="rect">
            <a:avLst/>
          </a:prstGeom>
        </p:spPr>
      </p:pic>
      <p:sp>
        <p:nvSpPr>
          <p:cNvPr id="103" name="Text 7"/>
          <p:cNvSpPr/>
          <p:nvPr/>
        </p:nvSpPr>
        <p:spPr>
          <a:xfrm>
            <a:off x="779297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50" dirty="0"/>
          </a:p>
        </p:txBody>
      </p:sp>
      <p:pic>
        <p:nvPicPr>
          <p:cNvPr id="104" name="Image 1" descr="deck/tn01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090154" y="4917643"/>
            <a:ext cx="214884" cy="465430"/>
          </a:xfrm>
          <a:prstGeom prst="rect">
            <a:avLst/>
          </a:prstGeom>
        </p:spPr>
      </p:pic>
      <p:sp>
        <p:nvSpPr>
          <p:cNvPr id="105" name="Text 7"/>
          <p:cNvSpPr/>
          <p:nvPr/>
        </p:nvSpPr>
        <p:spPr>
          <a:xfrm>
            <a:off x="8044434" y="5387645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650" dirty="0"/>
          </a:p>
        </p:txBody>
      </p:sp>
      <p:sp>
        <p:nvSpPr>
          <p:cNvPr id="106" name="Text 14"/>
          <p:cNvSpPr/>
          <p:nvPr/>
        </p:nvSpPr>
        <p:spPr>
          <a:xfrm>
            <a:off x="84216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07" name="Shape 2"/>
          <p:cNvSpPr/>
          <p:nvPr/>
        </p:nvSpPr>
        <p:spPr>
          <a:xfrm>
            <a:off x="85679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3"/>
          <p:cNvSpPr/>
          <p:nvPr/>
        </p:nvSpPr>
        <p:spPr>
          <a:xfrm>
            <a:off x="8567928" y="1938528"/>
            <a:ext cx="1453896" cy="59436"/>
          </a:xfrm>
          <a:prstGeom prst="rect">
            <a:avLst/>
          </a:prstGeom>
          <a:solidFill>
            <a:srgbClr val="3E645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4"/>
          <p:cNvSpPr/>
          <p:nvPr/>
        </p:nvSpPr>
        <p:spPr>
          <a:xfrm>
            <a:off x="86776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110" name="Text 5"/>
          <p:cNvSpPr/>
          <p:nvPr/>
        </p:nvSpPr>
        <p:spPr>
          <a:xfrm>
            <a:off x="86776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</a:t>
            </a:r>
            <a:endParaRPr lang="en-US" sz="1000" dirty="0"/>
          </a:p>
        </p:txBody>
      </p:sp>
      <p:sp>
        <p:nvSpPr>
          <p:cNvPr id="111" name="Text 6"/>
          <p:cNvSpPr/>
          <p:nvPr/>
        </p:nvSpPr>
        <p:spPr>
          <a:xfrm>
            <a:off x="86776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Yesterday's score, today's plan, progress, photographs and the projection.</a:t>
            </a:r>
            <a:endParaRPr lang="en-US" sz="920" dirty="0"/>
          </a:p>
        </p:txBody>
      </p:sp>
      <p:pic>
        <p:nvPicPr>
          <p:cNvPr id="112" name="Image 1" descr="deck/tn01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684514" y="3639312"/>
            <a:ext cx="214884" cy="465430"/>
          </a:xfrm>
          <a:prstGeom prst="rect">
            <a:avLst/>
          </a:prstGeom>
        </p:spPr>
      </p:pic>
      <p:sp>
        <p:nvSpPr>
          <p:cNvPr id="113" name="Text 7"/>
          <p:cNvSpPr/>
          <p:nvPr/>
        </p:nvSpPr>
        <p:spPr>
          <a:xfrm>
            <a:off x="86387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50" dirty="0"/>
          </a:p>
        </p:txBody>
      </p:sp>
      <p:pic>
        <p:nvPicPr>
          <p:cNvPr id="114" name="Image 1" descr="deck/tn01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935974" y="3639312"/>
            <a:ext cx="214884" cy="465430"/>
          </a:xfrm>
          <a:prstGeom prst="rect">
            <a:avLst/>
          </a:prstGeom>
        </p:spPr>
      </p:pic>
      <p:sp>
        <p:nvSpPr>
          <p:cNvPr id="115" name="Text 7"/>
          <p:cNvSpPr/>
          <p:nvPr/>
        </p:nvSpPr>
        <p:spPr>
          <a:xfrm>
            <a:off x="88902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650" dirty="0"/>
          </a:p>
        </p:txBody>
      </p:sp>
      <p:pic>
        <p:nvPicPr>
          <p:cNvPr id="116" name="Image 1" descr="deck/tn01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87434" y="3639312"/>
            <a:ext cx="214884" cy="465430"/>
          </a:xfrm>
          <a:prstGeom prst="rect">
            <a:avLst/>
          </a:prstGeom>
        </p:spPr>
      </p:pic>
      <p:sp>
        <p:nvSpPr>
          <p:cNvPr id="117" name="Text 7"/>
          <p:cNvSpPr/>
          <p:nvPr/>
        </p:nvSpPr>
        <p:spPr>
          <a:xfrm>
            <a:off x="91417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650" dirty="0"/>
          </a:p>
        </p:txBody>
      </p:sp>
      <p:pic>
        <p:nvPicPr>
          <p:cNvPr id="118" name="Image 1" descr="deck/tn01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438894" y="3639312"/>
            <a:ext cx="214884" cy="465430"/>
          </a:xfrm>
          <a:prstGeom prst="rect">
            <a:avLst/>
          </a:prstGeom>
        </p:spPr>
      </p:pic>
      <p:sp>
        <p:nvSpPr>
          <p:cNvPr id="119" name="Text 7"/>
          <p:cNvSpPr/>
          <p:nvPr/>
        </p:nvSpPr>
        <p:spPr>
          <a:xfrm>
            <a:off x="93931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650" dirty="0"/>
          </a:p>
        </p:txBody>
      </p:sp>
      <p:pic>
        <p:nvPicPr>
          <p:cNvPr id="120" name="Image 1" descr="deck/tn01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690354" y="3639312"/>
            <a:ext cx="214884" cy="465430"/>
          </a:xfrm>
          <a:prstGeom prst="rect">
            <a:avLst/>
          </a:prstGeom>
        </p:spPr>
      </p:pic>
      <p:sp>
        <p:nvSpPr>
          <p:cNvPr id="121" name="Text 7"/>
          <p:cNvSpPr/>
          <p:nvPr/>
        </p:nvSpPr>
        <p:spPr>
          <a:xfrm>
            <a:off x="96446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650" dirty="0"/>
          </a:p>
        </p:txBody>
      </p:sp>
      <p:sp>
        <p:nvSpPr>
          <p:cNvPr id="122" name="Text 14"/>
          <p:cNvSpPr/>
          <p:nvPr/>
        </p:nvSpPr>
        <p:spPr>
          <a:xfrm>
            <a:off x="10021824" y="36576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8D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400" dirty="0"/>
          </a:p>
        </p:txBody>
      </p:sp>
      <p:sp>
        <p:nvSpPr>
          <p:cNvPr id="123" name="Shape 43"/>
          <p:cNvSpPr/>
          <p:nvPr/>
        </p:nvSpPr>
        <p:spPr>
          <a:xfrm>
            <a:off x="10168128" y="1938528"/>
            <a:ext cx="1453896" cy="402336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7ED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44"/>
          <p:cNvSpPr/>
          <p:nvPr/>
        </p:nvSpPr>
        <p:spPr>
          <a:xfrm>
            <a:off x="10168128" y="1938528"/>
            <a:ext cx="1453896" cy="59436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4"/>
          <p:cNvSpPr/>
          <p:nvPr/>
        </p:nvSpPr>
        <p:spPr>
          <a:xfrm>
            <a:off x="10277856" y="210312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126" name="Text 5"/>
          <p:cNvSpPr/>
          <p:nvPr/>
        </p:nvSpPr>
        <p:spPr>
          <a:xfrm>
            <a:off x="10277856" y="2359152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9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CARE</a:t>
            </a:r>
            <a:endParaRPr lang="en-US" sz="1000" dirty="0"/>
          </a:p>
        </p:txBody>
      </p:sp>
      <p:sp>
        <p:nvSpPr>
          <p:cNvPr id="127" name="Text 6"/>
          <p:cNvSpPr/>
          <p:nvPr/>
        </p:nvSpPr>
        <p:spPr>
          <a:xfrm>
            <a:off x="10277856" y="2807208"/>
            <a:ext cx="1234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surgery support, alongside Longevity Care, which stays paid.</a:t>
            </a:r>
            <a:endParaRPr lang="en-US" sz="920" dirty="0"/>
          </a:p>
        </p:txBody>
      </p:sp>
      <p:pic>
        <p:nvPicPr>
          <p:cNvPr id="128" name="Image 1" descr="deck/tn0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284714" y="3639312"/>
            <a:ext cx="214884" cy="465430"/>
          </a:xfrm>
          <a:prstGeom prst="rect">
            <a:avLst/>
          </a:prstGeom>
        </p:spPr>
      </p:pic>
      <p:sp>
        <p:nvSpPr>
          <p:cNvPr id="129" name="Text 7"/>
          <p:cNvSpPr/>
          <p:nvPr/>
        </p:nvSpPr>
        <p:spPr>
          <a:xfrm>
            <a:off x="1023899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650" dirty="0"/>
          </a:p>
        </p:txBody>
      </p:sp>
      <p:pic>
        <p:nvPicPr>
          <p:cNvPr id="130" name="Image 1" descr="deck/tn0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536174" y="3639312"/>
            <a:ext cx="214884" cy="465430"/>
          </a:xfrm>
          <a:prstGeom prst="rect">
            <a:avLst/>
          </a:prstGeom>
        </p:spPr>
      </p:pic>
      <p:sp>
        <p:nvSpPr>
          <p:cNvPr id="131" name="Text 7"/>
          <p:cNvSpPr/>
          <p:nvPr/>
        </p:nvSpPr>
        <p:spPr>
          <a:xfrm>
            <a:off x="1049045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650" dirty="0"/>
          </a:p>
        </p:txBody>
      </p:sp>
      <p:pic>
        <p:nvPicPr>
          <p:cNvPr id="132" name="Image 1" descr="deck/tn01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787634" y="3639312"/>
            <a:ext cx="214884" cy="465430"/>
          </a:xfrm>
          <a:prstGeom prst="rect">
            <a:avLst/>
          </a:prstGeom>
        </p:spPr>
      </p:pic>
      <p:sp>
        <p:nvSpPr>
          <p:cNvPr id="133" name="Text 7"/>
          <p:cNvSpPr/>
          <p:nvPr/>
        </p:nvSpPr>
        <p:spPr>
          <a:xfrm>
            <a:off x="1074191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50" dirty="0"/>
          </a:p>
        </p:txBody>
      </p:sp>
      <p:pic>
        <p:nvPicPr>
          <p:cNvPr id="134" name="Image 1" descr="deck/tn01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1039094" y="3639312"/>
            <a:ext cx="214884" cy="465430"/>
          </a:xfrm>
          <a:prstGeom prst="rect">
            <a:avLst/>
          </a:prstGeom>
        </p:spPr>
      </p:pic>
      <p:sp>
        <p:nvSpPr>
          <p:cNvPr id="135" name="Text 7"/>
          <p:cNvSpPr/>
          <p:nvPr/>
        </p:nvSpPr>
        <p:spPr>
          <a:xfrm>
            <a:off x="1099337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650" dirty="0"/>
          </a:p>
        </p:txBody>
      </p:sp>
      <p:pic>
        <p:nvPicPr>
          <p:cNvPr id="136" name="Image 1" descr="deck/tn01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290554" y="3639312"/>
            <a:ext cx="214884" cy="465430"/>
          </a:xfrm>
          <a:prstGeom prst="rect">
            <a:avLst/>
          </a:prstGeom>
        </p:spPr>
      </p:pic>
      <p:sp>
        <p:nvSpPr>
          <p:cNvPr id="137" name="Text 7"/>
          <p:cNvSpPr/>
          <p:nvPr/>
        </p:nvSpPr>
        <p:spPr>
          <a:xfrm>
            <a:off x="11244834" y="4109314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650" dirty="0"/>
          </a:p>
        </p:txBody>
      </p:sp>
      <p:pic>
        <p:nvPicPr>
          <p:cNvPr id="138" name="Image 1" descr="deck/tn01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787634" y="4278478"/>
            <a:ext cx="214884" cy="465430"/>
          </a:xfrm>
          <a:prstGeom prst="rect">
            <a:avLst/>
          </a:prstGeom>
        </p:spPr>
      </p:pic>
      <p:sp>
        <p:nvSpPr>
          <p:cNvPr id="139" name="Text 7"/>
          <p:cNvSpPr/>
          <p:nvPr/>
        </p:nvSpPr>
        <p:spPr>
          <a:xfrm>
            <a:off x="10741914" y="4748479"/>
            <a:ext cx="3063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&amp; Sign 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screens from the invitation email to a signed in patient. The clinic sends one code; the patient never invents a username or waits for a call.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1–4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53328" y="2007291"/>
            <a:ext cx="1325880" cy="2815986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188" y="2030151"/>
            <a:ext cx="1280160" cy="27702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76188" y="48507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470648" y="2007291"/>
            <a:ext cx="1325880" cy="2815986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08" y="2030151"/>
            <a:ext cx="1280160" cy="27702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3508" y="48507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2007291"/>
            <a:ext cx="1325880" cy="2815986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2030151"/>
            <a:ext cx="1280160" cy="277026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48507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305288" y="2007291"/>
            <a:ext cx="1325880" cy="2815986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148" y="2030151"/>
            <a:ext cx="1280160" cy="2770266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328148" y="4850709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Email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email, one code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 invites the patient from the portal. The email carries the store links and a six digit activation code, and nothing else: no link to click, no ID, no password.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in the clinic’s name: Harborview Longevity Clinic invites Olivia, signed by its clinic manager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admit one card names the patient, the email and the code 731064, valid once, for 48 hours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code that runs out is replaced by the clinic, so help stays with the practice the patient knows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Your Account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birth date, one-time code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checked against the email and date of birth the clinic already holds, so a code on its own cannot open anyone’s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fields and one button; the code is verified as soon as the sixth digit is typed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 is the second check, taken from the practice record rather than invented at sign up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“Already set a password? Sign in” keeps returning patients off this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Password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thing the patient chooses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the code is accepted the patient sets a password, with the same rules as the web portals. There is no username to invent and no second factor to set up.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password and confirmation, each with show and hide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back cancels the code, so a half finished activation cannot be reused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ID is offered later, from settings, once the patient is signed in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·  ACTIVATE &amp; SIGN IN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back in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after the password is created the email is already filled in, so the new password is all there is to type.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patients land here too: email and password, or Face ID once it is turned on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password sits under the field rather than behind a menu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session left idle for 15 minutes comes back to this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Consent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confirms who they are from the clinic's own record, then gives one consent before anything medical is read.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5–7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90601" y="1883664"/>
            <a:ext cx="1440138" cy="306324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461" y="1906524"/>
            <a:ext cx="1394418" cy="3017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13461" y="4974336"/>
            <a:ext cx="13944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8122179" y="1883664"/>
            <a:ext cx="1440138" cy="306324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039" y="1906524"/>
            <a:ext cx="1394418" cy="30175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45039" y="4974336"/>
            <a:ext cx="13944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9653757" y="1883664"/>
            <a:ext cx="1440138" cy="306324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617" y="1906524"/>
            <a:ext cx="1394418" cy="301752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676617" y="4974336"/>
            <a:ext cx="13944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You?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Confirm, don’t type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details come from the clinic’s record and are shown view only. They are what the national networks match the patient on, so they have to be the practice’s own.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preferred name, sex and age first: who the patient is, the way they would recognise themselves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birth, mobile, email and home address, then the clinic that shares the record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From your clinic tag says where every field came from; one action, Continue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Health Records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comes before any data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medical is read until the patient agrees. The screen says who sees the records, what is collected and for how long, in three lines rather than a legal page.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sees them: the patient and Harborview Longevity Clinic. What we collect: visits, labs and 7 more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picks how long: 15 days, 1 month or 3 months, each with its end date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boxes, the authorization and the terms, with the full text of each one tap away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6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·  IDENTITY &amp; CONSENT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About Your Care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Inlay may reach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consent page covers contact about care: texts, calls and email. Agreeing here signs the consent and starts the record pull.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permissions, so a patient can take texts and decline calls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terms are linked from the text option, where carriers expect them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and continue goes straight into the assistant’s first conversation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7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life questions while the record arrives, three areas picked, then the record builds while the patient watches.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8–12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37511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71" y="923544"/>
            <a:ext cx="1088068" cy="23545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0371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62740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600" y="923544"/>
            <a:ext cx="1088068" cy="2354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5600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923544"/>
            <a:ext cx="1088068" cy="23545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113196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056" y="923544"/>
            <a:ext cx="1088068" cy="23545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136056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8275354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214" y="3552444"/>
            <a:ext cx="1088068" cy="23545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8298214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Your Life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questions while the record arrives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starts the record pull, and the wait is used for the patient’s life rather than their results: eight flourishing questions, about 90 seconds, no wrong answers.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“Eight questions, about 90 seconds” sets expectations before the first one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areas are listed up front: physical, emotional, relationships, purpose, growth, balance, finances, health agency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Start, or Skip straight to the record; nothing is shared unless the patient sends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8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Question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area, one question, one scale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area gets its own screen: how would you rate your overall physical health, thinking about the past two weeks.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 to 10 scale, from Very poor to Excellent, answered in one tap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is always there, so no question stands between the patient and their record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screens in all, about 90 seconds, while the record keeps building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Three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most want to improve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scores come back as one list, and the patient picks the three they would most like to improve.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area shows the patient’s own score, so the lowest ones stand out without a chart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picks, then Continue goes back to the record being built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picks feed the plan match on the Upgrade tab and the Human Flourishing Index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10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Record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builds in front of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starts the pull from every provider the networks find. The screen tells it the way a patient thinks about it: a running count, one bar, then each kind of record landing.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your providers first, then visits, conditions, medications, labs, vitals and the rest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pull can take minutes, so the patient may leave and is told when it is ready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my dashboard stays off until there is something to show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·  ONBOARDING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Record Is Ready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records from 3 providers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finished record is summarised before the dashboard opens, so the first thing the patient learns is how much of their history Inlay already holds.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results 86, vitals 32, visits 14 and everything else 36, each with its share of the total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providers found, including care outside the patient’s own clinic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action: Go to my dashboard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record, every day: what needs attention, how results are moving, what is coming up, and an assistant that knows the record.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13–19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37511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71" y="923544"/>
            <a:ext cx="1088068" cy="23545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0371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62740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600" y="923544"/>
            <a:ext cx="1088068" cy="2354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5600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923544"/>
            <a:ext cx="1088068" cy="23545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113196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056" y="923544"/>
            <a:ext cx="1088068" cy="23545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136056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7050125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985" y="3552444"/>
            <a:ext cx="1088068" cy="23545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7072985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23" name="Shape 6"/>
          <p:cNvSpPr/>
          <p:nvPr/>
        </p:nvSpPr>
        <p:spPr>
          <a:xfrm>
            <a:off x="8275354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deck/tn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8214" y="3552444"/>
            <a:ext cx="1088068" cy="235458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8298214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26" name="Shape 6"/>
          <p:cNvSpPr/>
          <p:nvPr/>
        </p:nvSpPr>
        <p:spPr>
          <a:xfrm>
            <a:off x="9500582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deck/tn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3442" y="3552444"/>
            <a:ext cx="1088068" cy="2354580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9523442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Look: App Tour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tabs, explained once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time Home opens, a three step tour names the tabs. It runs once, over the live dashboard, and can be skipped.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is your day, To do lists what is open, Record holds results, Connect links doctors and devices, Upgrade shows what a membership adds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tour points at the floating tab bar and the assistant circle beside 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ends it at once; Next walks through the remaining two steps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13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them, first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home leads with what the patient has to act on, then how their results are moving. Every trend is drawn from their own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things need you: a muted red card for pending actions, one tap from the To do list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trend tiles: BMI 32.4, LDL 162 and triglycerides 188 above target, ferritin 46 in range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connections sits under the alert: health records and devices, with None connected until the patient links one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14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Further Down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Upcoming, new, and medicines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trends, Home shows what is booked, what has just arrived in the record, and the medicines on file.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Cardiology follow up on Oct 21 with Dr. Lee at Pacific Heart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 your record: urgent care and cardiology visits outside the clinic, now visible to Dr. Patel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differ is flagged on atorvastatin; Ask about your results shows 25% of the week’s AI credit used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result, with its trend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 tab holds the whole record: biomarkers, tests and orders, medicines, conditions, visits and more, with results grouped by body system.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pills on top, body system chips under them: blood sugar, cholesterol, heart and weight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has the value, its status, a small trend and the date; out of range results come first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your record takes a result from outside the network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16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Detail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LDL 162, and how it got there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result shows the latest value against its range, every past reading on one chart, and where each one came from.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range and trending up: 162 mg/dL against a target under 100, up from 128 in April 2022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results on the chart, each listed with its date and source, Quest Diagnostics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plan adds is listed further down, and the page says plainly that it stays free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17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open, in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gaps, bookings and checks in one list, split into overdue, upcoming and completed.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overdue: book a mammogram, due Apr 4, and a follow up visit after urgent care on Jun 3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medicines; an echocardiogram and a repeat A1c and lipid panel wait to be booked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Patel’s record review on Dec 8 is listed with No visit needed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18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·  DASHBOARD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that knows the record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opens on four plain starting points. Credit is shown as a share of the week used, never as a count of questions.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one of my results, prepare for my next visit, a question about my medicines, something is bothering me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this week’s AI credit used, on a strip above the composer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information, not medical advice, stated under every conversation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Plan &amp; Upgrade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Upgrade tab to a physician approved plan: the AI plan match, then four steps (goals, baseline tests, enrollment, payment), scheduling and review, then accept or ask for a change.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20–34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37258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118" y="923544"/>
            <a:ext cx="683124" cy="1478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60118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57542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402" y="923544"/>
            <a:ext cx="683124" cy="14782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0402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477826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686" y="923544"/>
            <a:ext cx="683124" cy="14782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500686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9298110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0970" y="923544"/>
            <a:ext cx="683124" cy="14782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9320970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10118394" y="9006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254" y="923544"/>
            <a:ext cx="683124" cy="14782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10141254" y="24521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23" name="Shape 6"/>
          <p:cNvSpPr/>
          <p:nvPr/>
        </p:nvSpPr>
        <p:spPr>
          <a:xfrm>
            <a:off x="6837258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deck/tn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0118" y="2676144"/>
            <a:ext cx="683124" cy="147828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6860118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  <p:sp>
        <p:nvSpPr>
          <p:cNvPr id="26" name="Shape 6"/>
          <p:cNvSpPr/>
          <p:nvPr/>
        </p:nvSpPr>
        <p:spPr>
          <a:xfrm>
            <a:off x="7657542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deck/tn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402" y="2676144"/>
            <a:ext cx="683124" cy="1478280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7680402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29" name="Shape 6"/>
          <p:cNvSpPr/>
          <p:nvPr/>
        </p:nvSpPr>
        <p:spPr>
          <a:xfrm>
            <a:off x="8477826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deck/tn0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0686" y="2676144"/>
            <a:ext cx="683124" cy="1478280"/>
          </a:xfrm>
          <a:prstGeom prst="rect">
            <a:avLst/>
          </a:prstGeom>
        </p:spPr>
      </p:pic>
      <p:sp>
        <p:nvSpPr>
          <p:cNvPr id="31" name="Text 7"/>
          <p:cNvSpPr/>
          <p:nvPr/>
        </p:nvSpPr>
        <p:spPr>
          <a:xfrm>
            <a:off x="8500686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  <p:sp>
        <p:nvSpPr>
          <p:cNvPr id="32" name="Shape 6"/>
          <p:cNvSpPr/>
          <p:nvPr/>
        </p:nvSpPr>
        <p:spPr>
          <a:xfrm>
            <a:off x="9298110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0" descr="deck/tn0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0970" y="2676144"/>
            <a:ext cx="683124" cy="1478280"/>
          </a:xfrm>
          <a:prstGeom prst="rect">
            <a:avLst/>
          </a:prstGeom>
        </p:spPr>
      </p:pic>
      <p:sp>
        <p:nvSpPr>
          <p:cNvPr id="34" name="Text 7"/>
          <p:cNvSpPr/>
          <p:nvPr/>
        </p:nvSpPr>
        <p:spPr>
          <a:xfrm>
            <a:off x="9320970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35" name="Shape 6"/>
          <p:cNvSpPr/>
          <p:nvPr/>
        </p:nvSpPr>
        <p:spPr>
          <a:xfrm>
            <a:off x="10118394" y="26532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0" descr="deck/tn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1254" y="2676144"/>
            <a:ext cx="683124" cy="1478280"/>
          </a:xfrm>
          <a:prstGeom prst="rect">
            <a:avLst/>
          </a:prstGeom>
        </p:spPr>
      </p:pic>
      <p:sp>
        <p:nvSpPr>
          <p:cNvPr id="37" name="Text 7"/>
          <p:cNvSpPr/>
          <p:nvPr/>
        </p:nvSpPr>
        <p:spPr>
          <a:xfrm>
            <a:off x="10141254" y="42047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  <p:sp>
        <p:nvSpPr>
          <p:cNvPr id="38" name="Shape 6"/>
          <p:cNvSpPr/>
          <p:nvPr/>
        </p:nvSpPr>
        <p:spPr>
          <a:xfrm>
            <a:off x="6837258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0" descr="deck/tn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0118" y="4428744"/>
            <a:ext cx="683124" cy="1478280"/>
          </a:xfrm>
          <a:prstGeom prst="rect">
            <a:avLst/>
          </a:prstGeom>
        </p:spPr>
      </p:pic>
      <p:sp>
        <p:nvSpPr>
          <p:cNvPr id="40" name="Text 7"/>
          <p:cNvSpPr/>
          <p:nvPr/>
        </p:nvSpPr>
        <p:spPr>
          <a:xfrm>
            <a:off x="6860118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41" name="Shape 6"/>
          <p:cNvSpPr/>
          <p:nvPr/>
        </p:nvSpPr>
        <p:spPr>
          <a:xfrm>
            <a:off x="7657542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0" descr="deck/tn0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0402" y="4428744"/>
            <a:ext cx="683124" cy="1478280"/>
          </a:xfrm>
          <a:prstGeom prst="rect">
            <a:avLst/>
          </a:prstGeom>
        </p:spPr>
      </p:pic>
      <p:sp>
        <p:nvSpPr>
          <p:cNvPr id="43" name="Text 7"/>
          <p:cNvSpPr/>
          <p:nvPr/>
        </p:nvSpPr>
        <p:spPr>
          <a:xfrm>
            <a:off x="7680402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44" name="Shape 6"/>
          <p:cNvSpPr/>
          <p:nvPr/>
        </p:nvSpPr>
        <p:spPr>
          <a:xfrm>
            <a:off x="8477826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0" descr="deck/tn0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0686" y="4428744"/>
            <a:ext cx="683124" cy="1478280"/>
          </a:xfrm>
          <a:prstGeom prst="rect">
            <a:avLst/>
          </a:prstGeom>
        </p:spPr>
      </p:pic>
      <p:sp>
        <p:nvSpPr>
          <p:cNvPr id="46" name="Text 7"/>
          <p:cNvSpPr/>
          <p:nvPr/>
        </p:nvSpPr>
        <p:spPr>
          <a:xfrm>
            <a:off x="8500686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47" name="Shape 6"/>
          <p:cNvSpPr/>
          <p:nvPr/>
        </p:nvSpPr>
        <p:spPr>
          <a:xfrm>
            <a:off x="9298110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0" descr="deck/tn0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0970" y="4428744"/>
            <a:ext cx="683124" cy="1478280"/>
          </a:xfrm>
          <a:prstGeom prst="rect">
            <a:avLst/>
          </a:prstGeom>
        </p:spPr>
      </p:pic>
      <p:sp>
        <p:nvSpPr>
          <p:cNvPr id="49" name="Text 7"/>
          <p:cNvSpPr/>
          <p:nvPr/>
        </p:nvSpPr>
        <p:spPr>
          <a:xfrm>
            <a:off x="9320970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50" name="Shape 6"/>
          <p:cNvSpPr/>
          <p:nvPr/>
        </p:nvSpPr>
        <p:spPr>
          <a:xfrm>
            <a:off x="10118394" y="4405884"/>
            <a:ext cx="728844" cy="15240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0" descr="deck/tn0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41254" y="4428744"/>
            <a:ext cx="683124" cy="1478280"/>
          </a:xfrm>
          <a:prstGeom prst="rect">
            <a:avLst/>
          </a:prstGeom>
        </p:spPr>
      </p:pic>
      <p:sp>
        <p:nvSpPr>
          <p:cNvPr id="52" name="Text 7"/>
          <p:cNvSpPr/>
          <p:nvPr/>
        </p:nvSpPr>
        <p:spPr>
          <a:xfrm>
            <a:off x="10141254" y="5957316"/>
            <a:ext cx="6831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first, then the match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tab greets the patient by preferred name and says the first step is done: their record was compared against all 81 optimization plans.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 match: 81 plans on file, 3 the record supports, each with the number behind it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 and cardiovascular (LDL 162, up 34), triglyceride and insulin response, metabolic and weight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81, then Build my personalized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20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Goals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by area, step 1 of 4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are grouped by life area, the same areas as the onboarding questions, and several can be picked.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health opens first: lose weight, metabolic health, cholesterol and heart, muscle, bone, sleep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well-being, relationships, purpose and intellectual growth each hold their own goals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takes the patient’s own words; Skip returns to the Upgrade tab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Your Baseline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record is missing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of 4. Three standard tests give the plan its starting point, each priced, each with a Why?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$189 blood panel, $149 DEXA, $129 RMR: 3 of 3 tests, $467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ticked to start; any of them can be cleared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says why the tests are needed to personalize the plan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Enrollment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or yearly, tests included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4. The plan named from the goals, monthly or yearly billing, and the tests chosen on the last step.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Yearly saves 10%: $1,200 becomes $1,080 a year, cancel anytime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get 10% off the baseline tests too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included (6) opens the membership’s full list; Continue to payment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26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and agree on one screen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of 4. The total follows the plan chosen on the last step, its breakdown a tap away.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due today $1,500.30, with View breakdown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card, Apple Pay or Google Pay; card fields marked secure and encrypted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enrollment stays off until the terms are ticked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27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Enrolled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next, in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membership has started, and the screen lists each next step with the physician named.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and metabolic optimization, $1,080 a year, enrolled Oct 16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your tests next; Dr. Patel reviews the plan once results are in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my tests, or Schedule later, which keeps the tests in To do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28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Tests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day and a time for each test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paid test with its place, a date and a time. Confirm schedule books them all at once.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panel at Quest Diagnostics, DEXA at Coastal Imaging, RMR at Harborview Longevity Clinic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date opens open weekdays, then the times for that day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schedule books all three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Being Reviewed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Dr. Patel now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built from the results and sent to the patient’s own physician. The review needs no appointment, and the screen says so.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your results Oct 9, review by Dr. Patel in progress, then ready for you to accept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you wait: your starting tests, Ask about your plan, membership and billing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is told the moment the plan is approved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30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 Is Ready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Approved, and attributed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once, the first time the Plan tab opens after Dr. Patel sends version 1.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Patel reviewed your results and approved your plan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is the patient’s: read the plan, then accept it or request a change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plan opens the plan itself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starts until they accept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plan, with two actions side by side over the tab bar: Request a change and Accept plan.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Goals: A1c below 5.7, weight 175 lb, LDL below 100 and blood pressure below 120/80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day: a diet plan up to 1,700 kcal, logged meals, strength workouts and a walk after dinner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change sits beside Accept plan, never behind a menu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63240" y="274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60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33–34</a:t>
            </a:r>
            <a:endParaRPr lang="en-US" sz="60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Request a Change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46634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forward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Accepting starts the plan at once. A change request sends the patient’s own words to Dr. Patel.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Accept: the Plan tab becomes the live plan, with daily targets and today’s diet plan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a change: one question, What would you like changed?, sent to Dr. Patel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accepted, the day starts with Yesterday, the next screen in this journey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33–34 OF 45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172200" y="896112"/>
            <a:ext cx="2483658" cy="5257800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92" y="946404"/>
            <a:ext cx="2383074" cy="5157216"/>
          </a:xfrm>
          <a:prstGeom prst="rect">
            <a:avLst/>
          </a:prstGeom>
        </p:spPr>
      </p:pic>
      <p:sp>
        <p:nvSpPr>
          <p:cNvPr id="23" name="Text 4"/>
          <p:cNvSpPr/>
          <p:nvPr/>
        </p:nvSpPr>
        <p:spPr>
          <a:xfrm>
            <a:off x="6172200" y="502920"/>
            <a:ext cx="24836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accept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8924544" y="896112"/>
            <a:ext cx="2483658" cy="5257800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1" descr="deck/ph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836" y="946404"/>
            <a:ext cx="2383074" cy="5157216"/>
          </a:xfrm>
          <a:prstGeom prst="rect">
            <a:avLst/>
          </a:prstGeom>
        </p:spPr>
      </p:pic>
      <p:sp>
        <p:nvSpPr>
          <p:cNvPr id="26" name="Text 4"/>
          <p:cNvSpPr/>
          <p:nvPr/>
        </p:nvSpPr>
        <p:spPr>
          <a:xfrm>
            <a:off x="8924544" y="502920"/>
            <a:ext cx="24836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ask for a change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screens that run every day: yesterday's score, today's plan, measured progress, photographic evidence and the projection that renews the subscription.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35–39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37511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71" y="923544"/>
            <a:ext cx="1088068" cy="23545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0371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62740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600" y="923544"/>
            <a:ext cx="1088068" cy="2354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5600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923544"/>
            <a:ext cx="1088068" cy="23545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113196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056" y="923544"/>
            <a:ext cx="1088068" cy="23545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136056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8275354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214" y="3552444"/>
            <a:ext cx="1088068" cy="23545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8298214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Yesterday: How Did I Do?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screen every morning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score, one insight and four goals — the whole of yesterday in a single screen, with no scrolling required.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daily goal score, 3 of 4 goals achieved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balance reconciles on screen: 2,240 kcal out, 1,690 in, a 550 deficit against a 500 goal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 names the one miss — 8 g of protein — and what would have closed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Personalized 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eat the plan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menu is the fastest way to lose a patient. The day’s targets stay fixed — 500 cal deficit, 150 g protein, 1,000 mg calcium, 45 min exercise — but the food itself can come from four different places.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database and today’s plan both add in one tap, already costed in calories, protein and calcium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It covers the meal that was never in anyone’s plan; Import takes the patient who already tracks elsewhere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built plan stays visible but optional: breakfast 420 cal, lunch 510, dinner 620, with any meal swappable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36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97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the patient shows other people — and the one that renews the subscription.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−12.4 lb, −2.5 in at the waist, −3.1% body fat since starting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Biomarkers moved: A1C 5.9→5.6, triglycerides 142→96, HDL 40→48, BP 134/82→122/76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RMR up 170 kcal (+10%) — measured proof that lean mass was preserved through the loss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37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Check-In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they can see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and side, three dates, with weight and waist under each frame.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 — 178 lb · Jul 31 — 168.3 lb · Oct 5 — 165.6 lb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 stored securely; the comparison slider is the moment patients share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change is what holds a subscription together when the scale stalls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38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06  ·  DAILY USE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Inlay — Predictive Insights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if they stay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retention screen. It answers the question every patient asks at month three.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162.8 lb · 60 days 160.9 lb · 120 days 157.5 lb · 1 year maintain 156–158 lb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projection carries a likelihood: 85%, 80%, 75% and 70%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 as estimates drawn from similar patients, never as a promise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39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64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64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2066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4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9264" y="2340864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-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Care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2219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5E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sees the surgery in the record and hands the patient a checklist drawn from their own surgical team’s instructions, with a directory of who is nearby. None of that is sold. Longevity Care, the elective screening catalogue, remains a paid Inlay product.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5047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40–45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37511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deck/t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71" y="923544"/>
            <a:ext cx="1088068" cy="23545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60371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7662740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deck/tn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600" y="923544"/>
            <a:ext cx="1088068" cy="2354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685600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14" name="Shape 6"/>
          <p:cNvSpPr/>
          <p:nvPr/>
        </p:nvSpPr>
        <p:spPr>
          <a:xfrm>
            <a:off x="8887968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deck/tn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923544"/>
            <a:ext cx="1088068" cy="235458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910828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17" name="Shape 6"/>
          <p:cNvSpPr/>
          <p:nvPr/>
        </p:nvSpPr>
        <p:spPr>
          <a:xfrm>
            <a:off x="10113196" y="9006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deck/tn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056" y="923544"/>
            <a:ext cx="1088068" cy="2354580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0136056" y="33284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20" name="Shape 6"/>
          <p:cNvSpPr/>
          <p:nvPr/>
        </p:nvSpPr>
        <p:spPr>
          <a:xfrm>
            <a:off x="7662740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deck/tn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600" y="3552444"/>
            <a:ext cx="1088068" cy="2354580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7685600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23" name="Shape 6"/>
          <p:cNvSpPr/>
          <p:nvPr/>
        </p:nvSpPr>
        <p:spPr>
          <a:xfrm>
            <a:off x="8887968" y="3529584"/>
            <a:ext cx="1133788" cy="2400300"/>
          </a:xfrm>
          <a:prstGeom prst="roundRect">
            <a:avLst>
              <a:gd name="adj" fmla="val 6618"/>
            </a:avLst>
          </a:prstGeom>
          <a:solidFill>
            <a:srgbClr val="1E2B2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deck/tn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0828" y="3552444"/>
            <a:ext cx="1088068" cy="2354580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8910828" y="5957316"/>
            <a:ext cx="10880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9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Screen — Surgery Detected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that we know them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Inlay sees the surgery in the record, this takes the screen before Home. It says one thing, and that one thing is the whole argument for the free record.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have surgery coming up on Thursday, November 12” — named, dated, five weeks ahead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by Dr. Smith on Sep 28, and the screen says so, because the source is what makes it credible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sold here. The line under the button says the checklist comes from the surgical team, not from us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40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Checklist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things, in the right order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by when each one matters rather than listed flat, so the patient sees the three things to do now instead of a wall of instructions five weeks early.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14 done, with the current group open and the rest collapsed until their time comes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content is Henry Ford’s own pre-operative instructions and Dr. Smith’s notes — Inlay carries it, Inlay did not write it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box at the foot for local providers, worded as help rather than as a storefront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41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Providers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nearby, and nothing else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Therapy, equipment, transport and home help near Clarkston. The patient arranges and pays directly; Inlay takes no fee and never touches the transaction.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of the three clinics already accept Dr. Smith’s order — the one thing only we would know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and Map. No price, no booking, no checkout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“Inlay has no financial relationship with any provider listed here” sits at the foot of the screen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42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Item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Why, not just what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an item gives the reason behind it, which is what turns a list of instructions into something a patient actually follows.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matters, what to do, and what else is worth arranging while they are at it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and specific: collected from Henry Ford West Bloomfield on the afternoon of November 12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transport box appears here too, because this is the moment the patient needs it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43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patient who comes looking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elective side, and the one part of Inlay Care that is still sold. Nothing here is triggered by an event — it is for the well patient who wants to find something early.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 are well today” is the opening line, which is what makes the rest of the page credible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for you sits above the catalogue, drawn from age, record and family history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is worded as options to consider, never as recommendations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44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07  ·  INLAY CARE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Care — Test Detail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cannot tell you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elective test carries the same six disclosures, the limits included. This is the page that protects the brand when a screening result turns out to be nothing.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$949 standard, $854 for members, with the request routed to the physician rather than left to the patient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physician writes and holds the order; Inlay only connects the patient to the provider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does not rule cancer out, and a positive signal is not a diagnosis” sits on the page, not in the terms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45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29a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Tests Are Scheduled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Booked, then one offer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schedule lands here: every test with its day, time and place, and a reminder before each one.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panel Tue Oct 20, DEXA Wed Oct 21, RMR Thu Oct 22, each with its place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my care opens the health questions while the patient waits for results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I’ll do this later goes to the plan; the questions stay open and nothing is lost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29b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About You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Pre-filled, then confirmed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 as the record has it, in three blocks. The patient confirms it and edits only what has changed.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information: age 45, height, weight 213 lb, BMI 32.4, waist 41 in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edits in a sheet: diet, meals a day, exercise, alcohol and sleep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is read from the record, never retyped; Confirm opens the questions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9248" y="475488"/>
            <a:ext cx="0" cy="5596128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0" y="274320"/>
            <a:ext cx="17007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7800" b="1" kern="0" spc="-200" dirty="0">
                <a:solidFill>
                  <a:srgbClr val="E8E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29c</a:t>
            </a:r>
            <a:endParaRPr lang="en-US" sz="7800" dirty="0"/>
          </a:p>
        </p:txBody>
      </p:sp>
      <p:pic>
        <p:nvPicPr>
          <p:cNvPr id="4" name="Image 0" descr="deck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444752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042416"/>
            <a:ext cx="2395728" cy="274320"/>
          </a:xfrm>
          <a:prstGeom prst="roundRect">
            <a:avLst>
              <a:gd name="adj" fmla="val 50000"/>
            </a:avLst>
          </a:prstGeom>
          <a:solidFill>
            <a:srgbClr val="EDF1E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042416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b="1" kern="0" spc="90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  ·  FREE PLAN &amp; UPGRADE</a:t>
            </a:r>
            <a:endParaRPr lang="en-US" sz="760" dirty="0"/>
          </a:p>
        </p:txBody>
      </p:sp>
      <p:sp>
        <p:nvSpPr>
          <p:cNvPr id="7" name="Text 4"/>
          <p:cNvSpPr/>
          <p:nvPr/>
        </p:nvSpPr>
        <p:spPr>
          <a:xfrm>
            <a:off x="777240" y="1481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0E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Why: Flourishing Questions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773936"/>
            <a:ext cx="64922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100" b="1" kern="0" spc="-80" dirty="0">
                <a:solidFill>
                  <a:srgbClr val="203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areas, a few questions each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77240" y="2852928"/>
            <a:ext cx="1051560" cy="0"/>
          </a:xfrm>
          <a:prstGeom prst="line">
            <a:avLst/>
          </a:prstGeom>
          <a:noFill/>
          <a:ln w="26670">
            <a:solidFill>
              <a:srgbClr val="3E64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303580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20" dirty="0">
                <a:solidFill>
                  <a:srgbClr val="45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opens with the patient’s life, not their numbers, then asks the full flourishing set in the chat.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4055364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42416" y="3968496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right answers, about ten minutes, skip any question” set expectations first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4677156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42416" y="459028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uses one 1 to 10 scale, Worst to Best, and higher is always better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04672" y="5298948"/>
            <a:ext cx="65837" cy="65837"/>
          </a:xfrm>
          <a:prstGeom prst="rect">
            <a:avLst/>
          </a:prstGeom>
          <a:solidFill>
            <a:srgbClr val="0E8C7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42416" y="5212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2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saved as they go and set the baseline the plan is measured from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8581644" y="461772"/>
            <a:ext cx="2720275" cy="5769864"/>
          </a:xfrm>
          <a:prstGeom prst="roundRect">
            <a:avLst>
              <a:gd name="adj" fmla="val 6387"/>
            </a:avLst>
          </a:prstGeom>
          <a:solidFill>
            <a:srgbClr val="1E2B28"/>
          </a:solidFill>
          <a:ln w="12700">
            <a:solidFill>
              <a:srgbClr val="1E2B28"/>
            </a:solidFill>
            <a:prstDash val="solid"/>
          </a:ln>
          <a:effectLst>
            <a:outerShdw blurRad="279400" dist="88900" dir="5400000" algn="bl" rotWithShape="0">
              <a:srgbClr val="1E2B28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deck/ph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512064"/>
            <a:ext cx="2619691" cy="56692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66928" y="6327648"/>
            <a:ext cx="11057839" cy="0"/>
          </a:xfrm>
          <a:prstGeom prst="line">
            <a:avLst/>
          </a:prstGeom>
          <a:noFill/>
          <a:ln w="9525">
            <a:solidFill>
              <a:srgbClr val="D8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INLAY HEALTH  ·  OPTIMIZATION PATIENT JOURNEY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58000" y="6400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140" dirty="0">
                <a:solidFill>
                  <a:srgbClr val="5E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29 OF 45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789920" y="6400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E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2913</Words>
  <Application>Microsoft Macintosh PowerPoint</Application>
  <PresentationFormat>Widescreen</PresentationFormat>
  <Paragraphs>384</Paragraphs>
  <Slides>50</Slides>
  <Notes>0</Notes>
  <HiddenSlides>0</HiddenSlides>
  <MMClips>0</MMClips>
  <ScaleCrop>false</ScaleCrop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Inlay Health — Optimization Patient Journey, App Screens</dc:title>
  <dc:subject>PptxGenJS Presentation</dc:subject>
  <dc:creator>Inlay Health</dc:creator>
  <cp:lastModifiedBy>edward santangelo</cp:lastModifiedBy>
  <cp:revision>2</cp:revision>
  <dcterms:created xsi:type="dcterms:W3CDTF">2026-10-08T16:00:19Z</dcterms:created>
  <dcterms:modified xsi:type="dcterms:W3CDTF">2026-10-08T16:04:56Z</dcterms:modified>
</cp:coreProperties>
</file>